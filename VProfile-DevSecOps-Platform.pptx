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8.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a:t>
            </a:r>
            <a:r>
              <a:rPr lang="en-US" sz="2000" b="0" u="none" strike="noStrike">
                <a:solidFill>
                  <a:srgbClr val="000000"/>
                </a:solidFill>
                <a:effectLst/>
                <a:uFillTx/>
                <a:latin typeface="Arial"/>
              </a:rPr>
              <a:t>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19D46BB-E6F9-49C5-9B70-5C4E3AF64314}"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sldImg"/>
          </p:nvPr>
        </p:nvSpPr>
        <p:spPr>
          <a:xfrm>
            <a:off x="685800" y="1143000"/>
            <a:ext cx="5485680" cy="3085560"/>
          </a:xfrm>
          <a:prstGeom prst="rect">
            <a:avLst/>
          </a:prstGeom>
          <a:ln w="0">
            <a:noFill/>
          </a:ln>
        </p:spPr>
      </p:sp>
      <p:sp>
        <p:nvSpPr>
          <p:cNvPr id="66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Opening. Keep it to two sentences: what it is, and that every layer is code.</a:t>
            </a:r>
            <a:endParaRPr lang="en-US" sz="2000" b="0" u="none" strike="noStrike">
              <a:solidFill>
                <a:srgbClr val="000000"/>
              </a:solidFill>
              <a:effectLst/>
              <a:uFillTx/>
              <a:latin typeface="Arial"/>
            </a:endParaRPr>
          </a:p>
        </p:txBody>
      </p:sp>
      <p:sp>
        <p:nvSpPr>
          <p:cNvPr id="663"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E1517FA-0B4C-4A42-9940-4987D7CEFF2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sldImg"/>
          </p:nvPr>
        </p:nvSpPr>
        <p:spPr>
          <a:xfrm>
            <a:off x="685800" y="1143000"/>
            <a:ext cx="5485680" cy="3085560"/>
          </a:xfrm>
          <a:prstGeom prst="rect">
            <a:avLst/>
          </a:prstGeom>
          <a:ln w="0">
            <a:noFill/>
          </a:ln>
        </p:spPr>
      </p:sp>
      <p:sp>
        <p:nvSpPr>
          <p:cNvPr id="66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Non-technical framing. Everything that follows maps back to one of these five questions.</a:t>
            </a:r>
            <a:endParaRPr lang="en-US" sz="2000" b="0" u="none" strike="noStrike">
              <a:solidFill>
                <a:srgbClr val="000000"/>
              </a:solidFill>
              <a:effectLst/>
              <a:uFillTx/>
              <a:latin typeface="Arial"/>
            </a:endParaRPr>
          </a:p>
        </p:txBody>
      </p:sp>
      <p:sp>
        <p:nvSpPr>
          <p:cNvPr id="666"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262F53A-A1DC-4496-9020-57E83D68E4F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sldImg"/>
          </p:nvPr>
        </p:nvSpPr>
        <p:spPr>
          <a:xfrm>
            <a:off x="685800" y="1143000"/>
            <a:ext cx="5485680" cy="3085560"/>
          </a:xfrm>
          <a:prstGeom prst="rect">
            <a:avLst/>
          </a:prstGeom>
          <a:ln w="0">
            <a:noFill/>
          </a:ln>
        </p:spPr>
      </p:sp>
      <p:sp>
        <p:nvSpPr>
          <p:cNvPr id="66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Six layers. Each gets its own section: concept, then architecture, then implementation.</a:t>
            </a:r>
            <a:endParaRPr lang="en-US" sz="2000" b="0" u="none" strike="noStrike">
              <a:solidFill>
                <a:srgbClr val="000000"/>
              </a:solidFill>
              <a:effectLst/>
              <a:uFillTx/>
              <a:latin typeface="Arial"/>
            </a:endParaRPr>
          </a:p>
        </p:txBody>
      </p:sp>
      <p:sp>
        <p:nvSpPr>
          <p:cNvPr id="669"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7824EC6-0C37-49EC-877C-7CFC388FAE0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PlaceHolder 1"/>
          <p:cNvSpPr>
            <a:spLocks noGrp="1"/>
          </p:cNvSpPr>
          <p:nvPr>
            <p:ph type="sldImg"/>
          </p:nvPr>
        </p:nvSpPr>
        <p:spPr>
          <a:xfrm>
            <a:off x="685800" y="1143000"/>
            <a:ext cx="5485680" cy="3085560"/>
          </a:xfrm>
          <a:prstGeom prst="rect">
            <a:avLst/>
          </a:prstGeom>
          <a:ln w="0">
            <a:noFill/>
          </a:ln>
        </p:spPr>
      </p:sp>
      <p:sp>
        <p:nvSpPr>
          <p:cNvPr id="67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Walk left to right: code becomes an image, the image is deployed into the cluster, users reach it through the load balancer. Everything else supports that path.</a:t>
            </a:r>
            <a:endParaRPr lang="en-US" sz="2000" b="0" u="none" strike="noStrike">
              <a:solidFill>
                <a:srgbClr val="000000"/>
              </a:solidFill>
              <a:effectLst/>
              <a:uFillTx/>
              <a:latin typeface="Arial"/>
            </a:endParaRPr>
          </a:p>
        </p:txBody>
      </p:sp>
      <p:sp>
        <p:nvSpPr>
          <p:cNvPr id="672"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4BB1DF3-7452-4A95-AC2F-B88144752B9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sldImg"/>
          </p:nvPr>
        </p:nvSpPr>
        <p:spPr>
          <a:xfrm>
            <a:off x="685800" y="1143000"/>
            <a:ext cx="5485680" cy="3085560"/>
          </a:xfrm>
          <a:prstGeom prst="rect">
            <a:avLst/>
          </a:prstGeom>
          <a:ln w="0">
            <a:noFill/>
          </a:ln>
        </p:spPr>
      </p:sp>
      <p:sp>
        <p:nvSpPr>
          <p:cNvPr id="67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the slide that makes the pipeline meaningful to a non-technical listener.</a:t>
            </a:r>
            <a:endParaRPr lang="en-US" sz="2000" b="0" u="none" strike="noStrike">
              <a:solidFill>
                <a:srgbClr val="000000"/>
              </a:solidFill>
              <a:effectLst/>
              <a:uFillTx/>
              <a:latin typeface="Arial"/>
            </a:endParaRPr>
          </a:p>
        </p:txBody>
      </p:sp>
      <p:sp>
        <p:nvSpPr>
          <p:cNvPr id="675"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BFF3BA8-322C-4E1C-B170-676C0E85770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sldImg"/>
          </p:nvPr>
        </p:nvSpPr>
        <p:spPr>
          <a:xfrm>
            <a:off x="685800" y="1143000"/>
            <a:ext cx="5485680" cy="3085560"/>
          </a:xfrm>
          <a:prstGeom prst="rect">
            <a:avLst/>
          </a:prstGeom>
          <a:ln w="0">
            <a:noFill/>
          </a:ln>
        </p:spPr>
      </p:sp>
      <p:sp>
        <p:nvSpPr>
          <p:cNvPr id="67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Signposting slide. Concept first, architecture second, implementation last — every section.</a:t>
            </a:r>
            <a:endParaRPr lang="en-US" sz="2000" b="0" u="none" strike="noStrike">
              <a:solidFill>
                <a:srgbClr val="000000"/>
              </a:solidFill>
              <a:effectLst/>
              <a:uFillTx/>
              <a:latin typeface="Arial"/>
            </a:endParaRPr>
          </a:p>
        </p:txBody>
      </p:sp>
      <p:sp>
        <p:nvSpPr>
          <p:cNvPr id="678"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F75500C-AE96-43F5-9238-3E698E87FEA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type="sldImg"/>
          </p:nvPr>
        </p:nvSpPr>
        <p:spPr>
          <a:xfrm>
            <a:off x="685800" y="1143000"/>
            <a:ext cx="5485680" cy="3085560"/>
          </a:xfrm>
          <a:prstGeom prst="rect">
            <a:avLst/>
          </a:prstGeom>
          <a:ln w="0">
            <a:noFill/>
          </a:ln>
        </p:spPr>
      </p:sp>
      <p:sp>
        <p:nvSpPr>
          <p:cNvPr id="68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Concept before tool. The reason matters more than the product name.</a:t>
            </a:r>
            <a:endParaRPr lang="en-US" sz="2000" b="0" u="none" strike="noStrike">
              <a:solidFill>
                <a:srgbClr val="000000"/>
              </a:solidFill>
              <a:effectLst/>
              <a:uFillTx/>
              <a:latin typeface="Arial"/>
            </a:endParaRPr>
          </a:p>
        </p:txBody>
      </p:sp>
      <p:sp>
        <p:nvSpPr>
          <p:cNvPr id="681"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0F01D2B-471D-4739-8751-D0D8827755D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type="sldImg"/>
          </p:nvPr>
        </p:nvSpPr>
        <p:spPr>
          <a:xfrm>
            <a:off x="685800" y="1143000"/>
            <a:ext cx="5485680" cy="3085560"/>
          </a:xfrm>
          <a:prstGeom prst="rect">
            <a:avLst/>
          </a:prstGeom>
          <a:ln w="0">
            <a:noFill/>
          </a:ln>
        </p:spPr>
      </p:sp>
      <p:sp>
        <p:nvSpPr>
          <p:cNvPr id="68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If asked the cost: roughly three times the gateway charge. State that you would use one gateway in dev.</a:t>
            </a:r>
            <a:endParaRPr lang="en-US" sz="2000" b="0" u="none" strike="noStrike">
              <a:solidFill>
                <a:srgbClr val="000000"/>
              </a:solidFill>
              <a:effectLst/>
              <a:uFillTx/>
              <a:latin typeface="Arial"/>
            </a:endParaRPr>
          </a:p>
        </p:txBody>
      </p:sp>
      <p:sp>
        <p:nvSpPr>
          <p:cNvPr id="684"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9DB60FB-D02B-4F6B-8DB8-8AAFC396611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PlaceHolder 1"/>
          <p:cNvSpPr>
            <a:spLocks noGrp="1"/>
          </p:cNvSpPr>
          <p:nvPr>
            <p:ph type="sldImg"/>
          </p:nvPr>
        </p:nvSpPr>
        <p:spPr>
          <a:xfrm>
            <a:off x="685800" y="1143000"/>
            <a:ext cx="5485680" cy="3085560"/>
          </a:xfrm>
          <a:prstGeom prst="rect">
            <a:avLst/>
          </a:prstGeom>
          <a:ln w="0">
            <a:noFill/>
          </a:ln>
        </p:spPr>
      </p:sp>
      <p:sp>
        <p:nvSpPr>
          <p:cNvPr id="68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Explain the orchestrator by what it does, not by naming its objects.</a:t>
            </a:r>
            <a:endParaRPr lang="en-US" sz="2000" b="0" u="none" strike="noStrike">
              <a:solidFill>
                <a:srgbClr val="000000"/>
              </a:solidFill>
              <a:effectLst/>
              <a:uFillTx/>
              <a:latin typeface="Arial"/>
            </a:endParaRPr>
          </a:p>
        </p:txBody>
      </p:sp>
      <p:sp>
        <p:nvSpPr>
          <p:cNvPr id="687"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B9E2165-DEB0-4610-A0FE-B1C03F61A28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PlaceHolder 1"/>
          <p:cNvSpPr>
            <a:spLocks noGrp="1"/>
          </p:cNvSpPr>
          <p:nvPr>
            <p:ph type="sldImg"/>
          </p:nvPr>
        </p:nvSpPr>
        <p:spPr>
          <a:xfrm>
            <a:off x="685800" y="1143000"/>
            <a:ext cx="5485680" cy="3085560"/>
          </a:xfrm>
          <a:prstGeom prst="rect">
            <a:avLst/>
          </a:prstGeom>
          <a:ln w="0">
            <a:noFill/>
          </a:ln>
        </p:spPr>
      </p:sp>
      <p:sp>
        <p:nvSpPr>
          <p:cNvPr id="68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Two copies of the stateless tiers, one of the database. Flag the database now so the production slide lands.</a:t>
            </a:r>
            <a:endParaRPr lang="en-US" sz="2000" b="0" u="none" strike="noStrike">
              <a:solidFill>
                <a:srgbClr val="000000"/>
              </a:solidFill>
              <a:effectLst/>
              <a:uFillTx/>
              <a:latin typeface="Arial"/>
            </a:endParaRPr>
          </a:p>
        </p:txBody>
      </p:sp>
      <p:sp>
        <p:nvSpPr>
          <p:cNvPr id="690"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7C0A110-419D-400C-A6B0-6052E76C8E3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 name="PlaceHolder 1"/>
          <p:cNvSpPr>
            <a:spLocks noGrp="1"/>
          </p:cNvSpPr>
          <p:nvPr>
            <p:ph type="sldImg"/>
          </p:nvPr>
        </p:nvSpPr>
        <p:spPr>
          <a:xfrm>
            <a:off x="685800" y="1143000"/>
            <a:ext cx="5485680" cy="3085560"/>
          </a:xfrm>
          <a:prstGeom prst="rect">
            <a:avLst/>
          </a:prstGeom>
          <a:ln w="0">
            <a:noFill/>
          </a:ln>
        </p:spPr>
      </p:sp>
      <p:sp>
        <p:nvSpPr>
          <p:cNvPr id="69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Stateless vs stateful, without using either word until asked.</a:t>
            </a:r>
            <a:endParaRPr lang="en-US" sz="2000" b="0" u="none" strike="noStrike">
              <a:solidFill>
                <a:srgbClr val="000000"/>
              </a:solidFill>
              <a:effectLst/>
              <a:uFillTx/>
              <a:latin typeface="Arial"/>
            </a:endParaRPr>
          </a:p>
        </p:txBody>
      </p:sp>
      <p:sp>
        <p:nvSpPr>
          <p:cNvPr id="693"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5B9229D-E6C7-4EFA-A6F2-D70BF8C2E3B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PlaceHolder 1"/>
          <p:cNvSpPr>
            <a:spLocks noGrp="1"/>
          </p:cNvSpPr>
          <p:nvPr>
            <p:ph type="sldImg"/>
          </p:nvPr>
        </p:nvSpPr>
        <p:spPr>
          <a:xfrm>
            <a:off x="685800" y="1143000"/>
            <a:ext cx="5485680" cy="3085560"/>
          </a:xfrm>
          <a:prstGeom prst="rect">
            <a:avLst/>
          </a:prstGeom>
          <a:ln w="0">
            <a:noFill/>
          </a:ln>
        </p:spPr>
      </p:sp>
      <p:sp>
        <p:nvSpPr>
          <p:cNvPr id="69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Distinguishing CI from CD is a common interview question. Answer it before it is asked.</a:t>
            </a:r>
            <a:endParaRPr lang="en-US" sz="2000" b="0" u="none" strike="noStrike">
              <a:solidFill>
                <a:srgbClr val="000000"/>
              </a:solidFill>
              <a:effectLst/>
              <a:uFillTx/>
              <a:latin typeface="Arial"/>
            </a:endParaRPr>
          </a:p>
        </p:txBody>
      </p:sp>
      <p:sp>
        <p:nvSpPr>
          <p:cNvPr id="696"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3E3E6F5-EE01-4F13-96CA-5A6AD8BC67D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sldImg"/>
          </p:nvPr>
        </p:nvSpPr>
        <p:spPr>
          <a:xfrm>
            <a:off x="685800" y="1143000"/>
            <a:ext cx="5485680" cy="3085560"/>
          </a:xfrm>
          <a:prstGeom prst="rect">
            <a:avLst/>
          </a:prstGeom>
          <a:ln w="0">
            <a:noFill/>
          </a:ln>
        </p:spPr>
      </p:sp>
      <p:sp>
        <p:nvSpPr>
          <p:cNvPr id="69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inventory point is the software bill of materials. Say it in plain language first.</a:t>
            </a:r>
            <a:endParaRPr lang="en-US" sz="2000" b="0" u="none" strike="noStrike">
              <a:solidFill>
                <a:srgbClr val="000000"/>
              </a:solidFill>
              <a:effectLst/>
              <a:uFillTx/>
              <a:latin typeface="Arial"/>
            </a:endParaRPr>
          </a:p>
        </p:txBody>
      </p:sp>
      <p:sp>
        <p:nvSpPr>
          <p:cNvPr id="699"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344D910-33FB-426D-99CA-D179FCC1E1C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type="sldImg"/>
          </p:nvPr>
        </p:nvSpPr>
        <p:spPr>
          <a:xfrm>
            <a:off x="685800" y="1143000"/>
            <a:ext cx="5485680" cy="3085560"/>
          </a:xfrm>
          <a:prstGeom prst="rect">
            <a:avLst/>
          </a:prstGeom>
          <a:ln w="0">
            <a:noFill/>
          </a:ln>
        </p:spPr>
      </p:sp>
      <p:sp>
        <p:nvSpPr>
          <p:cNvPr id="70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the strongest design idea in the project. Slow down here.</a:t>
            </a:r>
            <a:endParaRPr lang="en-US" sz="2000" b="0" u="none" strike="noStrike">
              <a:solidFill>
                <a:srgbClr val="000000"/>
              </a:solidFill>
              <a:effectLst/>
              <a:uFillTx/>
              <a:latin typeface="Arial"/>
            </a:endParaRPr>
          </a:p>
        </p:txBody>
      </p:sp>
      <p:sp>
        <p:nvSpPr>
          <p:cNvPr id="702"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4FBDB68-BBBA-4533-8BCC-7312DE8B153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PlaceHolder 1"/>
          <p:cNvSpPr>
            <a:spLocks noGrp="1"/>
          </p:cNvSpPr>
          <p:nvPr>
            <p:ph type="sldImg"/>
          </p:nvPr>
        </p:nvSpPr>
        <p:spPr>
          <a:xfrm>
            <a:off x="685800" y="1143000"/>
            <a:ext cx="5485680" cy="3085560"/>
          </a:xfrm>
          <a:prstGeom prst="rect">
            <a:avLst/>
          </a:prstGeom>
          <a:ln w="0">
            <a:noFill/>
          </a:ln>
        </p:spPr>
      </p:sp>
      <p:sp>
        <p:nvSpPr>
          <p:cNvPr id="70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Seven layers. If asked to pick the strongest, say identity separation.</a:t>
            </a:r>
            <a:endParaRPr lang="en-US" sz="2000" b="0" u="none" strike="noStrike">
              <a:solidFill>
                <a:srgbClr val="000000"/>
              </a:solidFill>
              <a:effectLst/>
              <a:uFillTx/>
              <a:latin typeface="Arial"/>
            </a:endParaRPr>
          </a:p>
        </p:txBody>
      </p:sp>
      <p:sp>
        <p:nvSpPr>
          <p:cNvPr id="705"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E409C92-D7D3-4A5D-B404-B8351D56E1F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sldImg"/>
          </p:nvPr>
        </p:nvSpPr>
        <p:spPr>
          <a:xfrm>
            <a:off x="685800" y="1143000"/>
            <a:ext cx="5485680" cy="3085560"/>
          </a:xfrm>
          <a:prstGeom prst="rect">
            <a:avLst/>
          </a:prstGeom>
          <a:ln w="0">
            <a:noFill/>
          </a:ln>
        </p:spPr>
      </p:sp>
      <p:sp>
        <p:nvSpPr>
          <p:cNvPr id="70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Volunteer the third point. Naming the limit of your own design earns more credit than hiding it.</a:t>
            </a:r>
            <a:endParaRPr lang="en-US" sz="2000" b="0" u="none" strike="noStrike">
              <a:solidFill>
                <a:srgbClr val="000000"/>
              </a:solidFill>
              <a:effectLst/>
              <a:uFillTx/>
              <a:latin typeface="Arial"/>
            </a:endParaRPr>
          </a:p>
        </p:txBody>
      </p:sp>
      <p:sp>
        <p:nvSpPr>
          <p:cNvPr id="708"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175B819-5721-468F-B63E-3747E0B6453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 name="PlaceHolder 1"/>
          <p:cNvSpPr>
            <a:spLocks noGrp="1"/>
          </p:cNvSpPr>
          <p:nvPr>
            <p:ph type="sldImg"/>
          </p:nvPr>
        </p:nvSpPr>
        <p:spPr>
          <a:xfrm>
            <a:off x="685800" y="1143000"/>
            <a:ext cx="5485680" cy="3085560"/>
          </a:xfrm>
          <a:prstGeom prst="rect">
            <a:avLst/>
          </a:prstGeom>
          <a:ln w="0">
            <a:noFill/>
          </a:ln>
        </p:spPr>
      </p:sp>
      <p:sp>
        <p:nvSpPr>
          <p:cNvPr id="71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Concept before the product. This is the slide the prompt specifically asked for.</a:t>
            </a:r>
            <a:endParaRPr lang="en-US" sz="2000" b="0" u="none" strike="noStrike">
              <a:solidFill>
                <a:srgbClr val="000000"/>
              </a:solidFill>
              <a:effectLst/>
              <a:uFillTx/>
              <a:latin typeface="Arial"/>
            </a:endParaRPr>
          </a:p>
        </p:txBody>
      </p:sp>
      <p:sp>
        <p:nvSpPr>
          <p:cNvPr id="711"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9D257E7-E0EF-4E18-BB03-82CDD5B7673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 name="PlaceHolder 1"/>
          <p:cNvSpPr>
            <a:spLocks noGrp="1"/>
          </p:cNvSpPr>
          <p:nvPr>
            <p:ph type="sldImg"/>
          </p:nvPr>
        </p:nvSpPr>
        <p:spPr>
          <a:xfrm>
            <a:off x="685800" y="1143000"/>
            <a:ext cx="5485680" cy="3085560"/>
          </a:xfrm>
          <a:prstGeom prst="rect">
            <a:avLst/>
          </a:prstGeom>
          <a:ln w="0">
            <a:noFill/>
          </a:ln>
        </p:spPr>
      </p:sp>
      <p:sp>
        <p:nvSpPr>
          <p:cNvPr id="71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Say the limitation out loud before anyone checks. It is discoverable in two minutes.</a:t>
            </a:r>
            <a:endParaRPr lang="en-US" sz="2000" b="0" u="none" strike="noStrike">
              <a:solidFill>
                <a:srgbClr val="000000"/>
              </a:solidFill>
              <a:effectLst/>
              <a:uFillTx/>
              <a:latin typeface="Arial"/>
            </a:endParaRPr>
          </a:p>
        </p:txBody>
      </p:sp>
      <p:sp>
        <p:nvSpPr>
          <p:cNvPr id="714"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834211C-9E77-4C94-9299-9595376FBC5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PlaceHolder 1"/>
          <p:cNvSpPr>
            <a:spLocks noGrp="1"/>
          </p:cNvSpPr>
          <p:nvPr>
            <p:ph type="sldImg"/>
          </p:nvPr>
        </p:nvSpPr>
        <p:spPr>
          <a:xfrm>
            <a:off x="685800" y="1143000"/>
            <a:ext cx="5485680" cy="3085560"/>
          </a:xfrm>
          <a:prstGeom prst="rect">
            <a:avLst/>
          </a:prstGeom>
          <a:ln w="0">
            <a:noFill/>
          </a:ln>
        </p:spPr>
      </p:sp>
      <p:sp>
        <p:nvSpPr>
          <p:cNvPr id="71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Both boxes on the right are things you only learn by deploying this, not by reading about it.</a:t>
            </a:r>
            <a:endParaRPr lang="en-US" sz="2000" b="0" u="none" strike="noStrike">
              <a:solidFill>
                <a:srgbClr val="000000"/>
              </a:solidFill>
              <a:effectLst/>
              <a:uFillTx/>
              <a:latin typeface="Arial"/>
            </a:endParaRPr>
          </a:p>
        </p:txBody>
      </p:sp>
      <p:sp>
        <p:nvSpPr>
          <p:cNvPr id="717"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11BB0D5-B44D-4CD5-9BA0-A6A00C884BC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PlaceHolder 1"/>
          <p:cNvSpPr>
            <a:spLocks noGrp="1"/>
          </p:cNvSpPr>
          <p:nvPr>
            <p:ph type="sldImg"/>
          </p:nvPr>
        </p:nvSpPr>
        <p:spPr>
          <a:xfrm>
            <a:off x="685800" y="1143000"/>
            <a:ext cx="5485680" cy="3085560"/>
          </a:xfrm>
          <a:prstGeom prst="rect">
            <a:avLst/>
          </a:prstGeom>
          <a:ln w="0">
            <a:noFill/>
          </a:ln>
        </p:spPr>
      </p:sp>
      <p:sp>
        <p:nvSpPr>
          <p:cNvPr id="71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Precision about vocabulary reads as maturity. Do not claim observability.</a:t>
            </a:r>
            <a:endParaRPr lang="en-US" sz="2000" b="0" u="none" strike="noStrike">
              <a:solidFill>
                <a:srgbClr val="000000"/>
              </a:solidFill>
              <a:effectLst/>
              <a:uFillTx/>
              <a:latin typeface="Arial"/>
            </a:endParaRPr>
          </a:p>
        </p:txBody>
      </p:sp>
      <p:sp>
        <p:nvSpPr>
          <p:cNvPr id="720"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944E0F7-5B0F-48D0-B217-1CC91D22072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PlaceHolder 1"/>
          <p:cNvSpPr>
            <a:spLocks noGrp="1"/>
          </p:cNvSpPr>
          <p:nvPr>
            <p:ph type="sldImg"/>
          </p:nvPr>
        </p:nvSpPr>
        <p:spPr>
          <a:xfrm>
            <a:off x="685800" y="1143000"/>
            <a:ext cx="5485680" cy="3085560"/>
          </a:xfrm>
          <a:prstGeom prst="rect">
            <a:avLst/>
          </a:prstGeom>
          <a:ln w="0">
            <a:noFill/>
          </a:ln>
        </p:spPr>
      </p:sp>
      <p:sp>
        <p:nvSpPr>
          <p:cNvPr id="72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exclusion detail is a strong technical signal — mention it if there is time.</a:t>
            </a:r>
            <a:endParaRPr lang="en-US" sz="2000" b="0" u="none" strike="noStrike">
              <a:solidFill>
                <a:srgbClr val="000000"/>
              </a:solidFill>
              <a:effectLst/>
              <a:uFillTx/>
              <a:latin typeface="Arial"/>
            </a:endParaRPr>
          </a:p>
        </p:txBody>
      </p:sp>
      <p:sp>
        <p:nvSpPr>
          <p:cNvPr id="723"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4437FCC-2D52-4F47-898A-AF17BB19556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 name="PlaceHolder 1"/>
          <p:cNvSpPr>
            <a:spLocks noGrp="1"/>
          </p:cNvSpPr>
          <p:nvPr>
            <p:ph type="sldImg"/>
          </p:nvPr>
        </p:nvSpPr>
        <p:spPr>
          <a:xfrm>
            <a:off x="685800" y="1143000"/>
            <a:ext cx="5485680" cy="3085560"/>
          </a:xfrm>
          <a:prstGeom prst="rect">
            <a:avLst/>
          </a:prstGeom>
          <a:ln w="0">
            <a:noFill/>
          </a:ln>
        </p:spPr>
      </p:sp>
      <p:sp>
        <p:nvSpPr>
          <p:cNvPr id="72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framing is what makes the next slide credible rather than disappointing.</a:t>
            </a:r>
            <a:endParaRPr lang="en-US" sz="2000" b="0" u="none" strike="noStrike">
              <a:solidFill>
                <a:srgbClr val="000000"/>
              </a:solidFill>
              <a:effectLst/>
              <a:uFillTx/>
              <a:latin typeface="Arial"/>
            </a:endParaRPr>
          </a:p>
        </p:txBody>
      </p:sp>
      <p:sp>
        <p:nvSpPr>
          <p:cNvPr id="726"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170113D-C373-43A6-B79B-E67965A89F3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sldImg"/>
          </p:nvPr>
        </p:nvSpPr>
        <p:spPr>
          <a:xfrm>
            <a:off x="685800" y="1143000"/>
            <a:ext cx="5485680" cy="3085560"/>
          </a:xfrm>
          <a:prstGeom prst="rect">
            <a:avLst/>
          </a:prstGeom>
          <a:ln w="0">
            <a:noFill/>
          </a:ln>
        </p:spPr>
      </p:sp>
      <p:sp>
        <p:nvSpPr>
          <p:cNvPr id="72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Deliver this calmly and factually. It is a strength, not an apology.</a:t>
            </a:r>
            <a:endParaRPr lang="en-US" sz="2000" b="0" u="none" strike="noStrike">
              <a:solidFill>
                <a:srgbClr val="000000"/>
              </a:solidFill>
              <a:effectLst/>
              <a:uFillTx/>
              <a:latin typeface="Arial"/>
            </a:endParaRPr>
          </a:p>
        </p:txBody>
      </p:sp>
      <p:sp>
        <p:nvSpPr>
          <p:cNvPr id="729"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0471873-7644-4275-84E1-88B85DB27E3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PlaceHolder 1"/>
          <p:cNvSpPr>
            <a:spLocks noGrp="1"/>
          </p:cNvSpPr>
          <p:nvPr>
            <p:ph type="sldImg"/>
          </p:nvPr>
        </p:nvSpPr>
        <p:spPr>
          <a:xfrm>
            <a:off x="685800" y="1143000"/>
            <a:ext cx="5485680" cy="3085560"/>
          </a:xfrm>
          <a:prstGeom prst="rect">
            <a:avLst/>
          </a:prstGeom>
          <a:ln w="0">
            <a:noFill/>
          </a:ln>
        </p:spPr>
      </p:sp>
      <p:sp>
        <p:nvSpPr>
          <p:cNvPr id="73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These three came from actually running the system. Pick one and tell it as a story if asked.</a:t>
            </a:r>
            <a:endParaRPr lang="en-US" sz="2000" b="0" u="none" strike="noStrike">
              <a:solidFill>
                <a:srgbClr val="000000"/>
              </a:solidFill>
              <a:effectLst/>
              <a:uFillTx/>
              <a:latin typeface="Arial"/>
            </a:endParaRPr>
          </a:p>
        </p:txBody>
      </p:sp>
      <p:sp>
        <p:nvSpPr>
          <p:cNvPr id="732" name="PlaceHolder 3"/>
          <p:cNvSpPr>
            <a:spLocks noGrp="1"/>
          </p:cNvSpPr>
          <p:nvPr>
            <p:ph type="sldNum" idx="2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EC0FAB8-AC42-432E-90EA-D705A7DEC70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 name="PlaceHolder 1"/>
          <p:cNvSpPr>
            <a:spLocks noGrp="1"/>
          </p:cNvSpPr>
          <p:nvPr>
            <p:ph type="sldImg"/>
          </p:nvPr>
        </p:nvSpPr>
        <p:spPr>
          <a:xfrm>
            <a:off x="685800" y="1143000"/>
            <a:ext cx="5485680" cy="3085560"/>
          </a:xfrm>
          <a:prstGeom prst="rect">
            <a:avLst/>
          </a:prstGeom>
          <a:ln w="0">
            <a:noFill/>
          </a:ln>
        </p:spPr>
      </p:sp>
      <p:sp>
        <p:nvSpPr>
          <p:cNvPr id="73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Keep the two columns strictly separate. Never let a recommendation sound implemented.</a:t>
            </a:r>
            <a:endParaRPr lang="en-US" sz="2000" b="0" u="none" strike="noStrike">
              <a:solidFill>
                <a:srgbClr val="000000"/>
              </a:solidFill>
              <a:effectLst/>
              <a:uFillTx/>
              <a:latin typeface="Arial"/>
            </a:endParaRPr>
          </a:p>
        </p:txBody>
      </p:sp>
      <p:sp>
        <p:nvSpPr>
          <p:cNvPr id="735"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565CDC7-CA82-4102-B726-0C1908D69FA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PlaceHolder 1"/>
          <p:cNvSpPr>
            <a:spLocks noGrp="1"/>
          </p:cNvSpPr>
          <p:nvPr>
            <p:ph type="sldImg"/>
          </p:nvPr>
        </p:nvSpPr>
        <p:spPr>
          <a:xfrm>
            <a:off x="685800" y="1143000"/>
            <a:ext cx="5485680" cy="3085560"/>
          </a:xfrm>
          <a:prstGeom prst="rect">
            <a:avLst/>
          </a:prstGeom>
          <a:ln w="0">
            <a:noFill/>
          </a:ln>
        </p:spPr>
      </p:sp>
      <p:sp>
        <p:nvSpPr>
          <p:cNvPr id="73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master diagram. Everything explained earlier appears here. Pause and let it be read.</a:t>
            </a:r>
            <a:endParaRPr lang="en-US" sz="2000" b="0" u="none" strike="noStrike">
              <a:solidFill>
                <a:srgbClr val="000000"/>
              </a:solidFill>
              <a:effectLst/>
              <a:uFillTx/>
              <a:latin typeface="Arial"/>
            </a:endParaRPr>
          </a:p>
        </p:txBody>
      </p:sp>
      <p:sp>
        <p:nvSpPr>
          <p:cNvPr id="738" name="PlaceHolder 3"/>
          <p:cNvSpPr>
            <a:spLocks noGrp="1"/>
          </p:cNvSpPr>
          <p:nvPr>
            <p:ph type="sldNum" idx="2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7975CAB-DD85-4CCC-B2DF-9917EB30E44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 name="PlaceHolder 1"/>
          <p:cNvSpPr>
            <a:spLocks noGrp="1"/>
          </p:cNvSpPr>
          <p:nvPr>
            <p:ph type="sldImg"/>
          </p:nvPr>
        </p:nvSpPr>
        <p:spPr>
          <a:xfrm>
            <a:off x="685800" y="1143000"/>
            <a:ext cx="5485680" cy="3085560"/>
          </a:xfrm>
          <a:prstGeom prst="rect">
            <a:avLst/>
          </a:prstGeom>
          <a:ln w="0">
            <a:noFill/>
          </a:ln>
        </p:spPr>
      </p:sp>
      <p:sp>
        <p:nvSpPr>
          <p:cNvPr id="74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Close on the four takeaways. Operational honesty is the differentiator — say it last.</a:t>
            </a:r>
            <a:endParaRPr lang="en-US" sz="2000" b="0" u="none" strike="noStrike">
              <a:solidFill>
                <a:srgbClr val="000000"/>
              </a:solidFill>
              <a:effectLst/>
              <a:uFillTx/>
              <a:latin typeface="Arial"/>
            </a:endParaRPr>
          </a:p>
        </p:txBody>
      </p:sp>
      <p:sp>
        <p:nvSpPr>
          <p:cNvPr id="741" name="PlaceHolder 3"/>
          <p:cNvSpPr>
            <a:spLocks noGrp="1"/>
          </p:cNvSpPr>
          <p:nvPr>
            <p:ph type="sldNum" idx="3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F574787-0F55-4991-8D07-47CA827A64C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type="sldImg"/>
          </p:nvPr>
        </p:nvSpPr>
        <p:spPr>
          <a:xfrm>
            <a:off x="685800" y="1143000"/>
            <a:ext cx="5485680" cy="3085560"/>
          </a:xfrm>
          <a:prstGeom prst="rect">
            <a:avLst/>
          </a:prstGeom>
          <a:ln w="0">
            <a:noFill/>
          </a:ln>
        </p:spPr>
      </p:sp>
      <p:sp>
        <p:nvSpPr>
          <p:cNvPr id="74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Final slide. Say one line: everything described in the deck — Terraform, the pipeline, the Helm chart, the policies and the documentation — lives in this one repository. Then stop talking and leave it on screen while people scan.</a:t>
            </a:r>
            <a:endParaRPr lang="en-US" sz="2000" b="0" u="none" strike="noStrike">
              <a:solidFill>
                <a:srgbClr val="000000"/>
              </a:solidFill>
              <a:effectLst/>
              <a:uFillTx/>
              <a:latin typeface="Arial"/>
            </a:endParaRPr>
          </a:p>
        </p:txBody>
      </p:sp>
      <p:sp>
        <p:nvSpPr>
          <p:cNvPr id="744"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F8987C7-1E1F-4C2F-90A6-5AEF18CD167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Calibri"/>
              </a:defRPr>
            </a:lvl1pPr>
          </a:lstStyle>
          <a:p>
            <a:pPr indent="0" algn="l">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B2420"/>
        </a:solidFill>
      </p:bgPr>
    </p:bg>
    <p:spTree>
      <p:nvGrpSpPr>
        <p:cNvPr id="1" name=""/>
        <p:cNvGrpSpPr/>
        <p:nvPr/>
      </p:nvGrpSpPr>
      <p:grpSpPr>
        <a:xfrm>
          <a:off x="0" y="0"/>
          <a:ext cx="0" cy="0"/>
          <a:chOff x="0" y="0"/>
          <a:chExt cx="0" cy="0"/>
        </a:xfrm>
      </p:grpSpPr>
      <p:sp>
        <p:nvSpPr>
          <p:cNvPr id="10" name="Text 0"/>
          <p:cNvSpPr/>
          <p:nvPr/>
        </p:nvSpPr>
        <p:spPr>
          <a:xfrm>
            <a:off x="640080" y="2057400"/>
            <a:ext cx="1005768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800" b="1" u="none" strike="noStrike">
                <a:solidFill>
                  <a:srgbClr val="FAF6F0"/>
                </a:solidFill>
                <a:effectLst/>
                <a:uFillTx/>
                <a:latin typeface="Cambria"/>
                <a:ea typeface="Cambria"/>
              </a:rPr>
              <a:t>VProfile</a:t>
            </a:r>
            <a:endParaRPr lang="en-US" sz="5800" b="0" u="none" strike="noStrike">
              <a:solidFill>
                <a:srgbClr val="FFFFFF"/>
              </a:solidFill>
              <a:effectLst/>
              <a:uFillTx/>
              <a:latin typeface="Arial"/>
            </a:endParaRPr>
          </a:p>
        </p:txBody>
      </p:sp>
      <p:sp>
        <p:nvSpPr>
          <p:cNvPr id="11" name="Text 1"/>
          <p:cNvSpPr/>
          <p:nvPr/>
        </p:nvSpPr>
        <p:spPr>
          <a:xfrm>
            <a:off x="640080" y="2880360"/>
            <a:ext cx="1005768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0" u="none" strike="noStrike">
                <a:solidFill>
                  <a:srgbClr val="D8CCBC"/>
                </a:solidFill>
                <a:effectLst/>
                <a:uFillTx/>
                <a:latin typeface="Cambria"/>
                <a:ea typeface="Cambria"/>
              </a:rPr>
              <a:t>DevSecOps </a:t>
            </a:r>
            <a:r>
              <a:rPr lang="en-US" sz="3000" b="0" u="none" strike="noStrike">
                <a:solidFill>
                  <a:srgbClr val="D8CCBC"/>
                </a:solidFill>
                <a:effectLst/>
                <a:uFillTx/>
                <a:latin typeface="Cambria"/>
                <a:ea typeface="Cambria"/>
              </a:rPr>
              <a:t>Platform on </a:t>
            </a:r>
            <a:r>
              <a:rPr lang="en-US" sz="3000" b="0" u="none" strike="noStrike">
                <a:solidFill>
                  <a:srgbClr val="D8CCBC"/>
                </a:solidFill>
                <a:effectLst/>
                <a:uFillTx/>
                <a:latin typeface="Cambria"/>
                <a:ea typeface="Cambria"/>
              </a:rPr>
              <a:t>Amazon EKS</a:t>
            </a:r>
            <a:endParaRPr lang="en-US" sz="3000" b="0" u="none" strike="noStrike">
              <a:solidFill>
                <a:srgbClr val="FFFFFF"/>
              </a:solidFill>
              <a:effectLst/>
              <a:uFillTx/>
              <a:latin typeface="Arial"/>
            </a:endParaRPr>
          </a:p>
        </p:txBody>
      </p:sp>
      <p:sp>
        <p:nvSpPr>
          <p:cNvPr id="12" name="Shape 2"/>
          <p:cNvSpPr/>
          <p:nvPr/>
        </p:nvSpPr>
        <p:spPr>
          <a:xfrm>
            <a:off x="640080" y="3794760"/>
            <a:ext cx="2194560" cy="360"/>
          </a:xfrm>
          <a:prstGeom prst="line">
            <a:avLst/>
          </a:prstGeom>
          <a:ln w="31750">
            <a:solidFill>
              <a:srgbClr val="B85042"/>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3" name="Text 3"/>
          <p:cNvSpPr/>
          <p:nvPr/>
        </p:nvSpPr>
        <p:spPr>
          <a:xfrm>
            <a:off x="640080" y="4069080"/>
            <a:ext cx="10789560" cy="822240"/>
          </a:xfrm>
          <a:prstGeom prst="rect">
            <a:avLst/>
          </a:prstGeom>
          <a:noFill/>
          <a:ln w="0">
            <a:noFill/>
          </a:ln>
        </p:spPr>
        <p:style>
          <a:lnRef idx="0"/>
          <a:fillRef idx="0"/>
          <a:effectRef idx="0"/>
          <a:fontRef idx="minor"/>
        </p:style>
        <p:txBody>
          <a:bodyPr lIns="0" tIns="0" rIns="0" bIns="0" anchor="ctr">
            <a:noAutofit/>
          </a:bodyPr>
          <a:p>
            <a:pPr defTabSz="914400">
              <a:lnSpc>
                <a:spcPts val="2401"/>
              </a:lnSpc>
              <a:tabLst>
                <a:tab pos="0" algn="l"/>
              </a:tabLst>
            </a:pPr>
            <a:r>
              <a:rPr lang="en-US" sz="1600" b="0" u="none" strike="noStrike">
                <a:solidFill>
                  <a:srgbClr val="B0A498"/>
                </a:solidFill>
                <a:effectLst/>
                <a:uFillTx/>
                <a:latin typeface="Calibri"/>
                <a:ea typeface="Calibri"/>
              </a:rPr>
              <a:t>A five-tier Java application, delivered and operated as code —</a:t>
            </a:r>
            <a:endParaRPr lang="en-US" sz="1600" b="0" u="none" strike="noStrike">
              <a:solidFill>
                <a:srgbClr val="FFFFFF"/>
              </a:solidFill>
              <a:effectLst/>
              <a:uFillTx/>
              <a:latin typeface="Arial"/>
            </a:endParaRPr>
          </a:p>
          <a:p>
            <a:pPr defTabSz="914400">
              <a:lnSpc>
                <a:spcPts val="2401"/>
              </a:lnSpc>
              <a:tabLst>
                <a:tab pos="0" algn="l"/>
              </a:tabLst>
            </a:pPr>
            <a:r>
              <a:rPr lang="en-US" sz="1600" b="0" u="none" strike="noStrike">
                <a:solidFill>
                  <a:srgbClr val="B0A498"/>
                </a:solidFill>
                <a:effectLst/>
                <a:uFillTx/>
                <a:latin typeface="Calibri"/>
                <a:ea typeface="Calibri"/>
              </a:rPr>
              <a:t>infrastructure, pipeline, security, observability and recovery.</a:t>
            </a:r>
            <a:endParaRPr lang="en-US" sz="1600" b="0" u="none" strike="noStrike">
              <a:solidFill>
                <a:srgbClr val="FFFFFF"/>
              </a:solidFill>
              <a:effectLst/>
              <a:uFillTx/>
              <a:latin typeface="Arial"/>
            </a:endParaRPr>
          </a:p>
        </p:txBody>
      </p:sp>
      <p:sp>
        <p:nvSpPr>
          <p:cNvPr id="14" name="Text 4"/>
          <p:cNvSpPr/>
          <p:nvPr/>
        </p:nvSpPr>
        <p:spPr>
          <a:xfrm>
            <a:off x="640080" y="5852160"/>
            <a:ext cx="5485680" cy="32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AF6F0"/>
                </a:solidFill>
                <a:effectLst/>
                <a:uFillTx/>
                <a:latin typeface="Calibri"/>
                <a:ea typeface="Calibri"/>
              </a:rPr>
              <a:t>ALnaqib  ·  DevOps Engineer</a:t>
            </a:r>
            <a:endParaRPr lang="en-US" sz="1400" b="0" u="none" strike="noStrike">
              <a:solidFill>
                <a:srgbClr val="FFFFFF"/>
              </a:solidFill>
              <a:effectLst/>
              <a:uFillTx/>
              <a:latin typeface="Arial"/>
            </a:endParaRPr>
          </a:p>
        </p:txBody>
      </p:sp>
      <p:sp>
        <p:nvSpPr>
          <p:cNvPr id="15" name="Text 5"/>
          <p:cNvSpPr/>
          <p:nvPr/>
        </p:nvSpPr>
        <p:spPr>
          <a:xfrm>
            <a:off x="640080" y="6199560"/>
            <a:ext cx="82288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8C8078"/>
                </a:solidFill>
                <a:effectLst/>
                <a:uFillTx/>
                <a:latin typeface="Calibri"/>
                <a:ea typeface="Calibri"/>
              </a:rPr>
              <a:t>Terraform · Jenkins · Kubernetes · Vault · Prometheus · Velero</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16"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21" strike="noStrike">
                <a:solidFill>
                  <a:srgbClr val="B85042"/>
                </a:solidFill>
                <a:effectLst/>
                <a:uFillTx/>
                <a:latin typeface="Calibri"/>
                <a:ea typeface="Calibri"/>
              </a:rPr>
              <a:t>THE PROBLEM</a:t>
            </a:r>
            <a:endParaRPr lang="en-US" sz="1100" b="0" u="none" strike="noStrike">
              <a:solidFill>
                <a:srgbClr val="000000"/>
              </a:solidFill>
              <a:effectLst/>
              <a:uFillTx/>
              <a:latin typeface="Arial"/>
            </a:endParaRPr>
          </a:p>
        </p:txBody>
      </p:sp>
      <p:sp>
        <p:nvSpPr>
          <p:cNvPr id="17"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Running software is harder than writing it</a:t>
            </a:r>
            <a:endParaRPr lang="en-US" sz="3400" b="0" u="none" strike="noStrike">
              <a:solidFill>
                <a:srgbClr val="000000"/>
              </a:solidFill>
              <a:effectLst/>
              <a:uFillTx/>
              <a:latin typeface="Arial"/>
            </a:endParaRPr>
          </a:p>
        </p:txBody>
      </p:sp>
      <p:sp>
        <p:nvSpPr>
          <p:cNvPr id="18" name="Text 2"/>
          <p:cNvSpPr/>
          <p:nvPr/>
        </p:nvSpPr>
        <p:spPr>
          <a:xfrm>
            <a:off x="640080" y="1353240"/>
            <a:ext cx="1088064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5C5148"/>
                </a:solidFill>
                <a:effectLst/>
                <a:uFillTx/>
                <a:latin typeface="Calibri"/>
                <a:ea typeface="Calibri"/>
              </a:rPr>
              <a:t>A working application still needs answers to five operational questions.</a:t>
            </a:r>
            <a:endParaRPr lang="en-US" sz="1500" b="0" u="none" strike="noStrike">
              <a:solidFill>
                <a:srgbClr val="000000"/>
              </a:solidFill>
              <a:effectLst/>
              <a:uFillTx/>
              <a:latin typeface="Arial"/>
            </a:endParaRPr>
          </a:p>
        </p:txBody>
      </p:sp>
      <p:sp>
        <p:nvSpPr>
          <p:cNvPr id="19" name="Shape 3"/>
          <p:cNvSpPr/>
          <p:nvPr/>
        </p:nvSpPr>
        <p:spPr>
          <a:xfrm>
            <a:off x="640080" y="203004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 name="Text 4"/>
          <p:cNvSpPr/>
          <p:nvPr/>
        </p:nvSpPr>
        <p:spPr>
          <a:xfrm>
            <a:off x="640080" y="203004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21" name="Text 5"/>
          <p:cNvSpPr/>
          <p:nvPr/>
        </p:nvSpPr>
        <p:spPr>
          <a:xfrm>
            <a:off x="1243440" y="1974960"/>
            <a:ext cx="45712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2420"/>
                </a:solidFill>
                <a:effectLst/>
                <a:uFillTx/>
                <a:latin typeface="Calibri"/>
                <a:ea typeface="Calibri"/>
              </a:rPr>
              <a:t>How does code reach production?</a:t>
            </a:r>
            <a:endParaRPr lang="en-US" sz="1600" b="0" u="none" strike="noStrike">
              <a:solidFill>
                <a:srgbClr val="000000"/>
              </a:solidFill>
              <a:effectLst/>
              <a:uFillTx/>
              <a:latin typeface="Arial"/>
            </a:endParaRPr>
          </a:p>
        </p:txBody>
      </p:sp>
      <p:sp>
        <p:nvSpPr>
          <p:cNvPr id="22" name="Text 6"/>
          <p:cNvSpPr/>
          <p:nvPr/>
        </p:nvSpPr>
        <p:spPr>
          <a:xfrm>
            <a:off x="1243440" y="2267640"/>
            <a:ext cx="969192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5C5148"/>
                </a:solidFill>
                <a:effectLst/>
                <a:uFillTx/>
                <a:latin typeface="Calibri"/>
                <a:ea typeface="Calibri"/>
              </a:rPr>
              <a:t>Manual deploys are slow, inconsistent, and impossible to audit.</a:t>
            </a:r>
            <a:endParaRPr lang="en-US" sz="1300" b="0" u="none" strike="noStrike">
              <a:solidFill>
                <a:srgbClr val="000000"/>
              </a:solidFill>
              <a:effectLst/>
              <a:uFillTx/>
              <a:latin typeface="Arial"/>
            </a:endParaRPr>
          </a:p>
        </p:txBody>
      </p:sp>
      <p:sp>
        <p:nvSpPr>
          <p:cNvPr id="23" name="Shape 7"/>
          <p:cNvSpPr/>
          <p:nvPr/>
        </p:nvSpPr>
        <p:spPr>
          <a:xfrm>
            <a:off x="640080" y="280728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 name="Text 8"/>
          <p:cNvSpPr/>
          <p:nvPr/>
        </p:nvSpPr>
        <p:spPr>
          <a:xfrm>
            <a:off x="640080" y="28072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25" name="Text 9"/>
          <p:cNvSpPr/>
          <p:nvPr/>
        </p:nvSpPr>
        <p:spPr>
          <a:xfrm>
            <a:off x="1243440" y="2752200"/>
            <a:ext cx="45712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2420"/>
                </a:solidFill>
                <a:effectLst/>
                <a:uFillTx/>
                <a:latin typeface="Calibri"/>
                <a:ea typeface="Calibri"/>
              </a:rPr>
              <a:t>Who is allowed to change what?</a:t>
            </a:r>
            <a:endParaRPr lang="en-US" sz="1600" b="0" u="none" strike="noStrike">
              <a:solidFill>
                <a:srgbClr val="000000"/>
              </a:solidFill>
              <a:effectLst/>
              <a:uFillTx/>
              <a:latin typeface="Arial"/>
            </a:endParaRPr>
          </a:p>
        </p:txBody>
      </p:sp>
      <p:sp>
        <p:nvSpPr>
          <p:cNvPr id="26" name="Text 10"/>
          <p:cNvSpPr/>
          <p:nvPr/>
        </p:nvSpPr>
        <p:spPr>
          <a:xfrm>
            <a:off x="1243440" y="3044880"/>
            <a:ext cx="969192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5C5148"/>
                </a:solidFill>
                <a:effectLst/>
                <a:uFillTx/>
                <a:latin typeface="Calibri"/>
                <a:ea typeface="Calibri"/>
              </a:rPr>
              <a:t>A build system with unlimited access is a single point of compromise.</a:t>
            </a:r>
            <a:endParaRPr lang="en-US" sz="1300" b="0" u="none" strike="noStrike">
              <a:solidFill>
                <a:srgbClr val="000000"/>
              </a:solidFill>
              <a:effectLst/>
              <a:uFillTx/>
              <a:latin typeface="Arial"/>
            </a:endParaRPr>
          </a:p>
        </p:txBody>
      </p:sp>
      <p:sp>
        <p:nvSpPr>
          <p:cNvPr id="27" name="Shape 11"/>
          <p:cNvSpPr/>
          <p:nvPr/>
        </p:nvSpPr>
        <p:spPr>
          <a:xfrm>
            <a:off x="640080" y="358452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 name="Text 12"/>
          <p:cNvSpPr/>
          <p:nvPr/>
        </p:nvSpPr>
        <p:spPr>
          <a:xfrm>
            <a:off x="640080" y="358452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29" name="Text 13"/>
          <p:cNvSpPr/>
          <p:nvPr/>
        </p:nvSpPr>
        <p:spPr>
          <a:xfrm>
            <a:off x="1243440" y="3529440"/>
            <a:ext cx="45712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2420"/>
                </a:solidFill>
                <a:effectLst/>
                <a:uFillTx/>
                <a:latin typeface="Calibri"/>
                <a:ea typeface="Calibri"/>
              </a:rPr>
              <a:t>Where do passwords live?</a:t>
            </a:r>
            <a:endParaRPr lang="en-US" sz="1600" b="0" u="none" strike="noStrike">
              <a:solidFill>
                <a:srgbClr val="000000"/>
              </a:solidFill>
              <a:effectLst/>
              <a:uFillTx/>
              <a:latin typeface="Arial"/>
            </a:endParaRPr>
          </a:p>
        </p:txBody>
      </p:sp>
      <p:sp>
        <p:nvSpPr>
          <p:cNvPr id="30" name="Text 14"/>
          <p:cNvSpPr/>
          <p:nvPr/>
        </p:nvSpPr>
        <p:spPr>
          <a:xfrm>
            <a:off x="1243440" y="3822120"/>
            <a:ext cx="969192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5C5148"/>
                </a:solidFill>
                <a:effectLst/>
                <a:uFillTx/>
                <a:latin typeface="Calibri"/>
                <a:ea typeface="Calibri"/>
              </a:rPr>
              <a:t>Credentials in config files leak the moment the repository does.</a:t>
            </a:r>
            <a:endParaRPr lang="en-US" sz="1300" b="0" u="none" strike="noStrike">
              <a:solidFill>
                <a:srgbClr val="000000"/>
              </a:solidFill>
              <a:effectLst/>
              <a:uFillTx/>
              <a:latin typeface="Arial"/>
            </a:endParaRPr>
          </a:p>
        </p:txBody>
      </p:sp>
      <p:sp>
        <p:nvSpPr>
          <p:cNvPr id="31" name="Shape 15"/>
          <p:cNvSpPr/>
          <p:nvPr/>
        </p:nvSpPr>
        <p:spPr>
          <a:xfrm>
            <a:off x="640080" y="436176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 name="Text 16"/>
          <p:cNvSpPr/>
          <p:nvPr/>
        </p:nvSpPr>
        <p:spPr>
          <a:xfrm>
            <a:off x="640080" y="43617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000000"/>
              </a:solidFill>
              <a:effectLst/>
              <a:uFillTx/>
              <a:latin typeface="Arial"/>
            </a:endParaRPr>
          </a:p>
        </p:txBody>
      </p:sp>
      <p:sp>
        <p:nvSpPr>
          <p:cNvPr id="33" name="Text 17"/>
          <p:cNvSpPr/>
          <p:nvPr/>
        </p:nvSpPr>
        <p:spPr>
          <a:xfrm>
            <a:off x="1243440" y="4306680"/>
            <a:ext cx="45712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2420"/>
                </a:solidFill>
                <a:effectLst/>
                <a:uFillTx/>
                <a:latin typeface="Calibri"/>
                <a:ea typeface="Calibri"/>
              </a:rPr>
              <a:t>How do we know it is healthy?</a:t>
            </a:r>
            <a:endParaRPr lang="en-US" sz="1600" b="0" u="none" strike="noStrike">
              <a:solidFill>
                <a:srgbClr val="000000"/>
              </a:solidFill>
              <a:effectLst/>
              <a:uFillTx/>
              <a:latin typeface="Arial"/>
            </a:endParaRPr>
          </a:p>
        </p:txBody>
      </p:sp>
      <p:sp>
        <p:nvSpPr>
          <p:cNvPr id="34" name="Text 18"/>
          <p:cNvSpPr/>
          <p:nvPr/>
        </p:nvSpPr>
        <p:spPr>
          <a:xfrm>
            <a:off x="1243440" y="4599360"/>
            <a:ext cx="969192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5C5148"/>
                </a:solidFill>
                <a:effectLst/>
                <a:uFillTx/>
                <a:latin typeface="Calibri"/>
                <a:ea typeface="Calibri"/>
              </a:rPr>
              <a:t>Without measurement, the first alert is a customer complaint.</a:t>
            </a:r>
            <a:endParaRPr lang="en-US" sz="1300" b="0" u="none" strike="noStrike">
              <a:solidFill>
                <a:srgbClr val="000000"/>
              </a:solidFill>
              <a:effectLst/>
              <a:uFillTx/>
              <a:latin typeface="Arial"/>
            </a:endParaRPr>
          </a:p>
        </p:txBody>
      </p:sp>
      <p:sp>
        <p:nvSpPr>
          <p:cNvPr id="35" name="Shape 19"/>
          <p:cNvSpPr/>
          <p:nvPr/>
        </p:nvSpPr>
        <p:spPr>
          <a:xfrm>
            <a:off x="640080" y="513900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 name="Text 20"/>
          <p:cNvSpPr/>
          <p:nvPr/>
        </p:nvSpPr>
        <p:spPr>
          <a:xfrm>
            <a:off x="640080" y="513900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5</a:t>
            </a:r>
            <a:endParaRPr lang="en-US" sz="1300" b="0" u="none" strike="noStrike">
              <a:solidFill>
                <a:srgbClr val="000000"/>
              </a:solidFill>
              <a:effectLst/>
              <a:uFillTx/>
              <a:latin typeface="Arial"/>
            </a:endParaRPr>
          </a:p>
        </p:txBody>
      </p:sp>
      <p:sp>
        <p:nvSpPr>
          <p:cNvPr id="37" name="Text 21"/>
          <p:cNvSpPr/>
          <p:nvPr/>
        </p:nvSpPr>
        <p:spPr>
          <a:xfrm>
            <a:off x="1243440" y="5083920"/>
            <a:ext cx="45712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2420"/>
                </a:solidFill>
                <a:effectLst/>
                <a:uFillTx/>
                <a:latin typeface="Calibri"/>
                <a:ea typeface="Calibri"/>
              </a:rPr>
              <a:t>What if we lose it all?</a:t>
            </a:r>
            <a:endParaRPr lang="en-US" sz="1600" b="0" u="none" strike="noStrike">
              <a:solidFill>
                <a:srgbClr val="000000"/>
              </a:solidFill>
              <a:effectLst/>
              <a:uFillTx/>
              <a:latin typeface="Arial"/>
            </a:endParaRPr>
          </a:p>
        </p:txBody>
      </p:sp>
      <p:sp>
        <p:nvSpPr>
          <p:cNvPr id="38" name="Text 22"/>
          <p:cNvSpPr/>
          <p:nvPr/>
        </p:nvSpPr>
        <p:spPr>
          <a:xfrm>
            <a:off x="1243440" y="5376600"/>
            <a:ext cx="969192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5C5148"/>
                </a:solidFill>
                <a:effectLst/>
                <a:uFillTx/>
                <a:latin typeface="Calibri"/>
                <a:ea typeface="Calibri"/>
              </a:rPr>
              <a:t>Backups nobody has restored are hypotheses, not safety.</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39"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OVERVIEW</a:t>
            </a:r>
            <a:endParaRPr lang="en-US" sz="1400" b="0" u="none" strike="noStrike">
              <a:solidFill>
                <a:srgbClr val="000000"/>
              </a:solidFill>
              <a:effectLst/>
              <a:uFillTx/>
              <a:latin typeface="Arial"/>
            </a:endParaRPr>
          </a:p>
        </p:txBody>
      </p:sp>
      <p:sp>
        <p:nvSpPr>
          <p:cNvPr id="40"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What was built</a:t>
            </a:r>
            <a:endParaRPr lang="en-US" sz="3400" b="0" u="none" strike="noStrike">
              <a:solidFill>
                <a:srgbClr val="000000"/>
              </a:solidFill>
              <a:effectLst/>
              <a:uFillTx/>
              <a:latin typeface="Arial"/>
            </a:endParaRPr>
          </a:p>
        </p:txBody>
      </p:sp>
      <p:sp>
        <p:nvSpPr>
          <p:cNvPr id="41" name="Text 2"/>
          <p:cNvSpPr/>
          <p:nvPr/>
        </p:nvSpPr>
        <p:spPr>
          <a:xfrm>
            <a:off x="640080" y="1353240"/>
            <a:ext cx="1088064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C5148"/>
                </a:solidFill>
                <a:effectLst/>
                <a:uFillTx/>
                <a:latin typeface="Calibri"/>
                <a:ea typeface="Calibri"/>
              </a:rPr>
              <a:t>Six layers, each defined as code and reproducible from an empty AWS account.</a:t>
            </a:r>
            <a:endParaRPr lang="en-US" sz="1500" b="0" u="none" strike="noStrike">
              <a:solidFill>
                <a:srgbClr val="000000"/>
              </a:solidFill>
              <a:effectLst/>
              <a:uFillTx/>
              <a:latin typeface="Arial"/>
            </a:endParaRPr>
          </a:p>
        </p:txBody>
      </p:sp>
      <p:sp>
        <p:nvSpPr>
          <p:cNvPr id="42" name="Shape 3"/>
          <p:cNvSpPr/>
          <p:nvPr/>
        </p:nvSpPr>
        <p:spPr>
          <a:xfrm>
            <a:off x="640080" y="1965960"/>
            <a:ext cx="3492360" cy="1480680"/>
          </a:xfrm>
          <a:prstGeom prst="roundRect">
            <a:avLst>
              <a:gd name="adj" fmla="val 555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 name="Text 4"/>
          <p:cNvSpPr/>
          <p:nvPr/>
        </p:nvSpPr>
        <p:spPr>
          <a:xfrm>
            <a:off x="914400" y="2167200"/>
            <a:ext cx="294372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85042"/>
                </a:solidFill>
                <a:effectLst/>
                <a:uFillTx/>
                <a:latin typeface="Calibri"/>
                <a:ea typeface="Calibri"/>
              </a:rPr>
              <a:t>Infrastructure</a:t>
            </a:r>
            <a:endParaRPr lang="en-US" sz="1600" b="0" u="none" strike="noStrike">
              <a:solidFill>
                <a:srgbClr val="000000"/>
              </a:solidFill>
              <a:effectLst/>
              <a:uFillTx/>
              <a:latin typeface="Arial"/>
            </a:endParaRPr>
          </a:p>
        </p:txBody>
      </p:sp>
      <p:sp>
        <p:nvSpPr>
          <p:cNvPr id="44" name="Text 5"/>
          <p:cNvSpPr/>
          <p:nvPr/>
        </p:nvSpPr>
        <p:spPr>
          <a:xfrm>
            <a:off x="914400" y="2514600"/>
            <a:ext cx="2943720" cy="7855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50" b="1" u="none" strike="noStrike">
                <a:solidFill>
                  <a:srgbClr val="5C5148"/>
                </a:solidFill>
                <a:effectLst/>
                <a:uFillTx/>
                <a:latin typeface="Calibri"/>
                <a:ea typeface="Calibri"/>
              </a:rPr>
              <a:t>A three-availability-zone network and a private Kubernetes cluster, entirely in Terraform.</a:t>
            </a:r>
            <a:endParaRPr lang="en-US" sz="1250" b="0" u="none" strike="noStrike">
              <a:solidFill>
                <a:srgbClr val="000000"/>
              </a:solidFill>
              <a:effectLst/>
              <a:uFillTx/>
              <a:latin typeface="Arial"/>
            </a:endParaRPr>
          </a:p>
        </p:txBody>
      </p:sp>
      <p:sp>
        <p:nvSpPr>
          <p:cNvPr id="45" name="Shape 6"/>
          <p:cNvSpPr/>
          <p:nvPr/>
        </p:nvSpPr>
        <p:spPr>
          <a:xfrm>
            <a:off x="4352400" y="1965960"/>
            <a:ext cx="3492360" cy="1480680"/>
          </a:xfrm>
          <a:prstGeom prst="roundRect">
            <a:avLst>
              <a:gd name="adj" fmla="val 555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 name="Text 7"/>
          <p:cNvSpPr/>
          <p:nvPr/>
        </p:nvSpPr>
        <p:spPr>
          <a:xfrm>
            <a:off x="4626720" y="2167200"/>
            <a:ext cx="294372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85042"/>
                </a:solidFill>
                <a:effectLst/>
                <a:uFillTx/>
                <a:latin typeface="Calibri"/>
                <a:ea typeface="Calibri"/>
              </a:rPr>
              <a:t>Delivery</a:t>
            </a:r>
            <a:endParaRPr lang="en-US" sz="1600" b="0" u="none" strike="noStrike">
              <a:solidFill>
                <a:srgbClr val="000000"/>
              </a:solidFill>
              <a:effectLst/>
              <a:uFillTx/>
              <a:latin typeface="Arial"/>
            </a:endParaRPr>
          </a:p>
        </p:txBody>
      </p:sp>
      <p:sp>
        <p:nvSpPr>
          <p:cNvPr id="47" name="Text 8"/>
          <p:cNvSpPr/>
          <p:nvPr/>
        </p:nvSpPr>
        <p:spPr>
          <a:xfrm>
            <a:off x="4626720" y="2514600"/>
            <a:ext cx="2943720" cy="7855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50" b="1" u="none" strike="noStrike">
                <a:solidFill>
                  <a:srgbClr val="5C5148"/>
                </a:solidFill>
                <a:effectLst/>
                <a:uFillTx/>
                <a:latin typeface="Calibri"/>
                <a:ea typeface="Calibri"/>
              </a:rPr>
              <a:t>A pipeline that builds, analyses, scans and deploys — with no manual step.</a:t>
            </a:r>
            <a:endParaRPr lang="en-US" sz="1250" b="0" u="none" strike="noStrike">
              <a:solidFill>
                <a:srgbClr val="000000"/>
              </a:solidFill>
              <a:effectLst/>
              <a:uFillTx/>
              <a:latin typeface="Arial"/>
            </a:endParaRPr>
          </a:p>
        </p:txBody>
      </p:sp>
      <p:sp>
        <p:nvSpPr>
          <p:cNvPr id="48" name="Shape 9"/>
          <p:cNvSpPr/>
          <p:nvPr/>
        </p:nvSpPr>
        <p:spPr>
          <a:xfrm>
            <a:off x="8065080" y="1965960"/>
            <a:ext cx="3492360" cy="1480680"/>
          </a:xfrm>
          <a:prstGeom prst="roundRect">
            <a:avLst>
              <a:gd name="adj" fmla="val 555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 name="Text 10"/>
          <p:cNvSpPr/>
          <p:nvPr/>
        </p:nvSpPr>
        <p:spPr>
          <a:xfrm>
            <a:off x="8339400" y="2167200"/>
            <a:ext cx="294372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85042"/>
                </a:solidFill>
                <a:effectLst/>
                <a:uFillTx/>
                <a:latin typeface="Calibri"/>
                <a:ea typeface="Calibri"/>
              </a:rPr>
              <a:t>Security</a:t>
            </a:r>
            <a:endParaRPr lang="en-US" sz="1600" b="0" u="none" strike="noStrike">
              <a:solidFill>
                <a:srgbClr val="000000"/>
              </a:solidFill>
              <a:effectLst/>
              <a:uFillTx/>
              <a:latin typeface="Arial"/>
            </a:endParaRPr>
          </a:p>
        </p:txBody>
      </p:sp>
      <p:sp>
        <p:nvSpPr>
          <p:cNvPr id="50" name="Text 11"/>
          <p:cNvSpPr/>
          <p:nvPr/>
        </p:nvSpPr>
        <p:spPr>
          <a:xfrm>
            <a:off x="8339400" y="2514600"/>
            <a:ext cx="2943720" cy="7855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50" b="1" u="none" strike="noStrike">
                <a:solidFill>
                  <a:srgbClr val="5C5148"/>
                </a:solidFill>
                <a:effectLst/>
                <a:uFillTx/>
                <a:latin typeface="Calibri"/>
                <a:ea typeface="Calibri"/>
              </a:rPr>
              <a:t>Separated identities, per-workload permissions, and network segmentation by default.</a:t>
            </a:r>
            <a:endParaRPr lang="en-US" sz="1250" b="0" u="none" strike="noStrike">
              <a:solidFill>
                <a:srgbClr val="000000"/>
              </a:solidFill>
              <a:effectLst/>
              <a:uFillTx/>
              <a:latin typeface="Arial"/>
            </a:endParaRPr>
          </a:p>
        </p:txBody>
      </p:sp>
      <p:sp>
        <p:nvSpPr>
          <p:cNvPr id="51" name="Shape 12"/>
          <p:cNvSpPr/>
          <p:nvPr/>
        </p:nvSpPr>
        <p:spPr>
          <a:xfrm>
            <a:off x="640080" y="3684960"/>
            <a:ext cx="3492360" cy="1480680"/>
          </a:xfrm>
          <a:prstGeom prst="roundRect">
            <a:avLst>
              <a:gd name="adj" fmla="val 555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 name="Text 13"/>
          <p:cNvSpPr/>
          <p:nvPr/>
        </p:nvSpPr>
        <p:spPr>
          <a:xfrm>
            <a:off x="914400" y="3886200"/>
            <a:ext cx="294372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85042"/>
                </a:solidFill>
                <a:effectLst/>
                <a:uFillTx/>
                <a:latin typeface="Calibri"/>
                <a:ea typeface="Calibri"/>
              </a:rPr>
              <a:t>Secrets</a:t>
            </a:r>
            <a:endParaRPr lang="en-US" sz="1600" b="0" u="none" strike="noStrike">
              <a:solidFill>
                <a:srgbClr val="000000"/>
              </a:solidFill>
              <a:effectLst/>
              <a:uFillTx/>
              <a:latin typeface="Arial"/>
            </a:endParaRPr>
          </a:p>
        </p:txBody>
      </p:sp>
      <p:sp>
        <p:nvSpPr>
          <p:cNvPr id="53" name="Text 14"/>
          <p:cNvSpPr/>
          <p:nvPr/>
        </p:nvSpPr>
        <p:spPr>
          <a:xfrm>
            <a:off x="914400" y="4233600"/>
            <a:ext cx="2943720" cy="7855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50" b="1" u="none" strike="noStrike">
                <a:solidFill>
                  <a:srgbClr val="5C5148"/>
                </a:solidFill>
                <a:effectLst/>
                <a:uFillTx/>
                <a:latin typeface="Calibri"/>
                <a:ea typeface="Calibri"/>
              </a:rPr>
              <a:t>A dedicated secrets service with narrow, identity-bound access policies.</a:t>
            </a:r>
            <a:endParaRPr lang="en-US" sz="1250" b="0" u="none" strike="noStrike">
              <a:solidFill>
                <a:srgbClr val="000000"/>
              </a:solidFill>
              <a:effectLst/>
              <a:uFillTx/>
              <a:latin typeface="Arial"/>
            </a:endParaRPr>
          </a:p>
        </p:txBody>
      </p:sp>
      <p:sp>
        <p:nvSpPr>
          <p:cNvPr id="54" name="Shape 15"/>
          <p:cNvSpPr/>
          <p:nvPr/>
        </p:nvSpPr>
        <p:spPr>
          <a:xfrm>
            <a:off x="4352400" y="3684960"/>
            <a:ext cx="3492360" cy="1480680"/>
          </a:xfrm>
          <a:prstGeom prst="roundRect">
            <a:avLst>
              <a:gd name="adj" fmla="val 555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 name="Text 16"/>
          <p:cNvSpPr/>
          <p:nvPr/>
        </p:nvSpPr>
        <p:spPr>
          <a:xfrm>
            <a:off x="4626720" y="3886200"/>
            <a:ext cx="294372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85042"/>
                </a:solidFill>
                <a:effectLst/>
                <a:uFillTx/>
                <a:latin typeface="Calibri"/>
                <a:ea typeface="Calibri"/>
              </a:rPr>
              <a:t>Observability</a:t>
            </a:r>
            <a:endParaRPr lang="en-US" sz="1600" b="0" u="none" strike="noStrike">
              <a:solidFill>
                <a:srgbClr val="000000"/>
              </a:solidFill>
              <a:effectLst/>
              <a:uFillTx/>
              <a:latin typeface="Arial"/>
            </a:endParaRPr>
          </a:p>
        </p:txBody>
      </p:sp>
      <p:sp>
        <p:nvSpPr>
          <p:cNvPr id="56" name="Text 17"/>
          <p:cNvSpPr/>
          <p:nvPr/>
        </p:nvSpPr>
        <p:spPr>
          <a:xfrm>
            <a:off x="4626720" y="4233600"/>
            <a:ext cx="2943720" cy="7855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50" b="1" u="none" strike="noStrike">
                <a:solidFill>
                  <a:srgbClr val="5C5148"/>
                </a:solidFill>
                <a:effectLst/>
                <a:uFillTx/>
                <a:latin typeface="Calibri"/>
                <a:ea typeface="Calibri"/>
              </a:rPr>
              <a:t>Metrics from every namespace, rendered on dashboards.</a:t>
            </a:r>
            <a:endParaRPr lang="en-US" sz="1250" b="0" u="none" strike="noStrike">
              <a:solidFill>
                <a:srgbClr val="000000"/>
              </a:solidFill>
              <a:effectLst/>
              <a:uFillTx/>
              <a:latin typeface="Arial"/>
            </a:endParaRPr>
          </a:p>
        </p:txBody>
      </p:sp>
      <p:sp>
        <p:nvSpPr>
          <p:cNvPr id="57" name="Shape 18"/>
          <p:cNvSpPr/>
          <p:nvPr/>
        </p:nvSpPr>
        <p:spPr>
          <a:xfrm>
            <a:off x="8065080" y="3684960"/>
            <a:ext cx="3492360" cy="1480680"/>
          </a:xfrm>
          <a:prstGeom prst="roundRect">
            <a:avLst>
              <a:gd name="adj" fmla="val 555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 name="Text 19"/>
          <p:cNvSpPr/>
          <p:nvPr/>
        </p:nvSpPr>
        <p:spPr>
          <a:xfrm>
            <a:off x="8339400" y="3886200"/>
            <a:ext cx="294372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85042"/>
                </a:solidFill>
                <a:effectLst/>
                <a:uFillTx/>
                <a:latin typeface="Calibri"/>
                <a:ea typeface="Calibri"/>
              </a:rPr>
              <a:t>Recovery</a:t>
            </a:r>
            <a:endParaRPr lang="en-US" sz="1600" b="0" u="none" strike="noStrike">
              <a:solidFill>
                <a:srgbClr val="000000"/>
              </a:solidFill>
              <a:effectLst/>
              <a:uFillTx/>
              <a:latin typeface="Arial"/>
            </a:endParaRPr>
          </a:p>
        </p:txBody>
      </p:sp>
      <p:sp>
        <p:nvSpPr>
          <p:cNvPr id="59" name="Text 20"/>
          <p:cNvSpPr/>
          <p:nvPr/>
        </p:nvSpPr>
        <p:spPr>
          <a:xfrm>
            <a:off x="8339400" y="4233600"/>
            <a:ext cx="2943720" cy="7855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50" b="1" u="none" strike="noStrike">
                <a:solidFill>
                  <a:srgbClr val="5C5148"/>
                </a:solidFill>
                <a:effectLst/>
                <a:uFillTx/>
                <a:latin typeface="Calibri"/>
                <a:ea typeface="Calibri"/>
              </a:rPr>
              <a:t>Scheduled backups to durable storage, with the restore path exercised.</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60"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BIG PICTURE</a:t>
            </a:r>
            <a:endParaRPr lang="en-US" sz="1400" b="0" u="none" strike="noStrike">
              <a:solidFill>
                <a:srgbClr val="000000"/>
              </a:solidFill>
              <a:effectLst/>
              <a:uFillTx/>
              <a:latin typeface="Arial"/>
            </a:endParaRPr>
          </a:p>
        </p:txBody>
      </p:sp>
      <p:sp>
        <p:nvSpPr>
          <p:cNvPr id="61"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How the system fits together</a:t>
            </a:r>
            <a:endParaRPr lang="en-US" sz="3400" b="0" u="none" strike="noStrike">
              <a:solidFill>
                <a:srgbClr val="000000"/>
              </a:solidFill>
              <a:effectLst/>
              <a:uFillTx/>
              <a:latin typeface="Arial"/>
            </a:endParaRPr>
          </a:p>
        </p:txBody>
      </p:sp>
      <p:sp>
        <p:nvSpPr>
          <p:cNvPr id="62" name="Shape 2"/>
          <p:cNvSpPr/>
          <p:nvPr/>
        </p:nvSpPr>
        <p:spPr>
          <a:xfrm>
            <a:off x="640080" y="1600200"/>
            <a:ext cx="1919520" cy="776520"/>
          </a:xfrm>
          <a:prstGeom prst="roundRect">
            <a:avLst>
              <a:gd name="adj" fmla="val 10588"/>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 name="Text 3"/>
          <p:cNvSpPr/>
          <p:nvPr/>
        </p:nvSpPr>
        <p:spPr>
          <a:xfrm>
            <a:off x="640080" y="1600200"/>
            <a:ext cx="1919520" cy="776520"/>
          </a:xfrm>
          <a:prstGeom prst="rect">
            <a:avLst/>
          </a:prstGeom>
          <a:noFill/>
          <a:ln w="0">
            <a:noFill/>
          </a:ln>
        </p:spPr>
        <p:style>
          <a:lnRef idx="0"/>
          <a:fillRef idx="0"/>
          <a:effectRef idx="0"/>
          <a:fontRef idx="minor"/>
        </p:style>
        <p:txBody>
          <a:bodyPr lIns="0" tIns="0" rIns="0" bIns="0" anchor="ctr">
            <a:noAutofit/>
          </a:bodyPr>
          <a:p>
            <a:pPr algn="ctr" defTabSz="914400">
              <a:lnSpc>
                <a:spcPts val="1701"/>
              </a:lnSpc>
              <a:tabLst>
                <a:tab pos="0" algn="l"/>
              </a:tabLst>
            </a:pPr>
            <a:r>
              <a:rPr lang="en-US" sz="1350" b="1" u="none" strike="noStrike">
                <a:solidFill>
                  <a:srgbClr val="2B2420"/>
                </a:solidFill>
                <a:effectLst/>
                <a:uFillTx/>
                <a:latin typeface="Calibri"/>
                <a:ea typeface="Calibri"/>
              </a:rPr>
              <a:t>Developer</a:t>
            </a:r>
            <a:endParaRPr lang="en-US" sz="1350" b="0" u="none" strike="noStrike">
              <a:solidFill>
                <a:srgbClr val="000000"/>
              </a:solidFill>
              <a:effectLst/>
              <a:uFillTx/>
              <a:latin typeface="Arial"/>
            </a:endParaRPr>
          </a:p>
          <a:p>
            <a:pPr algn="ctr" defTabSz="914400">
              <a:lnSpc>
                <a:spcPts val="1701"/>
              </a:lnSpc>
              <a:tabLst>
                <a:tab pos="0" algn="l"/>
              </a:tabLst>
            </a:pPr>
            <a:r>
              <a:rPr lang="en-US" sz="1350" b="1" u="none" strike="noStrike">
                <a:solidFill>
                  <a:srgbClr val="2B2420"/>
                </a:solidFill>
                <a:effectLst/>
                <a:uFillTx/>
                <a:latin typeface="Calibri"/>
                <a:ea typeface="Calibri"/>
              </a:rPr>
              <a:t>&amp; GitHub</a:t>
            </a:r>
            <a:endParaRPr lang="en-US" sz="1350" b="0" u="none" strike="noStrike">
              <a:solidFill>
                <a:srgbClr val="000000"/>
              </a:solidFill>
              <a:effectLst/>
              <a:uFillTx/>
              <a:latin typeface="Arial"/>
            </a:endParaRPr>
          </a:p>
        </p:txBody>
      </p:sp>
      <p:sp>
        <p:nvSpPr>
          <p:cNvPr id="64" name="Shape 4"/>
          <p:cNvSpPr/>
          <p:nvPr/>
        </p:nvSpPr>
        <p:spPr>
          <a:xfrm>
            <a:off x="2971800" y="1600200"/>
            <a:ext cx="1919520" cy="776520"/>
          </a:xfrm>
          <a:prstGeom prst="roundRect">
            <a:avLst>
              <a:gd name="adj" fmla="val 10588"/>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 name="Text 5"/>
          <p:cNvSpPr/>
          <p:nvPr/>
        </p:nvSpPr>
        <p:spPr>
          <a:xfrm>
            <a:off x="2971800" y="1600200"/>
            <a:ext cx="1919520" cy="776520"/>
          </a:xfrm>
          <a:prstGeom prst="rect">
            <a:avLst/>
          </a:prstGeom>
          <a:noFill/>
          <a:ln w="0">
            <a:noFill/>
          </a:ln>
        </p:spPr>
        <p:style>
          <a:lnRef idx="0"/>
          <a:fillRef idx="0"/>
          <a:effectRef idx="0"/>
          <a:fontRef idx="minor"/>
        </p:style>
        <p:txBody>
          <a:bodyPr lIns="0" tIns="0" rIns="0" bIns="0" anchor="ctr">
            <a:noAutofit/>
          </a:bodyPr>
          <a:p>
            <a:pPr algn="ctr" defTabSz="914400">
              <a:lnSpc>
                <a:spcPts val="1701"/>
              </a:lnSpc>
              <a:tabLst>
                <a:tab pos="0" algn="l"/>
              </a:tabLst>
            </a:pPr>
            <a:r>
              <a:rPr lang="en-US" sz="1350" b="1" u="none" strike="noStrike">
                <a:solidFill>
                  <a:srgbClr val="2B2420"/>
                </a:solidFill>
                <a:effectLst/>
                <a:uFillTx/>
                <a:latin typeface="Calibri"/>
                <a:ea typeface="Calibri"/>
              </a:rPr>
              <a:t>Jenkins</a:t>
            </a:r>
            <a:endParaRPr lang="en-US" sz="1350" b="0" u="none" strike="noStrike">
              <a:solidFill>
                <a:srgbClr val="000000"/>
              </a:solidFill>
              <a:effectLst/>
              <a:uFillTx/>
              <a:latin typeface="Arial"/>
            </a:endParaRPr>
          </a:p>
          <a:p>
            <a:pPr algn="ctr" defTabSz="914400">
              <a:lnSpc>
                <a:spcPts val="1701"/>
              </a:lnSpc>
              <a:tabLst>
                <a:tab pos="0" algn="l"/>
              </a:tabLst>
            </a:pPr>
            <a:r>
              <a:rPr lang="en-US" sz="1350" b="1" u="none" strike="noStrike">
                <a:solidFill>
                  <a:srgbClr val="2B2420"/>
                </a:solidFill>
                <a:effectLst/>
                <a:uFillTx/>
                <a:latin typeface="Calibri"/>
                <a:ea typeface="Calibri"/>
              </a:rPr>
              <a:t>CI/CD</a:t>
            </a:r>
            <a:endParaRPr lang="en-US" sz="1350" b="0" u="none" strike="noStrike">
              <a:solidFill>
                <a:srgbClr val="000000"/>
              </a:solidFill>
              <a:effectLst/>
              <a:uFillTx/>
              <a:latin typeface="Arial"/>
            </a:endParaRPr>
          </a:p>
        </p:txBody>
      </p:sp>
      <p:sp>
        <p:nvSpPr>
          <p:cNvPr id="66" name="Shape 6"/>
          <p:cNvSpPr/>
          <p:nvPr/>
        </p:nvSpPr>
        <p:spPr>
          <a:xfrm>
            <a:off x="5257800" y="1600200"/>
            <a:ext cx="1919520" cy="776520"/>
          </a:xfrm>
          <a:prstGeom prst="roundRect">
            <a:avLst>
              <a:gd name="adj" fmla="val 10588"/>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 name="Text 7"/>
          <p:cNvSpPr/>
          <p:nvPr/>
        </p:nvSpPr>
        <p:spPr>
          <a:xfrm>
            <a:off x="5029200" y="1600200"/>
            <a:ext cx="2285640" cy="776520"/>
          </a:xfrm>
          <a:prstGeom prst="rect">
            <a:avLst/>
          </a:prstGeom>
          <a:noFill/>
          <a:ln w="0">
            <a:noFill/>
          </a:ln>
        </p:spPr>
        <p:style>
          <a:lnRef idx="0"/>
          <a:fillRef idx="0"/>
          <a:effectRef idx="0"/>
          <a:fontRef idx="minor"/>
        </p:style>
        <p:txBody>
          <a:bodyPr lIns="0" tIns="0" rIns="0" bIns="0" anchor="ctr">
            <a:noAutofit/>
          </a:bodyPr>
          <a:p>
            <a:pPr algn="ctr" defTabSz="914400">
              <a:lnSpc>
                <a:spcPts val="1701"/>
              </a:lnSpc>
              <a:tabLst>
                <a:tab pos="0" algn="l"/>
              </a:tabLst>
            </a:pPr>
            <a:r>
              <a:rPr lang="en-US" sz="1350" b="1" u="none" strike="noStrike">
                <a:solidFill>
                  <a:srgbClr val="2B2420"/>
                </a:solidFill>
                <a:effectLst/>
                <a:uFillTx/>
                <a:latin typeface="Calibri"/>
                <a:ea typeface="Calibri"/>
              </a:rPr>
              <a:t>Image</a:t>
            </a:r>
            <a:endParaRPr lang="en-US" sz="1350" b="0" u="none" strike="noStrike">
              <a:solidFill>
                <a:srgbClr val="000000"/>
              </a:solidFill>
              <a:effectLst/>
              <a:uFillTx/>
              <a:latin typeface="Arial"/>
            </a:endParaRPr>
          </a:p>
          <a:p>
            <a:pPr algn="ctr" defTabSz="914400">
              <a:lnSpc>
                <a:spcPts val="1701"/>
              </a:lnSpc>
              <a:tabLst>
                <a:tab pos="0" algn="l"/>
              </a:tabLst>
            </a:pPr>
            <a:r>
              <a:rPr lang="en-US" sz="1350" b="1" u="none" strike="noStrike">
                <a:solidFill>
                  <a:srgbClr val="2B2420"/>
                </a:solidFill>
                <a:effectLst/>
                <a:uFillTx/>
                <a:latin typeface="Calibri"/>
                <a:ea typeface="Calibri"/>
              </a:rPr>
              <a:t>Registry</a:t>
            </a:r>
            <a:endParaRPr lang="en-US" sz="1350" b="0" u="none" strike="noStrike">
              <a:solidFill>
                <a:srgbClr val="000000"/>
              </a:solidFill>
              <a:effectLst/>
              <a:uFillTx/>
              <a:latin typeface="Arial"/>
            </a:endParaRPr>
          </a:p>
        </p:txBody>
      </p:sp>
      <p:sp>
        <p:nvSpPr>
          <p:cNvPr id="68" name="Shape 8"/>
          <p:cNvSpPr/>
          <p:nvPr/>
        </p:nvSpPr>
        <p:spPr>
          <a:xfrm>
            <a:off x="2615040" y="1993320"/>
            <a:ext cx="301680" cy="360"/>
          </a:xfrm>
          <a:prstGeom prst="line">
            <a:avLst/>
          </a:prstGeom>
          <a:ln w="19050">
            <a:solidFill>
              <a:srgbClr val="8C8078"/>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9" name="Shape 9"/>
          <p:cNvSpPr/>
          <p:nvPr/>
        </p:nvSpPr>
        <p:spPr>
          <a:xfrm>
            <a:off x="4934880" y="1982520"/>
            <a:ext cx="301680" cy="360"/>
          </a:xfrm>
          <a:prstGeom prst="line">
            <a:avLst/>
          </a:prstGeom>
          <a:ln w="19050">
            <a:solidFill>
              <a:srgbClr val="8C8078"/>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0" name="Shape 10"/>
          <p:cNvSpPr/>
          <p:nvPr/>
        </p:nvSpPr>
        <p:spPr>
          <a:xfrm>
            <a:off x="6172200" y="2386440"/>
            <a:ext cx="360" cy="356760"/>
          </a:xfrm>
          <a:prstGeom prst="line">
            <a:avLst/>
          </a:prstGeom>
          <a:ln w="19050">
            <a:solidFill>
              <a:srgbClr val="8C8078"/>
            </a:solidFill>
            <a:round/>
            <a:tailEnd len="med" type="triangle" w="me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71" name="Shape 11"/>
          <p:cNvSpPr/>
          <p:nvPr/>
        </p:nvSpPr>
        <p:spPr>
          <a:xfrm>
            <a:off x="457200" y="2834640"/>
            <a:ext cx="8046360" cy="2742480"/>
          </a:xfrm>
          <a:prstGeom prst="roundRect">
            <a:avLst>
              <a:gd name="adj" fmla="val 3000"/>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 name="Text 12"/>
          <p:cNvSpPr/>
          <p:nvPr/>
        </p:nvSpPr>
        <p:spPr>
          <a:xfrm>
            <a:off x="914400" y="2980800"/>
            <a:ext cx="457128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2B2420"/>
                </a:solidFill>
                <a:effectLst/>
                <a:uFillTx/>
                <a:latin typeface="Calibri"/>
                <a:ea typeface="Calibri"/>
              </a:rPr>
              <a:t>Kubernetes Cluster  ·  Amazon EKS</a:t>
            </a:r>
            <a:endParaRPr lang="en-US" sz="1400" b="0" u="none" strike="noStrike">
              <a:solidFill>
                <a:srgbClr val="000000"/>
              </a:solidFill>
              <a:effectLst/>
              <a:uFillTx/>
              <a:latin typeface="Arial"/>
            </a:endParaRPr>
          </a:p>
        </p:txBody>
      </p:sp>
      <p:sp>
        <p:nvSpPr>
          <p:cNvPr id="73" name="Shape 13"/>
          <p:cNvSpPr/>
          <p:nvPr/>
        </p:nvSpPr>
        <p:spPr>
          <a:xfrm>
            <a:off x="914400" y="3401640"/>
            <a:ext cx="2331000" cy="1050840"/>
          </a:xfrm>
          <a:prstGeom prst="roundRect">
            <a:avLst>
              <a:gd name="adj" fmla="val 782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4" name="Text 14"/>
          <p:cNvSpPr/>
          <p:nvPr/>
        </p:nvSpPr>
        <p:spPr>
          <a:xfrm>
            <a:off x="914400" y="3529440"/>
            <a:ext cx="233100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B85042"/>
                </a:solidFill>
                <a:effectLst/>
                <a:uFillTx/>
                <a:latin typeface="Calibri"/>
                <a:ea typeface="Calibri"/>
              </a:rPr>
              <a:t>Application</a:t>
            </a:r>
            <a:endParaRPr lang="en-US" sz="1250" b="0" u="none" strike="noStrike">
              <a:solidFill>
                <a:srgbClr val="000000"/>
              </a:solidFill>
              <a:effectLst/>
              <a:uFillTx/>
              <a:latin typeface="Arial"/>
            </a:endParaRPr>
          </a:p>
        </p:txBody>
      </p:sp>
      <p:sp>
        <p:nvSpPr>
          <p:cNvPr id="75" name="Text 15"/>
          <p:cNvSpPr/>
          <p:nvPr/>
        </p:nvSpPr>
        <p:spPr>
          <a:xfrm>
            <a:off x="969120" y="3803760"/>
            <a:ext cx="2221200" cy="547920"/>
          </a:xfrm>
          <a:prstGeom prst="rect">
            <a:avLst/>
          </a:prstGeom>
          <a:noFill/>
          <a:ln w="0">
            <a:noFill/>
          </a:ln>
        </p:spPr>
        <p:style>
          <a:lnRef idx="0"/>
          <a:fillRef idx="0"/>
          <a:effectRef idx="0"/>
          <a:fontRef idx="minor"/>
        </p:style>
        <p:txBody>
          <a:bodyPr lIns="0" tIns="0" rIns="0" bIns="0" anchor="ctr">
            <a:noAutofit/>
          </a:bodyPr>
          <a:p>
            <a:pPr algn="ctr" defTabSz="914400">
              <a:lnSpc>
                <a:spcPts val="1400"/>
              </a:lnSpc>
              <a:tabLst>
                <a:tab pos="0" algn="l"/>
              </a:tabLst>
            </a:pPr>
            <a:r>
              <a:rPr lang="en-US" sz="1100" b="1" u="none" strike="noStrike">
                <a:solidFill>
                  <a:srgbClr val="5C5148"/>
                </a:solidFill>
                <a:effectLst/>
                <a:uFillTx/>
                <a:latin typeface="Calibri"/>
                <a:ea typeface="Calibri"/>
              </a:rPr>
              <a:t>nginx → Tomcat → MySQL</a:t>
            </a:r>
            <a:endParaRPr lang="en-US" sz="1100" b="0" u="none" strike="noStrike">
              <a:solidFill>
                <a:srgbClr val="000000"/>
              </a:solidFill>
              <a:effectLst/>
              <a:uFillTx/>
              <a:latin typeface="Arial"/>
            </a:endParaRPr>
          </a:p>
          <a:p>
            <a:pPr algn="ctr" defTabSz="914400">
              <a:lnSpc>
                <a:spcPts val="1400"/>
              </a:lnSpc>
              <a:tabLst>
                <a:tab pos="0" algn="l"/>
              </a:tabLst>
            </a:pPr>
            <a:r>
              <a:rPr lang="en-US" sz="1100" b="1" u="none" strike="noStrike">
                <a:solidFill>
                  <a:srgbClr val="5C5148"/>
                </a:solidFill>
                <a:effectLst/>
                <a:uFillTx/>
                <a:latin typeface="Calibri"/>
                <a:ea typeface="Calibri"/>
              </a:rPr>
              <a:t>+ cache + message broker</a:t>
            </a:r>
            <a:endParaRPr lang="en-US" sz="1100" b="0" u="none" strike="noStrike">
              <a:solidFill>
                <a:srgbClr val="000000"/>
              </a:solidFill>
              <a:effectLst/>
              <a:uFillTx/>
              <a:latin typeface="Arial"/>
            </a:endParaRPr>
          </a:p>
        </p:txBody>
      </p:sp>
      <p:sp>
        <p:nvSpPr>
          <p:cNvPr id="76" name="Shape 16"/>
          <p:cNvSpPr/>
          <p:nvPr/>
        </p:nvSpPr>
        <p:spPr>
          <a:xfrm>
            <a:off x="3429000" y="3401640"/>
            <a:ext cx="1517040" cy="1050840"/>
          </a:xfrm>
          <a:prstGeom prst="roundRect">
            <a:avLst>
              <a:gd name="adj" fmla="val 782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 name="Text 17"/>
          <p:cNvSpPr/>
          <p:nvPr/>
        </p:nvSpPr>
        <p:spPr>
          <a:xfrm>
            <a:off x="3429000" y="3529440"/>
            <a:ext cx="151704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B85042"/>
                </a:solidFill>
                <a:effectLst/>
                <a:uFillTx/>
                <a:latin typeface="Calibri"/>
                <a:ea typeface="Calibri"/>
              </a:rPr>
              <a:t>Observability</a:t>
            </a:r>
            <a:endParaRPr lang="en-US" sz="1250" b="0" u="none" strike="noStrike">
              <a:solidFill>
                <a:srgbClr val="000000"/>
              </a:solidFill>
              <a:effectLst/>
              <a:uFillTx/>
              <a:latin typeface="Arial"/>
            </a:endParaRPr>
          </a:p>
        </p:txBody>
      </p:sp>
      <p:sp>
        <p:nvSpPr>
          <p:cNvPr id="78" name="Text 18"/>
          <p:cNvSpPr/>
          <p:nvPr/>
        </p:nvSpPr>
        <p:spPr>
          <a:xfrm>
            <a:off x="3483720" y="3803760"/>
            <a:ext cx="1407600" cy="547920"/>
          </a:xfrm>
          <a:prstGeom prst="rect">
            <a:avLst/>
          </a:prstGeom>
          <a:noFill/>
          <a:ln w="0">
            <a:noFill/>
          </a:ln>
        </p:spPr>
        <p:style>
          <a:lnRef idx="0"/>
          <a:fillRef idx="0"/>
          <a:effectRef idx="0"/>
          <a:fontRef idx="minor"/>
        </p:style>
        <p:txBody>
          <a:bodyPr lIns="0" tIns="0" rIns="0" bIns="0" anchor="ctr">
            <a:noAutofit/>
          </a:bodyPr>
          <a:p>
            <a:pPr algn="ctr" defTabSz="914400">
              <a:lnSpc>
                <a:spcPts val="1400"/>
              </a:lnSpc>
              <a:tabLst>
                <a:tab pos="0" algn="l"/>
              </a:tabLst>
            </a:pPr>
            <a:r>
              <a:rPr lang="en-US" sz="1100" b="1" u="none" strike="noStrike">
                <a:solidFill>
                  <a:srgbClr val="5C5148"/>
                </a:solidFill>
                <a:effectLst/>
                <a:uFillTx/>
                <a:latin typeface="Calibri"/>
                <a:ea typeface="Calibri"/>
              </a:rPr>
              <a:t>Prometheus</a:t>
            </a:r>
            <a:endParaRPr lang="en-US" sz="1100" b="0" u="none" strike="noStrike">
              <a:solidFill>
                <a:srgbClr val="000000"/>
              </a:solidFill>
              <a:effectLst/>
              <a:uFillTx/>
              <a:latin typeface="Arial"/>
            </a:endParaRPr>
          </a:p>
          <a:p>
            <a:pPr algn="ctr" defTabSz="914400">
              <a:lnSpc>
                <a:spcPts val="1400"/>
              </a:lnSpc>
              <a:tabLst>
                <a:tab pos="0" algn="l"/>
              </a:tabLst>
            </a:pPr>
            <a:r>
              <a:rPr lang="en-US" sz="1100" b="1" u="none" strike="noStrike">
                <a:solidFill>
                  <a:srgbClr val="5C5148"/>
                </a:solidFill>
                <a:effectLst/>
                <a:uFillTx/>
                <a:latin typeface="Calibri"/>
                <a:ea typeface="Calibri"/>
              </a:rPr>
              <a:t>Grafana</a:t>
            </a:r>
            <a:endParaRPr lang="en-US" sz="1100" b="0" u="none" strike="noStrike">
              <a:solidFill>
                <a:srgbClr val="000000"/>
              </a:solidFill>
              <a:effectLst/>
              <a:uFillTx/>
              <a:latin typeface="Arial"/>
            </a:endParaRPr>
          </a:p>
        </p:txBody>
      </p:sp>
      <p:sp>
        <p:nvSpPr>
          <p:cNvPr id="79" name="Shape 19"/>
          <p:cNvSpPr/>
          <p:nvPr/>
        </p:nvSpPr>
        <p:spPr>
          <a:xfrm>
            <a:off x="5129640" y="3401640"/>
            <a:ext cx="1517040" cy="1050840"/>
          </a:xfrm>
          <a:prstGeom prst="roundRect">
            <a:avLst>
              <a:gd name="adj" fmla="val 782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 name="Text 20"/>
          <p:cNvSpPr/>
          <p:nvPr/>
        </p:nvSpPr>
        <p:spPr>
          <a:xfrm>
            <a:off x="5129640" y="3529440"/>
            <a:ext cx="151704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B85042"/>
                </a:solidFill>
                <a:effectLst/>
                <a:uFillTx/>
                <a:latin typeface="Calibri"/>
                <a:ea typeface="Calibri"/>
              </a:rPr>
              <a:t>Secrets</a:t>
            </a:r>
            <a:endParaRPr lang="en-US" sz="1250" b="0" u="none" strike="noStrike">
              <a:solidFill>
                <a:srgbClr val="000000"/>
              </a:solidFill>
              <a:effectLst/>
              <a:uFillTx/>
              <a:latin typeface="Arial"/>
            </a:endParaRPr>
          </a:p>
        </p:txBody>
      </p:sp>
      <p:sp>
        <p:nvSpPr>
          <p:cNvPr id="81" name="Text 21"/>
          <p:cNvSpPr/>
          <p:nvPr/>
        </p:nvSpPr>
        <p:spPr>
          <a:xfrm>
            <a:off x="5184720" y="3803760"/>
            <a:ext cx="1407600" cy="547920"/>
          </a:xfrm>
          <a:prstGeom prst="rect">
            <a:avLst/>
          </a:prstGeom>
          <a:noFill/>
          <a:ln w="0">
            <a:noFill/>
          </a:ln>
        </p:spPr>
        <p:style>
          <a:lnRef idx="0"/>
          <a:fillRef idx="0"/>
          <a:effectRef idx="0"/>
          <a:fontRef idx="minor"/>
        </p:style>
        <p:txBody>
          <a:bodyPr lIns="0" tIns="0" rIns="0" bIns="0" anchor="ctr">
            <a:noAutofit/>
          </a:bodyPr>
          <a:p>
            <a:pPr algn="ctr" defTabSz="914400">
              <a:lnSpc>
                <a:spcPts val="1400"/>
              </a:lnSpc>
              <a:tabLst>
                <a:tab pos="0" algn="l"/>
              </a:tabLst>
            </a:pPr>
            <a:r>
              <a:rPr lang="en-US" sz="1100" b="1" u="none" strike="noStrike">
                <a:solidFill>
                  <a:srgbClr val="5C5148"/>
                </a:solidFill>
                <a:effectLst/>
                <a:uFillTx/>
                <a:latin typeface="Calibri"/>
                <a:ea typeface="Calibri"/>
              </a:rPr>
              <a:t>Vault</a:t>
            </a:r>
            <a:endParaRPr lang="en-US" sz="1100" b="0" u="none" strike="noStrike">
              <a:solidFill>
                <a:srgbClr val="000000"/>
              </a:solidFill>
              <a:effectLst/>
              <a:uFillTx/>
              <a:latin typeface="Arial"/>
            </a:endParaRPr>
          </a:p>
        </p:txBody>
      </p:sp>
      <p:sp>
        <p:nvSpPr>
          <p:cNvPr id="82" name="Shape 22"/>
          <p:cNvSpPr/>
          <p:nvPr/>
        </p:nvSpPr>
        <p:spPr>
          <a:xfrm>
            <a:off x="6830640" y="3401640"/>
            <a:ext cx="1517040" cy="1050840"/>
          </a:xfrm>
          <a:prstGeom prst="roundRect">
            <a:avLst>
              <a:gd name="adj" fmla="val 782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 name="Text 23"/>
          <p:cNvSpPr/>
          <p:nvPr/>
        </p:nvSpPr>
        <p:spPr>
          <a:xfrm>
            <a:off x="6830640" y="3529440"/>
            <a:ext cx="151704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B85042"/>
                </a:solidFill>
                <a:effectLst/>
                <a:uFillTx/>
                <a:latin typeface="Calibri"/>
                <a:ea typeface="Calibri"/>
              </a:rPr>
              <a:t>Recovery</a:t>
            </a:r>
            <a:endParaRPr lang="en-US" sz="1250" b="0" u="none" strike="noStrike">
              <a:solidFill>
                <a:srgbClr val="000000"/>
              </a:solidFill>
              <a:effectLst/>
              <a:uFillTx/>
              <a:latin typeface="Arial"/>
            </a:endParaRPr>
          </a:p>
        </p:txBody>
      </p:sp>
      <p:sp>
        <p:nvSpPr>
          <p:cNvPr id="84" name="Text 24"/>
          <p:cNvSpPr/>
          <p:nvPr/>
        </p:nvSpPr>
        <p:spPr>
          <a:xfrm>
            <a:off x="6885360" y="3803760"/>
            <a:ext cx="1407600" cy="547920"/>
          </a:xfrm>
          <a:prstGeom prst="rect">
            <a:avLst/>
          </a:prstGeom>
          <a:noFill/>
          <a:ln w="0">
            <a:noFill/>
          </a:ln>
        </p:spPr>
        <p:style>
          <a:lnRef idx="0"/>
          <a:fillRef idx="0"/>
          <a:effectRef idx="0"/>
          <a:fontRef idx="minor"/>
        </p:style>
        <p:txBody>
          <a:bodyPr lIns="0" tIns="0" rIns="0" bIns="0" anchor="ctr">
            <a:noAutofit/>
          </a:bodyPr>
          <a:p>
            <a:pPr algn="ctr" defTabSz="914400">
              <a:lnSpc>
                <a:spcPts val="1400"/>
              </a:lnSpc>
              <a:tabLst>
                <a:tab pos="0" algn="l"/>
              </a:tabLst>
            </a:pPr>
            <a:r>
              <a:rPr lang="en-US" sz="1100" b="1" u="none" strike="noStrike">
                <a:solidFill>
                  <a:srgbClr val="5C5148"/>
                </a:solidFill>
                <a:effectLst/>
                <a:uFillTx/>
                <a:latin typeface="Calibri"/>
                <a:ea typeface="Calibri"/>
              </a:rPr>
              <a:t>Velero</a:t>
            </a:r>
            <a:endParaRPr lang="en-US" sz="1100" b="0" u="none" strike="noStrike">
              <a:solidFill>
                <a:srgbClr val="000000"/>
              </a:solidFill>
              <a:effectLst/>
              <a:uFillTx/>
              <a:latin typeface="Arial"/>
            </a:endParaRPr>
          </a:p>
        </p:txBody>
      </p:sp>
      <p:sp>
        <p:nvSpPr>
          <p:cNvPr id="85" name="Text 25"/>
          <p:cNvSpPr/>
          <p:nvPr/>
        </p:nvSpPr>
        <p:spPr>
          <a:xfrm>
            <a:off x="914400" y="4827960"/>
            <a:ext cx="72230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i="1" u="none" strike="noStrike">
                <a:solidFill>
                  <a:srgbClr val="8C8078"/>
                </a:solidFill>
                <a:effectLst/>
                <a:uFillTx/>
                <a:latin typeface="Calibri"/>
                <a:ea typeface="Calibri"/>
              </a:rPr>
              <a:t>Three availability zones  ·  Private subnets  ·  No public IP on any workload</a:t>
            </a:r>
            <a:endParaRPr lang="en-US" sz="1200" b="0" u="none" strike="noStrike">
              <a:solidFill>
                <a:srgbClr val="000000"/>
              </a:solidFill>
              <a:effectLst/>
              <a:uFillTx/>
              <a:latin typeface="Arial"/>
            </a:endParaRPr>
          </a:p>
        </p:txBody>
      </p:sp>
      <p:sp>
        <p:nvSpPr>
          <p:cNvPr id="86" name="Text 26"/>
          <p:cNvSpPr/>
          <p:nvPr/>
        </p:nvSpPr>
        <p:spPr>
          <a:xfrm>
            <a:off x="914400" y="5139000"/>
            <a:ext cx="72230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i="1" u="none" strike="noStrike">
                <a:solidFill>
                  <a:srgbClr val="8C8078"/>
                </a:solidFill>
                <a:effectLst/>
                <a:uFillTx/>
                <a:latin typeface="Calibri"/>
                <a:ea typeface="Calibri"/>
              </a:rPr>
              <a:t>Load balancer is the only internet-facing component</a:t>
            </a:r>
            <a:endParaRPr lang="en-US" sz="1200" b="0" u="none" strike="noStrike">
              <a:solidFill>
                <a:srgbClr val="000000"/>
              </a:solidFill>
              <a:effectLst/>
              <a:uFillTx/>
              <a:latin typeface="Arial"/>
            </a:endParaRPr>
          </a:p>
        </p:txBody>
      </p:sp>
      <p:sp>
        <p:nvSpPr>
          <p:cNvPr id="87" name="Shape 27"/>
          <p:cNvSpPr/>
          <p:nvPr/>
        </p:nvSpPr>
        <p:spPr>
          <a:xfrm>
            <a:off x="8915400" y="2834640"/>
            <a:ext cx="2605320" cy="1188000"/>
          </a:xfrm>
          <a:prstGeom prst="roundRect">
            <a:avLst>
              <a:gd name="adj" fmla="val 6923"/>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 name="Text 28"/>
          <p:cNvSpPr/>
          <p:nvPr/>
        </p:nvSpPr>
        <p:spPr>
          <a:xfrm>
            <a:off x="8915400" y="2999160"/>
            <a:ext cx="260532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2B2420"/>
                </a:solidFill>
                <a:effectLst/>
                <a:uFillTx/>
                <a:latin typeface="Calibri"/>
                <a:ea typeface="Calibri"/>
              </a:rPr>
              <a:t>Users</a:t>
            </a:r>
            <a:endParaRPr lang="en-US" sz="1400" b="0" u="none" strike="noStrike">
              <a:solidFill>
                <a:srgbClr val="000000"/>
              </a:solidFill>
              <a:effectLst/>
              <a:uFillTx/>
              <a:latin typeface="Arial"/>
            </a:endParaRPr>
          </a:p>
        </p:txBody>
      </p:sp>
      <p:sp>
        <p:nvSpPr>
          <p:cNvPr id="89" name="Text 29"/>
          <p:cNvSpPr/>
          <p:nvPr/>
        </p:nvSpPr>
        <p:spPr>
          <a:xfrm>
            <a:off x="9006840" y="3310200"/>
            <a:ext cx="2422440" cy="547920"/>
          </a:xfrm>
          <a:prstGeom prst="rect">
            <a:avLst/>
          </a:prstGeom>
          <a:noFill/>
          <a:ln w="0">
            <a:noFill/>
          </a:ln>
        </p:spPr>
        <p:style>
          <a:lnRef idx="0"/>
          <a:fillRef idx="0"/>
          <a:effectRef idx="0"/>
          <a:fontRef idx="minor"/>
        </p:style>
        <p:txBody>
          <a:bodyPr lIns="0" tIns="0" rIns="0" bIns="0" anchor="ctr">
            <a:noAutofit/>
          </a:bodyPr>
          <a:p>
            <a:pPr algn="ctr" defTabSz="914400">
              <a:lnSpc>
                <a:spcPts val="1400"/>
              </a:lnSpc>
              <a:tabLst>
                <a:tab pos="0" algn="l"/>
              </a:tabLst>
            </a:pPr>
            <a:r>
              <a:rPr lang="en-US" sz="1100" b="1" u="none" strike="noStrike">
                <a:solidFill>
                  <a:srgbClr val="5C5148"/>
                </a:solidFill>
                <a:effectLst/>
                <a:uFillTx/>
                <a:latin typeface="Calibri"/>
                <a:ea typeface="Calibri"/>
              </a:rPr>
              <a:t>HTTP via</a:t>
            </a:r>
            <a:endParaRPr lang="en-US" sz="1100" b="0" u="none" strike="noStrike">
              <a:solidFill>
                <a:srgbClr val="000000"/>
              </a:solidFill>
              <a:effectLst/>
              <a:uFillTx/>
              <a:latin typeface="Arial"/>
            </a:endParaRPr>
          </a:p>
          <a:p>
            <a:pPr algn="ctr" defTabSz="914400">
              <a:lnSpc>
                <a:spcPts val="1400"/>
              </a:lnSpc>
              <a:tabLst>
                <a:tab pos="0" algn="l"/>
              </a:tabLst>
            </a:pPr>
            <a:r>
              <a:rPr lang="en-US" sz="1100" b="1" u="none" strike="noStrike">
                <a:solidFill>
                  <a:srgbClr val="5C5148"/>
                </a:solidFill>
                <a:effectLst/>
                <a:uFillTx/>
                <a:latin typeface="Calibri"/>
                <a:ea typeface="Calibri"/>
              </a:rPr>
              <a:t>Application Load Balancer</a:t>
            </a:r>
            <a:endParaRPr lang="en-US" sz="1100" b="0" u="none" strike="noStrike">
              <a:solidFill>
                <a:srgbClr val="000000"/>
              </a:solidFill>
              <a:effectLst/>
              <a:uFillTx/>
              <a:latin typeface="Arial"/>
            </a:endParaRPr>
          </a:p>
        </p:txBody>
      </p:sp>
      <p:sp>
        <p:nvSpPr>
          <p:cNvPr id="90" name="Shape 30"/>
          <p:cNvSpPr/>
          <p:nvPr/>
        </p:nvSpPr>
        <p:spPr>
          <a:xfrm flipH="1">
            <a:off x="8549640" y="3429000"/>
            <a:ext cx="301680" cy="360"/>
          </a:xfrm>
          <a:prstGeom prst="line">
            <a:avLst/>
          </a:prstGeom>
          <a:ln w="19050">
            <a:solidFill>
              <a:srgbClr val="8C8078"/>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1" name="Shape 31"/>
          <p:cNvSpPr/>
          <p:nvPr/>
        </p:nvSpPr>
        <p:spPr>
          <a:xfrm>
            <a:off x="8915400" y="4251960"/>
            <a:ext cx="2605320" cy="1325160"/>
          </a:xfrm>
          <a:prstGeom prst="roundRect">
            <a:avLst>
              <a:gd name="adj" fmla="val 6207"/>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2" name="Text 32"/>
          <p:cNvSpPr/>
          <p:nvPr/>
        </p:nvSpPr>
        <p:spPr>
          <a:xfrm>
            <a:off x="9006840" y="4389120"/>
            <a:ext cx="242244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2B2420"/>
                </a:solidFill>
                <a:effectLst/>
                <a:uFillTx/>
                <a:latin typeface="Calibri"/>
                <a:ea typeface="Calibri"/>
              </a:rPr>
              <a:t>Supporting services</a:t>
            </a:r>
            <a:endParaRPr lang="en-US" sz="1200" b="0" u="none" strike="noStrike">
              <a:solidFill>
                <a:srgbClr val="000000"/>
              </a:solidFill>
              <a:effectLst/>
              <a:uFillTx/>
              <a:latin typeface="Arial"/>
            </a:endParaRPr>
          </a:p>
        </p:txBody>
      </p:sp>
      <p:sp>
        <p:nvSpPr>
          <p:cNvPr id="93" name="Text 33"/>
          <p:cNvSpPr/>
          <p:nvPr/>
        </p:nvSpPr>
        <p:spPr>
          <a:xfrm>
            <a:off x="9006840" y="4681800"/>
            <a:ext cx="2422440" cy="77652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050" b="1" u="none" strike="noStrike">
                <a:solidFill>
                  <a:srgbClr val="5C5148"/>
                </a:solidFill>
                <a:effectLst/>
                <a:uFillTx/>
                <a:latin typeface="Calibri"/>
                <a:ea typeface="Calibri"/>
              </a:rPr>
              <a:t>Object storage — backups</a:t>
            </a:r>
            <a:endParaRPr lang="en-US" sz="1050" b="0" u="none" strike="noStrike">
              <a:solidFill>
                <a:srgbClr val="000000"/>
              </a:solidFill>
              <a:effectLst/>
              <a:uFillTx/>
              <a:latin typeface="Arial"/>
            </a:endParaRPr>
          </a:p>
          <a:p>
            <a:pPr defTabSz="914400">
              <a:lnSpc>
                <a:spcPts val="1500"/>
              </a:lnSpc>
              <a:tabLst>
                <a:tab pos="0" algn="l"/>
              </a:tabLst>
            </a:pPr>
            <a:r>
              <a:rPr lang="en-US" sz="1050" b="1" u="none" strike="noStrike">
                <a:solidFill>
                  <a:srgbClr val="5C5148"/>
                </a:solidFill>
                <a:effectLst/>
                <a:uFillTx/>
                <a:latin typeface="Calibri"/>
                <a:ea typeface="Calibri"/>
              </a:rPr>
              <a:t>Key management — encryption</a:t>
            </a:r>
            <a:endParaRPr lang="en-US" sz="1050" b="0" u="none" strike="noStrike">
              <a:solidFill>
                <a:srgbClr val="000000"/>
              </a:solidFill>
              <a:effectLst/>
              <a:uFillTx/>
              <a:latin typeface="Arial"/>
            </a:endParaRPr>
          </a:p>
          <a:p>
            <a:pPr defTabSz="914400">
              <a:lnSpc>
                <a:spcPts val="1500"/>
              </a:lnSpc>
              <a:tabLst>
                <a:tab pos="0" algn="l"/>
              </a:tabLst>
            </a:pPr>
            <a:r>
              <a:rPr lang="en-US" sz="1050" b="1" u="none" strike="noStrike">
                <a:solidFill>
                  <a:srgbClr val="5C5148"/>
                </a:solidFill>
                <a:effectLst/>
                <a:uFillTx/>
                <a:latin typeface="Calibri"/>
                <a:ea typeface="Calibri"/>
              </a:rPr>
              <a:t>Identity — access control</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94"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BIG PICTURE</a:t>
            </a:r>
            <a:endParaRPr lang="en-US" sz="1400" b="0" u="none" strike="noStrike">
              <a:solidFill>
                <a:srgbClr val="000000"/>
              </a:solidFill>
              <a:effectLst/>
              <a:uFillTx/>
              <a:latin typeface="Arial"/>
            </a:endParaRPr>
          </a:p>
        </p:txBody>
      </p:sp>
      <p:sp>
        <p:nvSpPr>
          <p:cNvPr id="95"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The journey of one code change</a:t>
            </a:r>
            <a:endParaRPr lang="en-US" sz="3400" b="0" u="none" strike="noStrike">
              <a:solidFill>
                <a:srgbClr val="000000"/>
              </a:solidFill>
              <a:effectLst/>
              <a:uFillTx/>
              <a:latin typeface="Arial"/>
            </a:endParaRPr>
          </a:p>
        </p:txBody>
      </p:sp>
      <p:sp>
        <p:nvSpPr>
          <p:cNvPr id="96" name="Text 2"/>
          <p:cNvSpPr/>
          <p:nvPr/>
        </p:nvSpPr>
        <p:spPr>
          <a:xfrm>
            <a:off x="640080" y="1353240"/>
            <a:ext cx="1088064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C5148"/>
                </a:solidFill>
                <a:effectLst/>
                <a:uFillTx/>
                <a:latin typeface="Calibri"/>
                <a:ea typeface="Calibri"/>
              </a:rPr>
              <a:t>From a developer's commit to a running container — roughly four minutes, no human step.</a:t>
            </a:r>
            <a:endParaRPr lang="en-US" sz="1500" b="0" u="none" strike="noStrike">
              <a:solidFill>
                <a:srgbClr val="000000"/>
              </a:solidFill>
              <a:effectLst/>
              <a:uFillTx/>
              <a:latin typeface="Arial"/>
            </a:endParaRPr>
          </a:p>
        </p:txBody>
      </p:sp>
      <p:sp>
        <p:nvSpPr>
          <p:cNvPr id="97" name="Shape 3"/>
          <p:cNvSpPr/>
          <p:nvPr/>
        </p:nvSpPr>
        <p:spPr>
          <a:xfrm>
            <a:off x="640080" y="2286000"/>
            <a:ext cx="169992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 name="Shape 4"/>
          <p:cNvSpPr/>
          <p:nvPr/>
        </p:nvSpPr>
        <p:spPr>
          <a:xfrm>
            <a:off x="1298520" y="212148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9" name="Text 5"/>
          <p:cNvSpPr/>
          <p:nvPr/>
        </p:nvSpPr>
        <p:spPr>
          <a:xfrm>
            <a:off x="1298520" y="21214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100" name="Text 6"/>
          <p:cNvSpPr/>
          <p:nvPr/>
        </p:nvSpPr>
        <p:spPr>
          <a:xfrm>
            <a:off x="731520" y="2788920"/>
            <a:ext cx="15170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2B2420"/>
                </a:solidFill>
                <a:effectLst/>
                <a:uFillTx/>
                <a:latin typeface="Calibri"/>
                <a:ea typeface="Calibri"/>
              </a:rPr>
              <a:t>Commit</a:t>
            </a:r>
            <a:endParaRPr lang="en-US" sz="1350" b="0" u="none" strike="noStrike">
              <a:solidFill>
                <a:srgbClr val="000000"/>
              </a:solidFill>
              <a:effectLst/>
              <a:uFillTx/>
              <a:latin typeface="Arial"/>
            </a:endParaRPr>
          </a:p>
        </p:txBody>
      </p:sp>
      <p:sp>
        <p:nvSpPr>
          <p:cNvPr id="101" name="Text 7"/>
          <p:cNvSpPr/>
          <p:nvPr/>
        </p:nvSpPr>
        <p:spPr>
          <a:xfrm>
            <a:off x="749880" y="3072240"/>
            <a:ext cx="1480680" cy="547920"/>
          </a:xfrm>
          <a:prstGeom prst="rect">
            <a:avLst/>
          </a:prstGeom>
          <a:noFill/>
          <a:ln w="0">
            <a:noFill/>
          </a:ln>
        </p:spPr>
        <p:style>
          <a:lnRef idx="0"/>
          <a:fillRef idx="0"/>
          <a:effectRef idx="0"/>
          <a:fontRef idx="minor"/>
        </p:style>
        <p:txBody>
          <a:bodyPr lIns="0" tIns="0" rIns="0" bIns="0" anchor="ctr">
            <a:noAutofit/>
          </a:bodyPr>
          <a:p>
            <a:pPr algn="ctr" defTabSz="914400">
              <a:lnSpc>
                <a:spcPts val="1301"/>
              </a:lnSpc>
              <a:tabLst>
                <a:tab pos="0" algn="l"/>
              </a:tabLst>
            </a:pPr>
            <a:r>
              <a:rPr lang="en-US" sz="1050" b="1" u="none" strike="noStrike">
                <a:solidFill>
                  <a:srgbClr val="5C5148"/>
                </a:solidFill>
                <a:effectLst/>
                <a:uFillTx/>
                <a:latin typeface="Calibri"/>
                <a:ea typeface="Calibri"/>
              </a:rPr>
              <a:t>A change is pushed to the repository</a:t>
            </a:r>
            <a:endParaRPr lang="en-US" sz="1050" b="0" u="none" strike="noStrike">
              <a:solidFill>
                <a:srgbClr val="000000"/>
              </a:solidFill>
              <a:effectLst/>
              <a:uFillTx/>
              <a:latin typeface="Arial"/>
            </a:endParaRPr>
          </a:p>
        </p:txBody>
      </p:sp>
      <p:sp>
        <p:nvSpPr>
          <p:cNvPr id="102" name="Shape 8"/>
          <p:cNvSpPr/>
          <p:nvPr/>
        </p:nvSpPr>
        <p:spPr>
          <a:xfrm>
            <a:off x="2354400" y="2971800"/>
            <a:ext cx="118800" cy="360"/>
          </a:xfrm>
          <a:prstGeom prst="line">
            <a:avLst/>
          </a:prstGeom>
          <a:ln w="19050">
            <a:solidFill>
              <a:srgbClr val="8C8078"/>
            </a:solidFill>
            <a:round/>
            <a:tailEnd len="med" type="triangle" w="med"/>
          </a:ln>
        </p:spPr>
        <p:style>
          <a:lnRef idx="0"/>
          <a:fillRef idx="0"/>
          <a:effectRef idx="0"/>
          <a:fontRef idx="minor"/>
        </p:style>
        <p:txBody>
          <a:bodyPr lIns="59400" tIns="-44640" rIns="59400" bIns="-44640" anchor="t" anchorCtr="1">
            <a:noAutofit/>
          </a:bodyPr>
          <a:p>
            <a:endParaRPr lang="en-US" sz="1800" b="0" u="none" strike="noStrike">
              <a:solidFill>
                <a:srgbClr val="000000"/>
              </a:solidFill>
              <a:effectLst/>
              <a:uFillTx/>
              <a:latin typeface="Arial"/>
            </a:endParaRPr>
          </a:p>
        </p:txBody>
      </p:sp>
      <p:sp>
        <p:nvSpPr>
          <p:cNvPr id="103" name="Shape 9"/>
          <p:cNvSpPr/>
          <p:nvPr/>
        </p:nvSpPr>
        <p:spPr>
          <a:xfrm>
            <a:off x="2487240" y="2286000"/>
            <a:ext cx="169992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 name="Shape 10"/>
          <p:cNvSpPr/>
          <p:nvPr/>
        </p:nvSpPr>
        <p:spPr>
          <a:xfrm>
            <a:off x="3145680" y="212148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5" name="Text 11"/>
          <p:cNvSpPr/>
          <p:nvPr/>
        </p:nvSpPr>
        <p:spPr>
          <a:xfrm>
            <a:off x="3145680" y="21214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106" name="Text 12"/>
          <p:cNvSpPr/>
          <p:nvPr/>
        </p:nvSpPr>
        <p:spPr>
          <a:xfrm>
            <a:off x="2578680" y="2788920"/>
            <a:ext cx="15170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2B2420"/>
                </a:solidFill>
                <a:effectLst/>
                <a:uFillTx/>
                <a:latin typeface="Calibri"/>
                <a:ea typeface="Calibri"/>
              </a:rPr>
              <a:t>Build &amp; Test</a:t>
            </a:r>
            <a:endParaRPr lang="en-US" sz="1350" b="0" u="none" strike="noStrike">
              <a:solidFill>
                <a:srgbClr val="000000"/>
              </a:solidFill>
              <a:effectLst/>
              <a:uFillTx/>
              <a:latin typeface="Arial"/>
            </a:endParaRPr>
          </a:p>
        </p:txBody>
      </p:sp>
      <p:sp>
        <p:nvSpPr>
          <p:cNvPr id="107" name="Text 13"/>
          <p:cNvSpPr/>
          <p:nvPr/>
        </p:nvSpPr>
        <p:spPr>
          <a:xfrm>
            <a:off x="2597040" y="3072240"/>
            <a:ext cx="1480680" cy="547920"/>
          </a:xfrm>
          <a:prstGeom prst="rect">
            <a:avLst/>
          </a:prstGeom>
          <a:noFill/>
          <a:ln w="0">
            <a:noFill/>
          </a:ln>
        </p:spPr>
        <p:style>
          <a:lnRef idx="0"/>
          <a:fillRef idx="0"/>
          <a:effectRef idx="0"/>
          <a:fontRef idx="minor"/>
        </p:style>
        <p:txBody>
          <a:bodyPr lIns="0" tIns="0" rIns="0" bIns="0" anchor="ctr">
            <a:noAutofit/>
          </a:bodyPr>
          <a:p>
            <a:pPr algn="ctr" defTabSz="914400">
              <a:lnSpc>
                <a:spcPts val="1301"/>
              </a:lnSpc>
              <a:tabLst>
                <a:tab pos="0" algn="l"/>
              </a:tabLst>
            </a:pPr>
            <a:r>
              <a:rPr lang="en-US" sz="1050" b="1" u="none" strike="noStrike">
                <a:solidFill>
                  <a:srgbClr val="5C5148"/>
                </a:solidFill>
                <a:effectLst/>
                <a:uFillTx/>
                <a:latin typeface="Calibri"/>
                <a:ea typeface="Calibri"/>
              </a:rPr>
              <a:t>Compiled, unit-tested, packaged</a:t>
            </a:r>
            <a:endParaRPr lang="en-US" sz="1050" b="0" u="none" strike="noStrike">
              <a:solidFill>
                <a:srgbClr val="000000"/>
              </a:solidFill>
              <a:effectLst/>
              <a:uFillTx/>
              <a:latin typeface="Arial"/>
            </a:endParaRPr>
          </a:p>
        </p:txBody>
      </p:sp>
      <p:sp>
        <p:nvSpPr>
          <p:cNvPr id="108" name="Shape 14"/>
          <p:cNvSpPr/>
          <p:nvPr/>
        </p:nvSpPr>
        <p:spPr>
          <a:xfrm>
            <a:off x="4201560" y="2971800"/>
            <a:ext cx="118800" cy="360"/>
          </a:xfrm>
          <a:prstGeom prst="line">
            <a:avLst/>
          </a:prstGeom>
          <a:ln w="19050">
            <a:solidFill>
              <a:srgbClr val="8C8078"/>
            </a:solidFill>
            <a:round/>
            <a:tailEnd len="med" type="triangle" w="med"/>
          </a:ln>
        </p:spPr>
        <p:style>
          <a:lnRef idx="0"/>
          <a:fillRef idx="0"/>
          <a:effectRef idx="0"/>
          <a:fontRef idx="minor"/>
        </p:style>
        <p:txBody>
          <a:bodyPr lIns="59400" tIns="-44640" rIns="59400" bIns="-44640" anchor="t" anchorCtr="1">
            <a:noAutofit/>
          </a:bodyPr>
          <a:p>
            <a:endParaRPr lang="en-US" sz="1800" b="0" u="none" strike="noStrike">
              <a:solidFill>
                <a:srgbClr val="000000"/>
              </a:solidFill>
              <a:effectLst/>
              <a:uFillTx/>
              <a:latin typeface="Arial"/>
            </a:endParaRPr>
          </a:p>
        </p:txBody>
      </p:sp>
      <p:sp>
        <p:nvSpPr>
          <p:cNvPr id="109" name="Shape 15"/>
          <p:cNvSpPr/>
          <p:nvPr/>
        </p:nvSpPr>
        <p:spPr>
          <a:xfrm>
            <a:off x="4334400" y="2286000"/>
            <a:ext cx="169992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0" name="Shape 16"/>
          <p:cNvSpPr/>
          <p:nvPr/>
        </p:nvSpPr>
        <p:spPr>
          <a:xfrm>
            <a:off x="4992480" y="212148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1" name="Text 17"/>
          <p:cNvSpPr/>
          <p:nvPr/>
        </p:nvSpPr>
        <p:spPr>
          <a:xfrm>
            <a:off x="4992480" y="21214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112" name="Text 18"/>
          <p:cNvSpPr/>
          <p:nvPr/>
        </p:nvSpPr>
        <p:spPr>
          <a:xfrm>
            <a:off x="4425840" y="2788920"/>
            <a:ext cx="15170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2B2420"/>
                </a:solidFill>
                <a:effectLst/>
                <a:uFillTx/>
                <a:latin typeface="Calibri"/>
                <a:ea typeface="Calibri"/>
              </a:rPr>
              <a:t>Inspect</a:t>
            </a:r>
            <a:endParaRPr lang="en-US" sz="1350" b="0" u="none" strike="noStrike">
              <a:solidFill>
                <a:srgbClr val="000000"/>
              </a:solidFill>
              <a:effectLst/>
              <a:uFillTx/>
              <a:latin typeface="Arial"/>
            </a:endParaRPr>
          </a:p>
        </p:txBody>
      </p:sp>
      <p:sp>
        <p:nvSpPr>
          <p:cNvPr id="113" name="Text 19"/>
          <p:cNvSpPr/>
          <p:nvPr/>
        </p:nvSpPr>
        <p:spPr>
          <a:xfrm>
            <a:off x="4443840" y="3072240"/>
            <a:ext cx="1480680" cy="547920"/>
          </a:xfrm>
          <a:prstGeom prst="rect">
            <a:avLst/>
          </a:prstGeom>
          <a:noFill/>
          <a:ln w="0">
            <a:noFill/>
          </a:ln>
        </p:spPr>
        <p:style>
          <a:lnRef idx="0"/>
          <a:fillRef idx="0"/>
          <a:effectRef idx="0"/>
          <a:fontRef idx="minor"/>
        </p:style>
        <p:txBody>
          <a:bodyPr lIns="0" tIns="0" rIns="0" bIns="0" anchor="ctr">
            <a:noAutofit/>
          </a:bodyPr>
          <a:p>
            <a:pPr algn="ctr" defTabSz="914400">
              <a:lnSpc>
                <a:spcPts val="1301"/>
              </a:lnSpc>
              <a:tabLst>
                <a:tab pos="0" algn="l"/>
              </a:tabLst>
            </a:pPr>
            <a:r>
              <a:rPr lang="en-US" sz="1050" b="1" u="none" strike="noStrike">
                <a:solidFill>
                  <a:srgbClr val="5C5148"/>
                </a:solidFill>
                <a:effectLst/>
                <a:uFillTx/>
                <a:latin typeface="Calibri"/>
                <a:ea typeface="Calibri"/>
              </a:rPr>
              <a:t>Code quality and vulnerability analysis</a:t>
            </a:r>
            <a:endParaRPr lang="en-US" sz="1050" b="0" u="none" strike="noStrike">
              <a:solidFill>
                <a:srgbClr val="000000"/>
              </a:solidFill>
              <a:effectLst/>
              <a:uFillTx/>
              <a:latin typeface="Arial"/>
            </a:endParaRPr>
          </a:p>
        </p:txBody>
      </p:sp>
      <p:sp>
        <p:nvSpPr>
          <p:cNvPr id="114" name="Shape 20"/>
          <p:cNvSpPr/>
          <p:nvPr/>
        </p:nvSpPr>
        <p:spPr>
          <a:xfrm>
            <a:off x="6048720" y="2971800"/>
            <a:ext cx="118800" cy="360"/>
          </a:xfrm>
          <a:prstGeom prst="line">
            <a:avLst/>
          </a:prstGeom>
          <a:ln w="19050">
            <a:solidFill>
              <a:srgbClr val="8C8078"/>
            </a:solidFill>
            <a:round/>
            <a:tailEnd len="med" type="triangle" w="med"/>
          </a:ln>
        </p:spPr>
        <p:style>
          <a:lnRef idx="0"/>
          <a:fillRef idx="0"/>
          <a:effectRef idx="0"/>
          <a:fontRef idx="minor"/>
        </p:style>
        <p:txBody>
          <a:bodyPr lIns="59400" tIns="-44640" rIns="59400" bIns="-44640" anchor="t" anchorCtr="1">
            <a:noAutofit/>
          </a:bodyPr>
          <a:p>
            <a:endParaRPr lang="en-US" sz="1800" b="0" u="none" strike="noStrike">
              <a:solidFill>
                <a:srgbClr val="000000"/>
              </a:solidFill>
              <a:effectLst/>
              <a:uFillTx/>
              <a:latin typeface="Arial"/>
            </a:endParaRPr>
          </a:p>
        </p:txBody>
      </p:sp>
      <p:sp>
        <p:nvSpPr>
          <p:cNvPr id="115" name="Shape 21"/>
          <p:cNvSpPr/>
          <p:nvPr/>
        </p:nvSpPr>
        <p:spPr>
          <a:xfrm>
            <a:off x="6181200" y="2286000"/>
            <a:ext cx="169992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6" name="Shape 22"/>
          <p:cNvSpPr/>
          <p:nvPr/>
        </p:nvSpPr>
        <p:spPr>
          <a:xfrm>
            <a:off x="6839640" y="212148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7" name="Text 23"/>
          <p:cNvSpPr/>
          <p:nvPr/>
        </p:nvSpPr>
        <p:spPr>
          <a:xfrm>
            <a:off x="6839640" y="21214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000000"/>
              </a:solidFill>
              <a:effectLst/>
              <a:uFillTx/>
              <a:latin typeface="Arial"/>
            </a:endParaRPr>
          </a:p>
        </p:txBody>
      </p:sp>
      <p:sp>
        <p:nvSpPr>
          <p:cNvPr id="118" name="Text 24"/>
          <p:cNvSpPr/>
          <p:nvPr/>
        </p:nvSpPr>
        <p:spPr>
          <a:xfrm>
            <a:off x="6272640" y="2788920"/>
            <a:ext cx="15170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2B2420"/>
                </a:solidFill>
                <a:effectLst/>
                <a:uFillTx/>
                <a:latin typeface="Calibri"/>
                <a:ea typeface="Calibri"/>
              </a:rPr>
              <a:t>Publish</a:t>
            </a:r>
            <a:endParaRPr lang="en-US" sz="1350" b="0" u="none" strike="noStrike">
              <a:solidFill>
                <a:srgbClr val="000000"/>
              </a:solidFill>
              <a:effectLst/>
              <a:uFillTx/>
              <a:latin typeface="Arial"/>
            </a:endParaRPr>
          </a:p>
        </p:txBody>
      </p:sp>
      <p:sp>
        <p:nvSpPr>
          <p:cNvPr id="119" name="Text 25"/>
          <p:cNvSpPr/>
          <p:nvPr/>
        </p:nvSpPr>
        <p:spPr>
          <a:xfrm>
            <a:off x="6291000" y="3072240"/>
            <a:ext cx="1480680" cy="547920"/>
          </a:xfrm>
          <a:prstGeom prst="rect">
            <a:avLst/>
          </a:prstGeom>
          <a:noFill/>
          <a:ln w="0">
            <a:noFill/>
          </a:ln>
        </p:spPr>
        <p:style>
          <a:lnRef idx="0"/>
          <a:fillRef idx="0"/>
          <a:effectRef idx="0"/>
          <a:fontRef idx="minor"/>
        </p:style>
        <p:txBody>
          <a:bodyPr lIns="0" tIns="0" rIns="0" bIns="0" anchor="ctr">
            <a:noAutofit/>
          </a:bodyPr>
          <a:p>
            <a:pPr algn="ctr" defTabSz="914400">
              <a:lnSpc>
                <a:spcPts val="1301"/>
              </a:lnSpc>
              <a:tabLst>
                <a:tab pos="0" algn="l"/>
              </a:tabLst>
            </a:pPr>
            <a:r>
              <a:rPr lang="en-US" sz="1050" b="1" u="none" strike="noStrike">
                <a:solidFill>
                  <a:srgbClr val="5C5148"/>
                </a:solidFill>
                <a:effectLst/>
                <a:uFillTx/>
                <a:latin typeface="Calibri"/>
                <a:ea typeface="Calibri"/>
              </a:rPr>
              <a:t>Container images stored, tagged by commit</a:t>
            </a:r>
            <a:endParaRPr lang="en-US" sz="1050" b="0" u="none" strike="noStrike">
              <a:solidFill>
                <a:srgbClr val="000000"/>
              </a:solidFill>
              <a:effectLst/>
              <a:uFillTx/>
              <a:latin typeface="Arial"/>
            </a:endParaRPr>
          </a:p>
        </p:txBody>
      </p:sp>
      <p:sp>
        <p:nvSpPr>
          <p:cNvPr id="120" name="Shape 26"/>
          <p:cNvSpPr/>
          <p:nvPr/>
        </p:nvSpPr>
        <p:spPr>
          <a:xfrm>
            <a:off x="7895520" y="2971800"/>
            <a:ext cx="119160" cy="360"/>
          </a:xfrm>
          <a:prstGeom prst="line">
            <a:avLst/>
          </a:prstGeom>
          <a:ln w="19050">
            <a:solidFill>
              <a:srgbClr val="8C8078"/>
            </a:solidFill>
            <a:round/>
            <a:tailEnd len="med" type="triangle" w="med"/>
          </a:ln>
        </p:spPr>
        <p:style>
          <a:lnRef idx="0"/>
          <a:fillRef idx="0"/>
          <a:effectRef idx="0"/>
          <a:fontRef idx="minor"/>
        </p:style>
        <p:txBody>
          <a:bodyPr lIns="59400" tIns="-44640" rIns="59400" bIns="-44640" anchor="t" anchorCtr="1">
            <a:noAutofit/>
          </a:bodyPr>
          <a:p>
            <a:endParaRPr lang="en-US" sz="1800" b="0" u="none" strike="noStrike">
              <a:solidFill>
                <a:srgbClr val="000000"/>
              </a:solidFill>
              <a:effectLst/>
              <a:uFillTx/>
              <a:latin typeface="Arial"/>
            </a:endParaRPr>
          </a:p>
        </p:txBody>
      </p:sp>
      <p:sp>
        <p:nvSpPr>
          <p:cNvPr id="121" name="Shape 27"/>
          <p:cNvSpPr/>
          <p:nvPr/>
        </p:nvSpPr>
        <p:spPr>
          <a:xfrm>
            <a:off x="8028360" y="2286000"/>
            <a:ext cx="169992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2" name="Shape 28"/>
          <p:cNvSpPr/>
          <p:nvPr/>
        </p:nvSpPr>
        <p:spPr>
          <a:xfrm>
            <a:off x="8686800" y="212148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3" name="Text 29"/>
          <p:cNvSpPr/>
          <p:nvPr/>
        </p:nvSpPr>
        <p:spPr>
          <a:xfrm>
            <a:off x="8686800" y="21214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5</a:t>
            </a:r>
            <a:endParaRPr lang="en-US" sz="1300" b="0" u="none" strike="noStrike">
              <a:solidFill>
                <a:srgbClr val="000000"/>
              </a:solidFill>
              <a:effectLst/>
              <a:uFillTx/>
              <a:latin typeface="Arial"/>
            </a:endParaRPr>
          </a:p>
        </p:txBody>
      </p:sp>
      <p:sp>
        <p:nvSpPr>
          <p:cNvPr id="124" name="Text 30"/>
          <p:cNvSpPr/>
          <p:nvPr/>
        </p:nvSpPr>
        <p:spPr>
          <a:xfrm>
            <a:off x="8119800" y="2788920"/>
            <a:ext cx="15170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2B2420"/>
                </a:solidFill>
                <a:effectLst/>
                <a:uFillTx/>
                <a:latin typeface="Calibri"/>
                <a:ea typeface="Calibri"/>
              </a:rPr>
              <a:t>Deploy</a:t>
            </a:r>
            <a:endParaRPr lang="en-US" sz="1350" b="0" u="none" strike="noStrike">
              <a:solidFill>
                <a:srgbClr val="000000"/>
              </a:solidFill>
              <a:effectLst/>
              <a:uFillTx/>
              <a:latin typeface="Arial"/>
            </a:endParaRPr>
          </a:p>
        </p:txBody>
      </p:sp>
      <p:sp>
        <p:nvSpPr>
          <p:cNvPr id="125" name="Text 31"/>
          <p:cNvSpPr/>
          <p:nvPr/>
        </p:nvSpPr>
        <p:spPr>
          <a:xfrm>
            <a:off x="8138160" y="3072240"/>
            <a:ext cx="1480680" cy="547920"/>
          </a:xfrm>
          <a:prstGeom prst="rect">
            <a:avLst/>
          </a:prstGeom>
          <a:noFill/>
          <a:ln w="0">
            <a:noFill/>
          </a:ln>
        </p:spPr>
        <p:style>
          <a:lnRef idx="0"/>
          <a:fillRef idx="0"/>
          <a:effectRef idx="0"/>
          <a:fontRef idx="minor"/>
        </p:style>
        <p:txBody>
          <a:bodyPr lIns="0" tIns="0" rIns="0" bIns="0" anchor="ctr">
            <a:noAutofit/>
          </a:bodyPr>
          <a:p>
            <a:pPr algn="ctr" defTabSz="914400">
              <a:lnSpc>
                <a:spcPts val="1301"/>
              </a:lnSpc>
              <a:tabLst>
                <a:tab pos="0" algn="l"/>
              </a:tabLst>
            </a:pPr>
            <a:r>
              <a:rPr lang="en-US" sz="1050" b="1" u="none" strike="noStrike">
                <a:solidFill>
                  <a:srgbClr val="5C5148"/>
                </a:solidFill>
                <a:effectLst/>
                <a:uFillTx/>
                <a:latin typeface="Calibri"/>
                <a:ea typeface="Calibri"/>
              </a:rPr>
              <a:t>Released to the cluster, rolled back if unhealthy</a:t>
            </a:r>
            <a:endParaRPr lang="en-US" sz="1050" b="0" u="none" strike="noStrike">
              <a:solidFill>
                <a:srgbClr val="000000"/>
              </a:solidFill>
              <a:effectLst/>
              <a:uFillTx/>
              <a:latin typeface="Arial"/>
            </a:endParaRPr>
          </a:p>
        </p:txBody>
      </p:sp>
      <p:sp>
        <p:nvSpPr>
          <p:cNvPr id="126" name="Shape 32"/>
          <p:cNvSpPr/>
          <p:nvPr/>
        </p:nvSpPr>
        <p:spPr>
          <a:xfrm>
            <a:off x="9742680" y="2971800"/>
            <a:ext cx="118800" cy="360"/>
          </a:xfrm>
          <a:prstGeom prst="line">
            <a:avLst/>
          </a:prstGeom>
          <a:ln w="19050">
            <a:solidFill>
              <a:srgbClr val="8C8078"/>
            </a:solidFill>
            <a:round/>
            <a:tailEnd len="med" type="triangle" w="med"/>
          </a:ln>
        </p:spPr>
        <p:style>
          <a:lnRef idx="0"/>
          <a:fillRef idx="0"/>
          <a:effectRef idx="0"/>
          <a:fontRef idx="minor"/>
        </p:style>
        <p:txBody>
          <a:bodyPr lIns="59400" tIns="-44640" rIns="59400" bIns="-44640" anchor="t" anchorCtr="1">
            <a:noAutofit/>
          </a:bodyPr>
          <a:p>
            <a:endParaRPr lang="en-US" sz="1800" b="0" u="none" strike="noStrike">
              <a:solidFill>
                <a:srgbClr val="000000"/>
              </a:solidFill>
              <a:effectLst/>
              <a:uFillTx/>
              <a:latin typeface="Arial"/>
            </a:endParaRPr>
          </a:p>
        </p:txBody>
      </p:sp>
      <p:sp>
        <p:nvSpPr>
          <p:cNvPr id="127" name="Shape 33"/>
          <p:cNvSpPr/>
          <p:nvPr/>
        </p:nvSpPr>
        <p:spPr>
          <a:xfrm>
            <a:off x="9875520" y="2286000"/>
            <a:ext cx="169992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8" name="Shape 34"/>
          <p:cNvSpPr/>
          <p:nvPr/>
        </p:nvSpPr>
        <p:spPr>
          <a:xfrm>
            <a:off x="10533960" y="212148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9" name="Text 35"/>
          <p:cNvSpPr/>
          <p:nvPr/>
        </p:nvSpPr>
        <p:spPr>
          <a:xfrm>
            <a:off x="10533960" y="21214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6</a:t>
            </a:r>
            <a:endParaRPr lang="en-US" sz="1300" b="0" u="none" strike="noStrike">
              <a:solidFill>
                <a:srgbClr val="000000"/>
              </a:solidFill>
              <a:effectLst/>
              <a:uFillTx/>
              <a:latin typeface="Arial"/>
            </a:endParaRPr>
          </a:p>
        </p:txBody>
      </p:sp>
      <p:sp>
        <p:nvSpPr>
          <p:cNvPr id="130" name="Text 36"/>
          <p:cNvSpPr/>
          <p:nvPr/>
        </p:nvSpPr>
        <p:spPr>
          <a:xfrm>
            <a:off x="9966960" y="2788920"/>
            <a:ext cx="15170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2B2420"/>
                </a:solidFill>
                <a:effectLst/>
                <a:uFillTx/>
                <a:latin typeface="Calibri"/>
                <a:ea typeface="Calibri"/>
              </a:rPr>
              <a:t>Serve</a:t>
            </a:r>
            <a:endParaRPr lang="en-US" sz="1350" b="0" u="none" strike="noStrike">
              <a:solidFill>
                <a:srgbClr val="000000"/>
              </a:solidFill>
              <a:effectLst/>
              <a:uFillTx/>
              <a:latin typeface="Arial"/>
            </a:endParaRPr>
          </a:p>
        </p:txBody>
      </p:sp>
      <p:sp>
        <p:nvSpPr>
          <p:cNvPr id="131" name="Text 37"/>
          <p:cNvSpPr/>
          <p:nvPr/>
        </p:nvSpPr>
        <p:spPr>
          <a:xfrm>
            <a:off x="9985320" y="3072240"/>
            <a:ext cx="1480680" cy="547920"/>
          </a:xfrm>
          <a:prstGeom prst="rect">
            <a:avLst/>
          </a:prstGeom>
          <a:noFill/>
          <a:ln w="0">
            <a:noFill/>
          </a:ln>
        </p:spPr>
        <p:style>
          <a:lnRef idx="0"/>
          <a:fillRef idx="0"/>
          <a:effectRef idx="0"/>
          <a:fontRef idx="minor"/>
        </p:style>
        <p:txBody>
          <a:bodyPr lIns="0" tIns="0" rIns="0" bIns="0" anchor="ctr">
            <a:noAutofit/>
          </a:bodyPr>
          <a:p>
            <a:pPr algn="ctr" defTabSz="914400">
              <a:lnSpc>
                <a:spcPts val="1301"/>
              </a:lnSpc>
              <a:tabLst>
                <a:tab pos="0" algn="l"/>
              </a:tabLst>
            </a:pPr>
            <a:r>
              <a:rPr lang="en-US" sz="1050" b="1" u="none" strike="noStrike">
                <a:solidFill>
                  <a:srgbClr val="5C5148"/>
                </a:solidFill>
                <a:effectLst/>
                <a:uFillTx/>
                <a:latin typeface="Calibri"/>
                <a:ea typeface="Calibri"/>
              </a:rPr>
              <a:t>Traffic reaches the new version</a:t>
            </a:r>
            <a:endParaRPr lang="en-US" sz="1050" b="0" u="none" strike="noStrike">
              <a:solidFill>
                <a:srgbClr val="000000"/>
              </a:solidFill>
              <a:effectLst/>
              <a:uFillTx/>
              <a:latin typeface="Arial"/>
            </a:endParaRPr>
          </a:p>
        </p:txBody>
      </p:sp>
      <p:sp>
        <p:nvSpPr>
          <p:cNvPr id="132" name="Shape 38"/>
          <p:cNvSpPr/>
          <p:nvPr/>
        </p:nvSpPr>
        <p:spPr>
          <a:xfrm>
            <a:off x="640080" y="4114800"/>
            <a:ext cx="10880640" cy="1416600"/>
          </a:xfrm>
          <a:prstGeom prst="roundRect">
            <a:avLst>
              <a:gd name="adj" fmla="val 5806"/>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3" name="Text 39"/>
          <p:cNvSpPr/>
          <p:nvPr/>
        </p:nvSpPr>
        <p:spPr>
          <a:xfrm>
            <a:off x="960120" y="4297680"/>
            <a:ext cx="457128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2420"/>
                </a:solidFill>
                <a:effectLst/>
                <a:uFillTx/>
                <a:latin typeface="Calibri"/>
                <a:ea typeface="Calibri"/>
              </a:rPr>
              <a:t>Why automate this at all?</a:t>
            </a:r>
            <a:endParaRPr lang="en-US" sz="1500" b="0" u="none" strike="noStrike">
              <a:solidFill>
                <a:srgbClr val="000000"/>
              </a:solidFill>
              <a:effectLst/>
              <a:uFillTx/>
              <a:latin typeface="Arial"/>
            </a:endParaRPr>
          </a:p>
        </p:txBody>
      </p:sp>
      <p:sp>
        <p:nvSpPr>
          <p:cNvPr id="134" name="Text 40"/>
          <p:cNvSpPr/>
          <p:nvPr/>
        </p:nvSpPr>
        <p:spPr>
          <a:xfrm>
            <a:off x="960120" y="4617720"/>
            <a:ext cx="10240560" cy="82224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499"/>
              </a:spcAft>
              <a:buClr>
                <a:srgbClr val="5C5148"/>
              </a:buClr>
              <a:buFont typeface="Symbol" charset="2"/>
              <a:buChar char=""/>
            </a:pPr>
            <a:r>
              <a:rPr lang="en-US" sz="1250" b="1" u="none" strike="noStrike">
                <a:solidFill>
                  <a:srgbClr val="5C5148"/>
                </a:solidFill>
                <a:effectLst/>
                <a:uFillTx/>
                <a:latin typeface="Calibri"/>
                <a:ea typeface="Calibri"/>
              </a:rPr>
              <a:t>Consistency — the same steps run every time, so a deployment cannot be forgotten or done differently under pressure.</a:t>
            </a:r>
            <a:endParaRPr lang="en-US" sz="1250" b="0" u="none" strike="noStrike">
              <a:solidFill>
                <a:srgbClr val="000000"/>
              </a:solidFill>
              <a:effectLst/>
              <a:uFillTx/>
              <a:latin typeface="Arial"/>
            </a:endParaRPr>
          </a:p>
          <a:p>
            <a:pPr marL="343080" indent="-343080" defTabSz="914400">
              <a:lnSpc>
                <a:spcPct val="100000"/>
              </a:lnSpc>
              <a:spcAft>
                <a:spcPts val="499"/>
              </a:spcAft>
              <a:buClr>
                <a:srgbClr val="5C5148"/>
              </a:buClr>
              <a:buFont typeface="Symbol" charset="2"/>
              <a:buChar char=""/>
            </a:pPr>
            <a:r>
              <a:rPr lang="en-US" sz="1250" b="1" u="none" strike="noStrike">
                <a:solidFill>
                  <a:srgbClr val="5C5148"/>
                </a:solidFill>
                <a:effectLst/>
                <a:uFillTx/>
                <a:latin typeface="Calibri"/>
                <a:ea typeface="Calibri"/>
              </a:rPr>
              <a:t>Traceability — every running container carries the commit it was built from.</a:t>
            </a:r>
            <a:endParaRPr lang="en-US" sz="1250" b="0" u="none" strike="noStrike">
              <a:solidFill>
                <a:srgbClr val="000000"/>
              </a:solidFill>
              <a:effectLst/>
              <a:uFillTx/>
              <a:latin typeface="Arial"/>
            </a:endParaRPr>
          </a:p>
          <a:p>
            <a:pPr marL="343080" indent="-343080" defTabSz="914400">
              <a:lnSpc>
                <a:spcPct val="100000"/>
              </a:lnSpc>
              <a:spcAft>
                <a:spcPts val="499"/>
              </a:spcAft>
              <a:buClr>
                <a:srgbClr val="5C5148"/>
              </a:buClr>
              <a:buFont typeface="Symbol" charset="2"/>
              <a:buChar char=""/>
            </a:pPr>
            <a:r>
              <a:rPr lang="en-US" sz="1250" b="1" u="none" strike="noStrike">
                <a:solidFill>
                  <a:srgbClr val="5C5148"/>
                </a:solidFill>
                <a:effectLst/>
                <a:uFillTx/>
                <a:latin typeface="Calibri"/>
                <a:ea typeface="Calibri"/>
              </a:rPr>
              <a:t>Speed of correction — a bad release is replaced in minutes, not scheduled for a maintenance window.</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135"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STRUCTURE</a:t>
            </a:r>
            <a:endParaRPr lang="en-US" sz="1400" b="0" u="none" strike="noStrike">
              <a:solidFill>
                <a:srgbClr val="000000"/>
              </a:solidFill>
              <a:effectLst/>
              <a:uFillTx/>
              <a:latin typeface="Arial"/>
            </a:endParaRPr>
          </a:p>
        </p:txBody>
      </p:sp>
      <p:sp>
        <p:nvSpPr>
          <p:cNvPr id="136"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How the rest of this is organised</a:t>
            </a:r>
            <a:endParaRPr lang="en-US" sz="3400" b="0" u="none" strike="noStrike">
              <a:solidFill>
                <a:srgbClr val="000000"/>
              </a:solidFill>
              <a:effectLst/>
              <a:uFillTx/>
              <a:latin typeface="Arial"/>
            </a:endParaRPr>
          </a:p>
        </p:txBody>
      </p:sp>
      <p:sp>
        <p:nvSpPr>
          <p:cNvPr id="137" name="Text 2"/>
          <p:cNvSpPr/>
          <p:nvPr/>
        </p:nvSpPr>
        <p:spPr>
          <a:xfrm>
            <a:off x="640080" y="1353240"/>
            <a:ext cx="1088064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C5148"/>
                </a:solidFill>
                <a:effectLst/>
                <a:uFillTx/>
                <a:latin typeface="Calibri"/>
                <a:ea typeface="Calibri"/>
              </a:rPr>
              <a:t>Each layer is explained the same way: the problem, the design, then the implementation.</a:t>
            </a:r>
            <a:endParaRPr lang="en-US" sz="1500" b="0" u="none" strike="noStrike">
              <a:solidFill>
                <a:srgbClr val="000000"/>
              </a:solidFill>
              <a:effectLst/>
              <a:uFillTx/>
              <a:latin typeface="Arial"/>
            </a:endParaRPr>
          </a:p>
        </p:txBody>
      </p:sp>
      <p:sp>
        <p:nvSpPr>
          <p:cNvPr id="138" name="Shape 3"/>
          <p:cNvSpPr/>
          <p:nvPr/>
        </p:nvSpPr>
        <p:spPr>
          <a:xfrm>
            <a:off x="640080" y="2011680"/>
            <a:ext cx="10880640" cy="749160"/>
          </a:xfrm>
          <a:prstGeom prst="roundRect">
            <a:avLst>
              <a:gd name="adj" fmla="val 1097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 name="Shape 4"/>
          <p:cNvSpPr/>
          <p:nvPr/>
        </p:nvSpPr>
        <p:spPr>
          <a:xfrm>
            <a:off x="914400" y="219456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0" name="Text 5"/>
          <p:cNvSpPr/>
          <p:nvPr/>
        </p:nvSpPr>
        <p:spPr>
          <a:xfrm>
            <a:off x="914400" y="21945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141" name="Text 6"/>
          <p:cNvSpPr/>
          <p:nvPr/>
        </p:nvSpPr>
        <p:spPr>
          <a:xfrm>
            <a:off x="1481400" y="2130480"/>
            <a:ext cx="21024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85042"/>
                </a:solidFill>
                <a:effectLst/>
                <a:uFillTx/>
                <a:latin typeface="Calibri"/>
                <a:ea typeface="Calibri"/>
              </a:rPr>
              <a:t>Foundation</a:t>
            </a:r>
            <a:endParaRPr lang="en-US" sz="1500" b="0" u="none" strike="noStrike">
              <a:solidFill>
                <a:srgbClr val="000000"/>
              </a:solidFill>
              <a:effectLst/>
              <a:uFillTx/>
              <a:latin typeface="Arial"/>
            </a:endParaRPr>
          </a:p>
        </p:txBody>
      </p:sp>
      <p:sp>
        <p:nvSpPr>
          <p:cNvPr id="142" name="Text 7"/>
          <p:cNvSpPr/>
          <p:nvPr/>
        </p:nvSpPr>
        <p:spPr>
          <a:xfrm>
            <a:off x="1481400" y="2414160"/>
            <a:ext cx="292536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8C8078"/>
                </a:solidFill>
                <a:effectLst/>
                <a:uFillTx/>
                <a:latin typeface="Calibri"/>
                <a:ea typeface="Calibri"/>
              </a:rPr>
              <a:t>Network and cluster</a:t>
            </a:r>
            <a:endParaRPr lang="en-US" sz="1200" b="0" u="none" strike="noStrike">
              <a:solidFill>
                <a:srgbClr val="000000"/>
              </a:solidFill>
              <a:effectLst/>
              <a:uFillTx/>
              <a:latin typeface="Arial"/>
            </a:endParaRPr>
          </a:p>
        </p:txBody>
      </p:sp>
      <p:sp>
        <p:nvSpPr>
          <p:cNvPr id="143" name="Text 8"/>
          <p:cNvSpPr/>
          <p:nvPr/>
        </p:nvSpPr>
        <p:spPr>
          <a:xfrm>
            <a:off x="4663440" y="2249280"/>
            <a:ext cx="621720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5C5148"/>
                </a:solidFill>
                <a:effectLst/>
                <a:uFillTx/>
                <a:latin typeface="Calibri"/>
                <a:ea typeface="Calibri"/>
              </a:rPr>
              <a:t>Where everything runs, and why it is private</a:t>
            </a:r>
            <a:endParaRPr lang="en-US" sz="1350" b="0" u="none" strike="noStrike">
              <a:solidFill>
                <a:srgbClr val="000000"/>
              </a:solidFill>
              <a:effectLst/>
              <a:uFillTx/>
              <a:latin typeface="Arial"/>
            </a:endParaRPr>
          </a:p>
        </p:txBody>
      </p:sp>
      <p:sp>
        <p:nvSpPr>
          <p:cNvPr id="144" name="Shape 9"/>
          <p:cNvSpPr/>
          <p:nvPr/>
        </p:nvSpPr>
        <p:spPr>
          <a:xfrm>
            <a:off x="640080" y="2871360"/>
            <a:ext cx="10880640" cy="749160"/>
          </a:xfrm>
          <a:prstGeom prst="roundRect">
            <a:avLst>
              <a:gd name="adj" fmla="val 1097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5" name="Shape 10"/>
          <p:cNvSpPr/>
          <p:nvPr/>
        </p:nvSpPr>
        <p:spPr>
          <a:xfrm>
            <a:off x="914400" y="305424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6" name="Text 11"/>
          <p:cNvSpPr/>
          <p:nvPr/>
        </p:nvSpPr>
        <p:spPr>
          <a:xfrm>
            <a:off x="914400" y="305424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147" name="Text 12"/>
          <p:cNvSpPr/>
          <p:nvPr/>
        </p:nvSpPr>
        <p:spPr>
          <a:xfrm>
            <a:off x="1481400" y="2990160"/>
            <a:ext cx="21024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85042"/>
                </a:solidFill>
                <a:effectLst/>
                <a:uFillTx/>
                <a:latin typeface="Calibri"/>
                <a:ea typeface="Calibri"/>
              </a:rPr>
              <a:t>Application</a:t>
            </a:r>
            <a:endParaRPr lang="en-US" sz="1500" b="0" u="none" strike="noStrike">
              <a:solidFill>
                <a:srgbClr val="000000"/>
              </a:solidFill>
              <a:effectLst/>
              <a:uFillTx/>
              <a:latin typeface="Arial"/>
            </a:endParaRPr>
          </a:p>
        </p:txBody>
      </p:sp>
      <p:sp>
        <p:nvSpPr>
          <p:cNvPr id="148" name="Text 13"/>
          <p:cNvSpPr/>
          <p:nvPr/>
        </p:nvSpPr>
        <p:spPr>
          <a:xfrm>
            <a:off x="1481400" y="3273480"/>
            <a:ext cx="292536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8C8078"/>
                </a:solidFill>
                <a:effectLst/>
                <a:uFillTx/>
                <a:latin typeface="Calibri"/>
                <a:ea typeface="Calibri"/>
              </a:rPr>
              <a:t>Five tiers and their state</a:t>
            </a:r>
            <a:endParaRPr lang="en-US" sz="1200" b="0" u="none" strike="noStrike">
              <a:solidFill>
                <a:srgbClr val="000000"/>
              </a:solidFill>
              <a:effectLst/>
              <a:uFillTx/>
              <a:latin typeface="Arial"/>
            </a:endParaRPr>
          </a:p>
        </p:txBody>
      </p:sp>
      <p:sp>
        <p:nvSpPr>
          <p:cNvPr id="149" name="Text 14"/>
          <p:cNvSpPr/>
          <p:nvPr/>
        </p:nvSpPr>
        <p:spPr>
          <a:xfrm>
            <a:off x="4663440" y="3108960"/>
            <a:ext cx="621720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5C5148"/>
                </a:solidFill>
                <a:effectLst/>
                <a:uFillTx/>
                <a:latin typeface="Calibri"/>
                <a:ea typeface="Calibri"/>
              </a:rPr>
              <a:t>How a request is served, and what persists</a:t>
            </a:r>
            <a:endParaRPr lang="en-US" sz="1350" b="0" u="none" strike="noStrike">
              <a:solidFill>
                <a:srgbClr val="000000"/>
              </a:solidFill>
              <a:effectLst/>
              <a:uFillTx/>
              <a:latin typeface="Arial"/>
            </a:endParaRPr>
          </a:p>
        </p:txBody>
      </p:sp>
      <p:sp>
        <p:nvSpPr>
          <p:cNvPr id="150" name="Shape 15"/>
          <p:cNvSpPr/>
          <p:nvPr/>
        </p:nvSpPr>
        <p:spPr>
          <a:xfrm>
            <a:off x="640080" y="3730680"/>
            <a:ext cx="10880640" cy="749160"/>
          </a:xfrm>
          <a:prstGeom prst="roundRect">
            <a:avLst>
              <a:gd name="adj" fmla="val 1097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1" name="Shape 16"/>
          <p:cNvSpPr/>
          <p:nvPr/>
        </p:nvSpPr>
        <p:spPr>
          <a:xfrm>
            <a:off x="914400" y="391356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2" name="Text 17"/>
          <p:cNvSpPr/>
          <p:nvPr/>
        </p:nvSpPr>
        <p:spPr>
          <a:xfrm>
            <a:off x="914400" y="39135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153" name="Text 18"/>
          <p:cNvSpPr/>
          <p:nvPr/>
        </p:nvSpPr>
        <p:spPr>
          <a:xfrm>
            <a:off x="1481400" y="3849480"/>
            <a:ext cx="21024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85042"/>
                </a:solidFill>
                <a:effectLst/>
                <a:uFillTx/>
                <a:latin typeface="Calibri"/>
                <a:ea typeface="Calibri"/>
              </a:rPr>
              <a:t>Delivery</a:t>
            </a:r>
            <a:endParaRPr lang="en-US" sz="1500" b="0" u="none" strike="noStrike">
              <a:solidFill>
                <a:srgbClr val="000000"/>
              </a:solidFill>
              <a:effectLst/>
              <a:uFillTx/>
              <a:latin typeface="Arial"/>
            </a:endParaRPr>
          </a:p>
        </p:txBody>
      </p:sp>
      <p:sp>
        <p:nvSpPr>
          <p:cNvPr id="154" name="Text 19"/>
          <p:cNvSpPr/>
          <p:nvPr/>
        </p:nvSpPr>
        <p:spPr>
          <a:xfrm>
            <a:off x="1481400" y="4133160"/>
            <a:ext cx="292536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8C8078"/>
                </a:solidFill>
                <a:effectLst/>
                <a:uFillTx/>
                <a:latin typeface="Calibri"/>
                <a:ea typeface="Calibri"/>
              </a:rPr>
              <a:t>Pipelines and identity</a:t>
            </a:r>
            <a:endParaRPr lang="en-US" sz="1200" b="0" u="none" strike="noStrike">
              <a:solidFill>
                <a:srgbClr val="000000"/>
              </a:solidFill>
              <a:effectLst/>
              <a:uFillTx/>
              <a:latin typeface="Arial"/>
            </a:endParaRPr>
          </a:p>
        </p:txBody>
      </p:sp>
      <p:sp>
        <p:nvSpPr>
          <p:cNvPr id="155" name="Text 20"/>
          <p:cNvSpPr/>
          <p:nvPr/>
        </p:nvSpPr>
        <p:spPr>
          <a:xfrm>
            <a:off x="4663440" y="3968640"/>
            <a:ext cx="621720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5C5148"/>
                </a:solidFill>
                <a:effectLst/>
                <a:uFillTx/>
                <a:latin typeface="Calibri"/>
                <a:ea typeface="Calibri"/>
              </a:rPr>
              <a:t>How change reaches production safely</a:t>
            </a:r>
            <a:endParaRPr lang="en-US" sz="1350" b="0" u="none" strike="noStrike">
              <a:solidFill>
                <a:srgbClr val="000000"/>
              </a:solidFill>
              <a:effectLst/>
              <a:uFillTx/>
              <a:latin typeface="Arial"/>
            </a:endParaRPr>
          </a:p>
        </p:txBody>
      </p:sp>
      <p:sp>
        <p:nvSpPr>
          <p:cNvPr id="156" name="Shape 21"/>
          <p:cNvSpPr/>
          <p:nvPr/>
        </p:nvSpPr>
        <p:spPr>
          <a:xfrm>
            <a:off x="640080" y="4590360"/>
            <a:ext cx="10880640" cy="749160"/>
          </a:xfrm>
          <a:prstGeom prst="roundRect">
            <a:avLst>
              <a:gd name="adj" fmla="val 1097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7" name="Shape 22"/>
          <p:cNvSpPr/>
          <p:nvPr/>
        </p:nvSpPr>
        <p:spPr>
          <a:xfrm>
            <a:off x="914400" y="477324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8" name="Text 23"/>
          <p:cNvSpPr/>
          <p:nvPr/>
        </p:nvSpPr>
        <p:spPr>
          <a:xfrm>
            <a:off x="914400" y="477324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000000"/>
              </a:solidFill>
              <a:effectLst/>
              <a:uFillTx/>
              <a:latin typeface="Arial"/>
            </a:endParaRPr>
          </a:p>
        </p:txBody>
      </p:sp>
      <p:sp>
        <p:nvSpPr>
          <p:cNvPr id="159" name="Text 24"/>
          <p:cNvSpPr/>
          <p:nvPr/>
        </p:nvSpPr>
        <p:spPr>
          <a:xfrm>
            <a:off x="1481400" y="4709160"/>
            <a:ext cx="21024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85042"/>
                </a:solidFill>
                <a:effectLst/>
                <a:uFillTx/>
                <a:latin typeface="Calibri"/>
                <a:ea typeface="Calibri"/>
              </a:rPr>
              <a:t>Security</a:t>
            </a:r>
            <a:endParaRPr lang="en-US" sz="1500" b="0" u="none" strike="noStrike">
              <a:solidFill>
                <a:srgbClr val="000000"/>
              </a:solidFill>
              <a:effectLst/>
              <a:uFillTx/>
              <a:latin typeface="Arial"/>
            </a:endParaRPr>
          </a:p>
        </p:txBody>
      </p:sp>
      <p:sp>
        <p:nvSpPr>
          <p:cNvPr id="160" name="Text 25"/>
          <p:cNvSpPr/>
          <p:nvPr/>
        </p:nvSpPr>
        <p:spPr>
          <a:xfrm>
            <a:off x="1481400" y="4992480"/>
            <a:ext cx="292536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8C8078"/>
                </a:solidFill>
                <a:effectLst/>
                <a:uFillTx/>
                <a:latin typeface="Calibri"/>
                <a:ea typeface="Calibri"/>
              </a:rPr>
              <a:t>Access, secrets, segmentation</a:t>
            </a:r>
            <a:endParaRPr lang="en-US" sz="1200" b="0" u="none" strike="noStrike">
              <a:solidFill>
                <a:srgbClr val="000000"/>
              </a:solidFill>
              <a:effectLst/>
              <a:uFillTx/>
              <a:latin typeface="Arial"/>
            </a:endParaRPr>
          </a:p>
        </p:txBody>
      </p:sp>
      <p:sp>
        <p:nvSpPr>
          <p:cNvPr id="161" name="Text 26"/>
          <p:cNvSpPr/>
          <p:nvPr/>
        </p:nvSpPr>
        <p:spPr>
          <a:xfrm>
            <a:off x="4663440" y="4827960"/>
            <a:ext cx="621720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5C5148"/>
                </a:solidFill>
                <a:effectLst/>
                <a:uFillTx/>
                <a:latin typeface="Calibri"/>
                <a:ea typeface="Calibri"/>
              </a:rPr>
              <a:t>Who can do what — and nothing more</a:t>
            </a:r>
            <a:endParaRPr lang="en-US" sz="1350" b="0" u="none" strike="noStrike">
              <a:solidFill>
                <a:srgbClr val="000000"/>
              </a:solidFill>
              <a:effectLst/>
              <a:uFillTx/>
              <a:latin typeface="Arial"/>
            </a:endParaRPr>
          </a:p>
        </p:txBody>
      </p:sp>
      <p:sp>
        <p:nvSpPr>
          <p:cNvPr id="162" name="Shape 27"/>
          <p:cNvSpPr/>
          <p:nvPr/>
        </p:nvSpPr>
        <p:spPr>
          <a:xfrm>
            <a:off x="640080" y="5449680"/>
            <a:ext cx="10880640" cy="749160"/>
          </a:xfrm>
          <a:prstGeom prst="roundRect">
            <a:avLst>
              <a:gd name="adj" fmla="val 1097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3" name="Shape 28"/>
          <p:cNvSpPr/>
          <p:nvPr/>
        </p:nvSpPr>
        <p:spPr>
          <a:xfrm>
            <a:off x="914400" y="563256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4" name="Text 29"/>
          <p:cNvSpPr/>
          <p:nvPr/>
        </p:nvSpPr>
        <p:spPr>
          <a:xfrm>
            <a:off x="914400" y="56325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5</a:t>
            </a:r>
            <a:endParaRPr lang="en-US" sz="1300" b="0" u="none" strike="noStrike">
              <a:solidFill>
                <a:srgbClr val="000000"/>
              </a:solidFill>
              <a:effectLst/>
              <a:uFillTx/>
              <a:latin typeface="Arial"/>
            </a:endParaRPr>
          </a:p>
        </p:txBody>
      </p:sp>
      <p:sp>
        <p:nvSpPr>
          <p:cNvPr id="165" name="Text 30"/>
          <p:cNvSpPr/>
          <p:nvPr/>
        </p:nvSpPr>
        <p:spPr>
          <a:xfrm>
            <a:off x="1481400" y="5568840"/>
            <a:ext cx="21024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85042"/>
                </a:solidFill>
                <a:effectLst/>
                <a:uFillTx/>
                <a:latin typeface="Calibri"/>
                <a:ea typeface="Calibri"/>
              </a:rPr>
              <a:t>Operations</a:t>
            </a:r>
            <a:endParaRPr lang="en-US" sz="1500" b="0" u="none" strike="noStrike">
              <a:solidFill>
                <a:srgbClr val="000000"/>
              </a:solidFill>
              <a:effectLst/>
              <a:uFillTx/>
              <a:latin typeface="Arial"/>
            </a:endParaRPr>
          </a:p>
        </p:txBody>
      </p:sp>
      <p:sp>
        <p:nvSpPr>
          <p:cNvPr id="166" name="Text 31"/>
          <p:cNvSpPr/>
          <p:nvPr/>
        </p:nvSpPr>
        <p:spPr>
          <a:xfrm>
            <a:off x="1481400" y="5852160"/>
            <a:ext cx="292536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8C8078"/>
                </a:solidFill>
                <a:effectLst/>
                <a:uFillTx/>
                <a:latin typeface="Calibri"/>
                <a:ea typeface="Calibri"/>
              </a:rPr>
              <a:t>Monitoring and recovery</a:t>
            </a:r>
            <a:endParaRPr lang="en-US" sz="1200" b="0" u="none" strike="noStrike">
              <a:solidFill>
                <a:srgbClr val="000000"/>
              </a:solidFill>
              <a:effectLst/>
              <a:uFillTx/>
              <a:latin typeface="Arial"/>
            </a:endParaRPr>
          </a:p>
        </p:txBody>
      </p:sp>
      <p:sp>
        <p:nvSpPr>
          <p:cNvPr id="167" name="Text 32"/>
          <p:cNvSpPr/>
          <p:nvPr/>
        </p:nvSpPr>
        <p:spPr>
          <a:xfrm>
            <a:off x="4663440" y="5687640"/>
            <a:ext cx="621720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5C5148"/>
                </a:solidFill>
                <a:effectLst/>
                <a:uFillTx/>
                <a:latin typeface="Calibri"/>
                <a:ea typeface="Calibri"/>
              </a:rPr>
              <a:t>Knowing it works, and getting it back</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168"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FOUNDATION · CONCEPT</a:t>
            </a:r>
            <a:endParaRPr lang="en-US" sz="1400" b="0" u="none" strike="noStrike">
              <a:solidFill>
                <a:srgbClr val="000000"/>
              </a:solidFill>
              <a:effectLst/>
              <a:uFillTx/>
              <a:latin typeface="Arial"/>
            </a:endParaRPr>
          </a:p>
        </p:txBody>
      </p:sp>
      <p:sp>
        <p:nvSpPr>
          <p:cNvPr id="169"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Infrastructure should be code, not clicks</a:t>
            </a:r>
            <a:endParaRPr lang="en-US" sz="3400" b="0" u="none" strike="noStrike">
              <a:solidFill>
                <a:srgbClr val="000000"/>
              </a:solidFill>
              <a:effectLst/>
              <a:uFillTx/>
              <a:latin typeface="Arial"/>
            </a:endParaRPr>
          </a:p>
        </p:txBody>
      </p:sp>
      <p:sp>
        <p:nvSpPr>
          <p:cNvPr id="170" name="Shape 2"/>
          <p:cNvSpPr/>
          <p:nvPr/>
        </p:nvSpPr>
        <p:spPr>
          <a:xfrm>
            <a:off x="640080" y="1572840"/>
            <a:ext cx="5348520" cy="2102400"/>
          </a:xfrm>
          <a:prstGeom prst="roundRect">
            <a:avLst>
              <a:gd name="adj" fmla="val 3913"/>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1" name="Text 3"/>
          <p:cNvSpPr/>
          <p:nvPr/>
        </p:nvSpPr>
        <p:spPr>
          <a:xfrm>
            <a:off x="960120" y="1783080"/>
            <a:ext cx="36568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B2420"/>
                </a:solidFill>
                <a:effectLst/>
                <a:uFillTx/>
                <a:latin typeface="Calibri"/>
                <a:ea typeface="Calibri"/>
              </a:rPr>
              <a:t>Built by hand</a:t>
            </a:r>
            <a:endParaRPr lang="en-US" sz="1700" b="0" u="none" strike="noStrike">
              <a:solidFill>
                <a:srgbClr val="000000"/>
              </a:solidFill>
              <a:effectLst/>
              <a:uFillTx/>
              <a:latin typeface="Arial"/>
            </a:endParaRPr>
          </a:p>
        </p:txBody>
      </p:sp>
      <p:sp>
        <p:nvSpPr>
          <p:cNvPr id="172" name="Text 4"/>
          <p:cNvSpPr/>
          <p:nvPr/>
        </p:nvSpPr>
        <p:spPr>
          <a:xfrm>
            <a:off x="960120" y="2194560"/>
            <a:ext cx="4708440" cy="132516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601"/>
              </a:spcAft>
              <a:buClr>
                <a:srgbClr val="5C5148"/>
              </a:buClr>
              <a:buFont typeface="Symbol" charset="2"/>
              <a:buChar char=""/>
            </a:pPr>
            <a:r>
              <a:rPr lang="en-US" sz="1350" b="1" u="none" strike="noStrike">
                <a:solidFill>
                  <a:srgbClr val="5C5148"/>
                </a:solidFill>
                <a:effectLst/>
                <a:uFillTx/>
                <a:latin typeface="Calibri"/>
                <a:ea typeface="Calibri"/>
              </a:rPr>
              <a:t>Nobody can say exactly what exists</a:t>
            </a:r>
            <a:endParaRPr lang="en-US" sz="1350" b="0" u="none" strike="noStrike">
              <a:solidFill>
                <a:srgbClr val="000000"/>
              </a:solidFill>
              <a:effectLst/>
              <a:uFillTx/>
              <a:latin typeface="Arial"/>
            </a:endParaRPr>
          </a:p>
          <a:p>
            <a:pPr marL="343080" indent="-343080" defTabSz="914400">
              <a:lnSpc>
                <a:spcPct val="100000"/>
              </a:lnSpc>
              <a:spcAft>
                <a:spcPts val="601"/>
              </a:spcAft>
              <a:buClr>
                <a:srgbClr val="5C5148"/>
              </a:buClr>
              <a:buFont typeface="Symbol" charset="2"/>
              <a:buChar char=""/>
            </a:pPr>
            <a:r>
              <a:rPr lang="en-US" sz="1350" b="1" u="none" strike="noStrike">
                <a:solidFill>
                  <a:srgbClr val="5C5148"/>
                </a:solidFill>
                <a:effectLst/>
                <a:uFillTx/>
                <a:latin typeface="Calibri"/>
                <a:ea typeface="Calibri"/>
              </a:rPr>
              <a:t>Rebuilding depends on memory</a:t>
            </a:r>
            <a:endParaRPr lang="en-US" sz="1350" b="0" u="none" strike="noStrike">
              <a:solidFill>
                <a:srgbClr val="000000"/>
              </a:solidFill>
              <a:effectLst/>
              <a:uFillTx/>
              <a:latin typeface="Arial"/>
            </a:endParaRPr>
          </a:p>
          <a:p>
            <a:pPr marL="343080" indent="-343080" defTabSz="914400">
              <a:lnSpc>
                <a:spcPct val="100000"/>
              </a:lnSpc>
              <a:spcAft>
                <a:spcPts val="601"/>
              </a:spcAft>
              <a:buClr>
                <a:srgbClr val="5C5148"/>
              </a:buClr>
              <a:buFont typeface="Symbol" charset="2"/>
              <a:buChar char=""/>
            </a:pPr>
            <a:r>
              <a:rPr lang="en-US" sz="1350" b="1" u="none" strike="noStrike">
                <a:solidFill>
                  <a:srgbClr val="5C5148"/>
                </a:solidFill>
                <a:effectLst/>
                <a:uFillTx/>
                <a:latin typeface="Calibri"/>
                <a:ea typeface="Calibri"/>
              </a:rPr>
              <a:t>Changes leave no record or review</a:t>
            </a:r>
            <a:endParaRPr lang="en-US" sz="1350" b="0" u="none" strike="noStrike">
              <a:solidFill>
                <a:srgbClr val="000000"/>
              </a:solidFill>
              <a:effectLst/>
              <a:uFillTx/>
              <a:latin typeface="Arial"/>
            </a:endParaRPr>
          </a:p>
          <a:p>
            <a:pPr marL="343080" indent="-343080" defTabSz="914400">
              <a:lnSpc>
                <a:spcPct val="100000"/>
              </a:lnSpc>
              <a:spcAft>
                <a:spcPts val="601"/>
              </a:spcAft>
              <a:buClr>
                <a:srgbClr val="5C5148"/>
              </a:buClr>
              <a:buFont typeface="Symbol" charset="2"/>
              <a:buChar char=""/>
            </a:pPr>
            <a:r>
              <a:rPr lang="en-US" sz="1350" b="1" u="none" strike="noStrike">
                <a:solidFill>
                  <a:srgbClr val="5C5148"/>
                </a:solidFill>
                <a:effectLst/>
                <a:uFillTx/>
                <a:latin typeface="Calibri"/>
                <a:ea typeface="Calibri"/>
              </a:rPr>
              <a:t>Environments drift apart silently</a:t>
            </a:r>
            <a:endParaRPr lang="en-US" sz="1350" b="0" u="none" strike="noStrike">
              <a:solidFill>
                <a:srgbClr val="000000"/>
              </a:solidFill>
              <a:effectLst/>
              <a:uFillTx/>
              <a:latin typeface="Arial"/>
            </a:endParaRPr>
          </a:p>
        </p:txBody>
      </p:sp>
      <p:sp>
        <p:nvSpPr>
          <p:cNvPr id="173" name="Shape 5"/>
          <p:cNvSpPr/>
          <p:nvPr/>
        </p:nvSpPr>
        <p:spPr>
          <a:xfrm>
            <a:off x="6263640" y="1572840"/>
            <a:ext cx="5257080" cy="2102400"/>
          </a:xfrm>
          <a:prstGeom prst="roundRect">
            <a:avLst>
              <a:gd name="adj" fmla="val 3913"/>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4" name="Text 6"/>
          <p:cNvSpPr/>
          <p:nvPr/>
        </p:nvSpPr>
        <p:spPr>
          <a:xfrm>
            <a:off x="6583680" y="1783080"/>
            <a:ext cx="36568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B85042"/>
                </a:solidFill>
                <a:effectLst/>
                <a:uFillTx/>
                <a:latin typeface="Calibri"/>
                <a:ea typeface="Calibri"/>
              </a:rPr>
              <a:t>Defined as code</a:t>
            </a:r>
            <a:endParaRPr lang="en-US" sz="1700" b="0" u="none" strike="noStrike">
              <a:solidFill>
                <a:srgbClr val="000000"/>
              </a:solidFill>
              <a:effectLst/>
              <a:uFillTx/>
              <a:latin typeface="Arial"/>
            </a:endParaRPr>
          </a:p>
        </p:txBody>
      </p:sp>
      <p:sp>
        <p:nvSpPr>
          <p:cNvPr id="175" name="Text 7"/>
          <p:cNvSpPr/>
          <p:nvPr/>
        </p:nvSpPr>
        <p:spPr>
          <a:xfrm>
            <a:off x="6583680" y="2194560"/>
            <a:ext cx="4617000" cy="132516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601"/>
              </a:spcAft>
              <a:buClr>
                <a:srgbClr val="5C5148"/>
              </a:buClr>
              <a:buFont typeface="Symbol" charset="2"/>
              <a:buChar char=""/>
            </a:pPr>
            <a:r>
              <a:rPr lang="en-US" sz="1350" b="1" u="none" strike="noStrike">
                <a:solidFill>
                  <a:srgbClr val="5C5148"/>
                </a:solidFill>
                <a:effectLst/>
                <a:uFillTx/>
                <a:latin typeface="Calibri"/>
                <a:ea typeface="Calibri"/>
              </a:rPr>
              <a:t>The repository is the inventory</a:t>
            </a:r>
            <a:endParaRPr lang="en-US" sz="1350" b="0" u="none" strike="noStrike">
              <a:solidFill>
                <a:srgbClr val="000000"/>
              </a:solidFill>
              <a:effectLst/>
              <a:uFillTx/>
              <a:latin typeface="Arial"/>
            </a:endParaRPr>
          </a:p>
          <a:p>
            <a:pPr marL="343080" indent="-343080" defTabSz="914400">
              <a:lnSpc>
                <a:spcPct val="100000"/>
              </a:lnSpc>
              <a:spcAft>
                <a:spcPts val="601"/>
              </a:spcAft>
              <a:buClr>
                <a:srgbClr val="5C5148"/>
              </a:buClr>
              <a:buFont typeface="Symbol" charset="2"/>
              <a:buChar char=""/>
            </a:pPr>
            <a:r>
              <a:rPr lang="en-US" sz="1350" b="1" u="none" strike="noStrike">
                <a:solidFill>
                  <a:srgbClr val="5C5148"/>
                </a:solidFill>
                <a:effectLst/>
                <a:uFillTx/>
                <a:latin typeface="Calibri"/>
                <a:ea typeface="Calibri"/>
              </a:rPr>
              <a:t>A destroyed environment rebuilds from a command</a:t>
            </a:r>
            <a:endParaRPr lang="en-US" sz="1350" b="0" u="none" strike="noStrike">
              <a:solidFill>
                <a:srgbClr val="000000"/>
              </a:solidFill>
              <a:effectLst/>
              <a:uFillTx/>
              <a:latin typeface="Arial"/>
            </a:endParaRPr>
          </a:p>
          <a:p>
            <a:pPr marL="343080" indent="-343080" defTabSz="914400">
              <a:lnSpc>
                <a:spcPct val="100000"/>
              </a:lnSpc>
              <a:spcAft>
                <a:spcPts val="601"/>
              </a:spcAft>
              <a:buClr>
                <a:srgbClr val="5C5148"/>
              </a:buClr>
              <a:buFont typeface="Symbol" charset="2"/>
              <a:buChar char=""/>
            </a:pPr>
            <a:r>
              <a:rPr lang="en-US" sz="1350" b="1" u="none" strike="noStrike">
                <a:solidFill>
                  <a:srgbClr val="5C5148"/>
                </a:solidFill>
                <a:effectLst/>
                <a:uFillTx/>
                <a:latin typeface="Calibri"/>
                <a:ea typeface="Calibri"/>
              </a:rPr>
              <a:t>Every change is reviewed and versioned</a:t>
            </a:r>
            <a:endParaRPr lang="en-US" sz="1350" b="0" u="none" strike="noStrike">
              <a:solidFill>
                <a:srgbClr val="000000"/>
              </a:solidFill>
              <a:effectLst/>
              <a:uFillTx/>
              <a:latin typeface="Arial"/>
            </a:endParaRPr>
          </a:p>
          <a:p>
            <a:pPr marL="343080" indent="-343080" defTabSz="914400">
              <a:lnSpc>
                <a:spcPct val="100000"/>
              </a:lnSpc>
              <a:spcAft>
                <a:spcPts val="601"/>
              </a:spcAft>
              <a:buClr>
                <a:srgbClr val="5C5148"/>
              </a:buClr>
              <a:buFont typeface="Symbol" charset="2"/>
              <a:buChar char=""/>
            </a:pPr>
            <a:r>
              <a:rPr lang="en-US" sz="1350" b="1" u="none" strike="noStrike">
                <a:solidFill>
                  <a:srgbClr val="5C5148"/>
                </a:solidFill>
                <a:effectLst/>
                <a:uFillTx/>
                <a:latin typeface="Calibri"/>
                <a:ea typeface="Calibri"/>
              </a:rPr>
              <a:t>Drift is detectable, not discovered</a:t>
            </a:r>
            <a:endParaRPr lang="en-US" sz="1350" b="0" u="none" strike="noStrike">
              <a:solidFill>
                <a:srgbClr val="000000"/>
              </a:solidFill>
              <a:effectLst/>
              <a:uFillTx/>
              <a:latin typeface="Arial"/>
            </a:endParaRPr>
          </a:p>
        </p:txBody>
      </p:sp>
      <p:sp>
        <p:nvSpPr>
          <p:cNvPr id="176" name="Shape 8"/>
          <p:cNvSpPr/>
          <p:nvPr/>
        </p:nvSpPr>
        <p:spPr>
          <a:xfrm>
            <a:off x="640080" y="3931920"/>
            <a:ext cx="10880640" cy="1599480"/>
          </a:xfrm>
          <a:prstGeom prst="roundRect">
            <a:avLst>
              <a:gd name="adj" fmla="val 5143"/>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7" name="Text 9"/>
          <p:cNvSpPr/>
          <p:nvPr/>
        </p:nvSpPr>
        <p:spPr>
          <a:xfrm>
            <a:off x="960120" y="4114800"/>
            <a:ext cx="365688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2420"/>
                </a:solidFill>
                <a:effectLst/>
                <a:uFillTx/>
                <a:latin typeface="Calibri"/>
                <a:ea typeface="Calibri"/>
              </a:rPr>
              <a:t>In this project</a:t>
            </a:r>
            <a:endParaRPr lang="en-US" sz="1500" b="0" u="none" strike="noStrike">
              <a:solidFill>
                <a:srgbClr val="000000"/>
              </a:solidFill>
              <a:effectLst/>
              <a:uFillTx/>
              <a:latin typeface="Arial"/>
            </a:endParaRPr>
          </a:p>
        </p:txBody>
      </p:sp>
      <p:sp>
        <p:nvSpPr>
          <p:cNvPr id="178" name="Text 10"/>
          <p:cNvSpPr/>
          <p:nvPr/>
        </p:nvSpPr>
        <p:spPr>
          <a:xfrm>
            <a:off x="960120" y="4443840"/>
            <a:ext cx="10240560" cy="913680"/>
          </a:xfrm>
          <a:prstGeom prst="rect">
            <a:avLst/>
          </a:prstGeom>
          <a:noFill/>
          <a:ln w="0">
            <a:noFill/>
          </a:ln>
        </p:spPr>
        <p:style>
          <a:lnRef idx="0"/>
          <a:fillRef idx="0"/>
          <a:effectRef idx="0"/>
          <a:fontRef idx="minor"/>
        </p:style>
        <p:txBody>
          <a:bodyPr lIns="0" tIns="0" rIns="0" bIns="0" anchor="ctr">
            <a:noAutofit/>
          </a:bodyPr>
          <a:p>
            <a:pPr defTabSz="914400">
              <a:lnSpc>
                <a:spcPts val="2001"/>
              </a:lnSpc>
              <a:tabLst>
                <a:tab pos="0" algn="l"/>
              </a:tabLst>
            </a:pPr>
            <a:r>
              <a:rPr lang="en-US" sz="1350" b="1" u="none" strike="noStrike">
                <a:solidFill>
                  <a:srgbClr val="5C5148"/>
                </a:solidFill>
                <a:effectLst/>
                <a:uFillTx/>
                <a:latin typeface="Calibri"/>
                <a:ea typeface="Calibri"/>
              </a:rPr>
              <a:t>Terraform describes the network, the cluster, the registry, the build server, the storage and every permission. Shared state lives in object storage with locking, so two engineers cannot apply at once. The environment in this presentation was destroyed after the demonstration — and would rebuild from the same code.</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179"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FOUNDATION · ARCHITECTURE</a:t>
            </a:r>
            <a:endParaRPr lang="en-US" sz="1400" b="0" u="none" strike="noStrike">
              <a:solidFill>
                <a:srgbClr val="000000"/>
              </a:solidFill>
              <a:effectLst/>
              <a:uFillTx/>
              <a:latin typeface="Arial"/>
            </a:endParaRPr>
          </a:p>
        </p:txBody>
      </p:sp>
      <p:sp>
        <p:nvSpPr>
          <p:cNvPr id="180"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A network designed to survive losing a datacentre</a:t>
            </a:r>
            <a:endParaRPr lang="en-US" sz="3400" b="0" u="none" strike="noStrike">
              <a:solidFill>
                <a:srgbClr val="000000"/>
              </a:solidFill>
              <a:effectLst/>
              <a:uFillTx/>
              <a:latin typeface="Arial"/>
            </a:endParaRPr>
          </a:p>
        </p:txBody>
      </p:sp>
      <p:sp>
        <p:nvSpPr>
          <p:cNvPr id="181" name="Shape 2"/>
          <p:cNvSpPr/>
          <p:nvPr/>
        </p:nvSpPr>
        <p:spPr>
          <a:xfrm>
            <a:off x="640080" y="1572840"/>
            <a:ext cx="3492360" cy="3062520"/>
          </a:xfrm>
          <a:prstGeom prst="roundRect">
            <a:avLst>
              <a:gd name="adj" fmla="val 2687"/>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2" name="Text 3"/>
          <p:cNvSpPr/>
          <p:nvPr/>
        </p:nvSpPr>
        <p:spPr>
          <a:xfrm>
            <a:off x="868680" y="1719000"/>
            <a:ext cx="1828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2B2420"/>
                </a:solidFill>
                <a:effectLst/>
                <a:uFillTx/>
                <a:latin typeface="Calibri"/>
                <a:ea typeface="Calibri"/>
              </a:rPr>
              <a:t>Zone A</a:t>
            </a:r>
            <a:endParaRPr lang="en-US" sz="1400" b="0" u="none" strike="noStrike">
              <a:solidFill>
                <a:srgbClr val="000000"/>
              </a:solidFill>
              <a:effectLst/>
              <a:uFillTx/>
              <a:latin typeface="Arial"/>
            </a:endParaRPr>
          </a:p>
        </p:txBody>
      </p:sp>
      <p:sp>
        <p:nvSpPr>
          <p:cNvPr id="183" name="Shape 4"/>
          <p:cNvSpPr/>
          <p:nvPr/>
        </p:nvSpPr>
        <p:spPr>
          <a:xfrm>
            <a:off x="868680" y="2103120"/>
            <a:ext cx="3035160" cy="959400"/>
          </a:xfrm>
          <a:prstGeom prst="roundRect">
            <a:avLst>
              <a:gd name="adj" fmla="val 8571"/>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4" name="Text 5"/>
          <p:cNvSpPr/>
          <p:nvPr/>
        </p:nvSpPr>
        <p:spPr>
          <a:xfrm>
            <a:off x="1024200" y="2212920"/>
            <a:ext cx="1828080" cy="23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B85042"/>
                </a:solidFill>
                <a:effectLst/>
                <a:uFillTx/>
                <a:latin typeface="Calibri"/>
                <a:ea typeface="Calibri"/>
              </a:rPr>
              <a:t>Public</a:t>
            </a:r>
            <a:endParaRPr lang="en-US" sz="1150" b="0" u="none" strike="noStrike">
              <a:solidFill>
                <a:srgbClr val="000000"/>
              </a:solidFill>
              <a:effectLst/>
              <a:uFillTx/>
              <a:latin typeface="Arial"/>
            </a:endParaRPr>
          </a:p>
        </p:txBody>
      </p:sp>
      <p:sp>
        <p:nvSpPr>
          <p:cNvPr id="185" name="Text 6"/>
          <p:cNvSpPr/>
          <p:nvPr/>
        </p:nvSpPr>
        <p:spPr>
          <a:xfrm>
            <a:off x="1024200" y="2468880"/>
            <a:ext cx="2715120" cy="50220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100" b="1" u="none" strike="noStrike">
                <a:solidFill>
                  <a:srgbClr val="5C5148"/>
                </a:solidFill>
                <a:effectLst/>
                <a:uFillTx/>
                <a:latin typeface="Calibri"/>
                <a:ea typeface="Calibri"/>
              </a:rPr>
              <a:t>Load balancer reach</a:t>
            </a:r>
            <a:endParaRPr lang="en-US" sz="1100" b="0" u="none" strike="noStrike">
              <a:solidFill>
                <a:srgbClr val="000000"/>
              </a:solidFill>
              <a:effectLst/>
              <a:uFillTx/>
              <a:latin typeface="Arial"/>
            </a:endParaRPr>
          </a:p>
          <a:p>
            <a:pPr defTabSz="914400">
              <a:lnSpc>
                <a:spcPts val="1400"/>
              </a:lnSpc>
              <a:tabLst>
                <a:tab pos="0" algn="l"/>
              </a:tabLst>
            </a:pPr>
            <a:r>
              <a:rPr lang="en-US" sz="1100" b="1" u="none" strike="noStrike">
                <a:solidFill>
                  <a:srgbClr val="5C5148"/>
                </a:solidFill>
                <a:effectLst/>
                <a:uFillTx/>
                <a:latin typeface="Calibri"/>
                <a:ea typeface="Calibri"/>
              </a:rPr>
              <a:t>Outbound gateway</a:t>
            </a:r>
            <a:endParaRPr lang="en-US" sz="1100" b="0" u="none" strike="noStrike">
              <a:solidFill>
                <a:srgbClr val="000000"/>
              </a:solidFill>
              <a:effectLst/>
              <a:uFillTx/>
              <a:latin typeface="Arial"/>
            </a:endParaRPr>
          </a:p>
        </p:txBody>
      </p:sp>
      <p:sp>
        <p:nvSpPr>
          <p:cNvPr id="186" name="Shape 7"/>
          <p:cNvSpPr/>
          <p:nvPr/>
        </p:nvSpPr>
        <p:spPr>
          <a:xfrm>
            <a:off x="868680" y="3246120"/>
            <a:ext cx="3035160" cy="1188000"/>
          </a:xfrm>
          <a:prstGeom prst="roundRect">
            <a:avLst>
              <a:gd name="adj" fmla="val 6923"/>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7" name="Text 8"/>
          <p:cNvSpPr/>
          <p:nvPr/>
        </p:nvSpPr>
        <p:spPr>
          <a:xfrm>
            <a:off x="1024200" y="3355920"/>
            <a:ext cx="1828080" cy="23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B85042"/>
                </a:solidFill>
                <a:effectLst/>
                <a:uFillTx/>
                <a:latin typeface="Calibri"/>
                <a:ea typeface="Calibri"/>
              </a:rPr>
              <a:t>Private</a:t>
            </a:r>
            <a:endParaRPr lang="en-US" sz="1150" b="0" u="none" strike="noStrike">
              <a:solidFill>
                <a:srgbClr val="000000"/>
              </a:solidFill>
              <a:effectLst/>
              <a:uFillTx/>
              <a:latin typeface="Arial"/>
            </a:endParaRPr>
          </a:p>
        </p:txBody>
      </p:sp>
      <p:sp>
        <p:nvSpPr>
          <p:cNvPr id="188" name="Text 9"/>
          <p:cNvSpPr/>
          <p:nvPr/>
        </p:nvSpPr>
        <p:spPr>
          <a:xfrm>
            <a:off x="1024200" y="3611880"/>
            <a:ext cx="2715120" cy="73080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100" b="1" u="none" strike="noStrike">
                <a:solidFill>
                  <a:srgbClr val="5C5148"/>
                </a:solidFill>
                <a:effectLst/>
                <a:uFillTx/>
                <a:latin typeface="Calibri"/>
                <a:ea typeface="Calibri"/>
              </a:rPr>
              <a:t>Cluster worker node</a:t>
            </a:r>
            <a:endParaRPr lang="en-US" sz="1100" b="0" u="none" strike="noStrike">
              <a:solidFill>
                <a:srgbClr val="000000"/>
              </a:solidFill>
              <a:effectLst/>
              <a:uFillTx/>
              <a:latin typeface="Arial"/>
            </a:endParaRPr>
          </a:p>
          <a:p>
            <a:pPr defTabSz="914400">
              <a:lnSpc>
                <a:spcPts val="1400"/>
              </a:lnSpc>
              <a:tabLst>
                <a:tab pos="0" algn="l"/>
              </a:tabLst>
            </a:pPr>
            <a:r>
              <a:rPr lang="en-US" sz="1100" b="1" u="none" strike="noStrike">
                <a:solidFill>
                  <a:srgbClr val="5C5148"/>
                </a:solidFill>
                <a:effectLst/>
                <a:uFillTx/>
                <a:latin typeface="Calibri"/>
                <a:ea typeface="Calibri"/>
              </a:rPr>
              <a:t>No public address</a:t>
            </a:r>
            <a:endParaRPr lang="en-US" sz="1100" b="0" u="none" strike="noStrike">
              <a:solidFill>
                <a:srgbClr val="000000"/>
              </a:solidFill>
              <a:effectLst/>
              <a:uFillTx/>
              <a:latin typeface="Arial"/>
            </a:endParaRPr>
          </a:p>
          <a:p>
            <a:pPr defTabSz="914400">
              <a:lnSpc>
                <a:spcPts val="1400"/>
              </a:lnSpc>
              <a:tabLst>
                <a:tab pos="0" algn="l"/>
              </a:tabLst>
            </a:pPr>
            <a:r>
              <a:rPr lang="en-US" sz="1100" b="1" u="none" strike="noStrike">
                <a:solidFill>
                  <a:srgbClr val="5C5148"/>
                </a:solidFill>
                <a:effectLst/>
                <a:uFillTx/>
                <a:latin typeface="Calibri"/>
                <a:ea typeface="Calibri"/>
              </a:rPr>
              <a:t>Outbound only</a:t>
            </a:r>
            <a:endParaRPr lang="en-US" sz="1100" b="0" u="none" strike="noStrike">
              <a:solidFill>
                <a:srgbClr val="000000"/>
              </a:solidFill>
              <a:effectLst/>
              <a:uFillTx/>
              <a:latin typeface="Arial"/>
            </a:endParaRPr>
          </a:p>
        </p:txBody>
      </p:sp>
      <p:sp>
        <p:nvSpPr>
          <p:cNvPr id="189" name="Shape 10"/>
          <p:cNvSpPr/>
          <p:nvPr/>
        </p:nvSpPr>
        <p:spPr>
          <a:xfrm>
            <a:off x="4352400" y="1572840"/>
            <a:ext cx="3492360" cy="3062520"/>
          </a:xfrm>
          <a:prstGeom prst="roundRect">
            <a:avLst>
              <a:gd name="adj" fmla="val 2687"/>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0" name="Text 11"/>
          <p:cNvSpPr/>
          <p:nvPr/>
        </p:nvSpPr>
        <p:spPr>
          <a:xfrm>
            <a:off x="4581000" y="1719000"/>
            <a:ext cx="1828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2B2420"/>
                </a:solidFill>
                <a:effectLst/>
                <a:uFillTx/>
                <a:latin typeface="Calibri"/>
                <a:ea typeface="Calibri"/>
              </a:rPr>
              <a:t>Zone B</a:t>
            </a:r>
            <a:endParaRPr lang="en-US" sz="1400" b="0" u="none" strike="noStrike">
              <a:solidFill>
                <a:srgbClr val="000000"/>
              </a:solidFill>
              <a:effectLst/>
              <a:uFillTx/>
              <a:latin typeface="Arial"/>
            </a:endParaRPr>
          </a:p>
        </p:txBody>
      </p:sp>
      <p:sp>
        <p:nvSpPr>
          <p:cNvPr id="191" name="Shape 12"/>
          <p:cNvSpPr/>
          <p:nvPr/>
        </p:nvSpPr>
        <p:spPr>
          <a:xfrm>
            <a:off x="4581000" y="2103120"/>
            <a:ext cx="3035160" cy="959400"/>
          </a:xfrm>
          <a:prstGeom prst="roundRect">
            <a:avLst>
              <a:gd name="adj" fmla="val 8571"/>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2" name="Text 13"/>
          <p:cNvSpPr/>
          <p:nvPr/>
        </p:nvSpPr>
        <p:spPr>
          <a:xfrm>
            <a:off x="4736520" y="2212920"/>
            <a:ext cx="1828080" cy="23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B85042"/>
                </a:solidFill>
                <a:effectLst/>
                <a:uFillTx/>
                <a:latin typeface="Calibri"/>
                <a:ea typeface="Calibri"/>
              </a:rPr>
              <a:t>Public</a:t>
            </a:r>
            <a:endParaRPr lang="en-US" sz="1150" b="0" u="none" strike="noStrike">
              <a:solidFill>
                <a:srgbClr val="000000"/>
              </a:solidFill>
              <a:effectLst/>
              <a:uFillTx/>
              <a:latin typeface="Arial"/>
            </a:endParaRPr>
          </a:p>
        </p:txBody>
      </p:sp>
      <p:sp>
        <p:nvSpPr>
          <p:cNvPr id="193" name="Text 14"/>
          <p:cNvSpPr/>
          <p:nvPr/>
        </p:nvSpPr>
        <p:spPr>
          <a:xfrm>
            <a:off x="4736520" y="2468880"/>
            <a:ext cx="2715120" cy="50220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100" b="1" u="none" strike="noStrike">
                <a:solidFill>
                  <a:srgbClr val="5C5148"/>
                </a:solidFill>
                <a:effectLst/>
                <a:uFillTx/>
                <a:latin typeface="Calibri"/>
                <a:ea typeface="Calibri"/>
              </a:rPr>
              <a:t>Load balancer reach</a:t>
            </a:r>
            <a:endParaRPr lang="en-US" sz="1100" b="0" u="none" strike="noStrike">
              <a:solidFill>
                <a:srgbClr val="000000"/>
              </a:solidFill>
              <a:effectLst/>
              <a:uFillTx/>
              <a:latin typeface="Arial"/>
            </a:endParaRPr>
          </a:p>
          <a:p>
            <a:pPr defTabSz="914400">
              <a:lnSpc>
                <a:spcPts val="1400"/>
              </a:lnSpc>
              <a:tabLst>
                <a:tab pos="0" algn="l"/>
              </a:tabLst>
            </a:pPr>
            <a:r>
              <a:rPr lang="en-US" sz="1100" b="1" u="none" strike="noStrike">
                <a:solidFill>
                  <a:srgbClr val="5C5148"/>
                </a:solidFill>
                <a:effectLst/>
                <a:uFillTx/>
                <a:latin typeface="Calibri"/>
                <a:ea typeface="Calibri"/>
              </a:rPr>
              <a:t>Outbound gateway</a:t>
            </a:r>
            <a:endParaRPr lang="en-US" sz="1100" b="0" u="none" strike="noStrike">
              <a:solidFill>
                <a:srgbClr val="000000"/>
              </a:solidFill>
              <a:effectLst/>
              <a:uFillTx/>
              <a:latin typeface="Arial"/>
            </a:endParaRPr>
          </a:p>
        </p:txBody>
      </p:sp>
      <p:sp>
        <p:nvSpPr>
          <p:cNvPr id="194" name="Shape 15"/>
          <p:cNvSpPr/>
          <p:nvPr/>
        </p:nvSpPr>
        <p:spPr>
          <a:xfrm>
            <a:off x="4581000" y="3246120"/>
            <a:ext cx="3035160" cy="1188000"/>
          </a:xfrm>
          <a:prstGeom prst="roundRect">
            <a:avLst>
              <a:gd name="adj" fmla="val 6923"/>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5" name="Text 16"/>
          <p:cNvSpPr/>
          <p:nvPr/>
        </p:nvSpPr>
        <p:spPr>
          <a:xfrm>
            <a:off x="4736520" y="3355920"/>
            <a:ext cx="1828080" cy="23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B85042"/>
                </a:solidFill>
                <a:effectLst/>
                <a:uFillTx/>
                <a:latin typeface="Calibri"/>
                <a:ea typeface="Calibri"/>
              </a:rPr>
              <a:t>Private</a:t>
            </a:r>
            <a:endParaRPr lang="en-US" sz="1150" b="0" u="none" strike="noStrike">
              <a:solidFill>
                <a:srgbClr val="000000"/>
              </a:solidFill>
              <a:effectLst/>
              <a:uFillTx/>
              <a:latin typeface="Arial"/>
            </a:endParaRPr>
          </a:p>
        </p:txBody>
      </p:sp>
      <p:sp>
        <p:nvSpPr>
          <p:cNvPr id="196" name="Text 17"/>
          <p:cNvSpPr/>
          <p:nvPr/>
        </p:nvSpPr>
        <p:spPr>
          <a:xfrm>
            <a:off x="4736520" y="3611880"/>
            <a:ext cx="2715120" cy="73080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100" b="1" u="none" strike="noStrike">
                <a:solidFill>
                  <a:srgbClr val="5C5148"/>
                </a:solidFill>
                <a:effectLst/>
                <a:uFillTx/>
                <a:latin typeface="Calibri"/>
                <a:ea typeface="Calibri"/>
              </a:rPr>
              <a:t>Cluster worker node</a:t>
            </a:r>
            <a:endParaRPr lang="en-US" sz="1100" b="0" u="none" strike="noStrike">
              <a:solidFill>
                <a:srgbClr val="000000"/>
              </a:solidFill>
              <a:effectLst/>
              <a:uFillTx/>
              <a:latin typeface="Arial"/>
            </a:endParaRPr>
          </a:p>
          <a:p>
            <a:pPr defTabSz="914400">
              <a:lnSpc>
                <a:spcPts val="1400"/>
              </a:lnSpc>
              <a:tabLst>
                <a:tab pos="0" algn="l"/>
              </a:tabLst>
            </a:pPr>
            <a:r>
              <a:rPr lang="en-US" sz="1100" b="1" u="none" strike="noStrike">
                <a:solidFill>
                  <a:srgbClr val="5C5148"/>
                </a:solidFill>
                <a:effectLst/>
                <a:uFillTx/>
                <a:latin typeface="Calibri"/>
                <a:ea typeface="Calibri"/>
              </a:rPr>
              <a:t>No public address</a:t>
            </a:r>
            <a:endParaRPr lang="en-US" sz="1100" b="0" u="none" strike="noStrike">
              <a:solidFill>
                <a:srgbClr val="000000"/>
              </a:solidFill>
              <a:effectLst/>
              <a:uFillTx/>
              <a:latin typeface="Arial"/>
            </a:endParaRPr>
          </a:p>
          <a:p>
            <a:pPr defTabSz="914400">
              <a:lnSpc>
                <a:spcPts val="1400"/>
              </a:lnSpc>
              <a:tabLst>
                <a:tab pos="0" algn="l"/>
              </a:tabLst>
            </a:pPr>
            <a:r>
              <a:rPr lang="en-US" sz="1100" b="1" u="none" strike="noStrike">
                <a:solidFill>
                  <a:srgbClr val="5C5148"/>
                </a:solidFill>
                <a:effectLst/>
                <a:uFillTx/>
                <a:latin typeface="Calibri"/>
                <a:ea typeface="Calibri"/>
              </a:rPr>
              <a:t>Outbound only</a:t>
            </a:r>
            <a:endParaRPr lang="en-US" sz="1100" b="0" u="none" strike="noStrike">
              <a:solidFill>
                <a:srgbClr val="000000"/>
              </a:solidFill>
              <a:effectLst/>
              <a:uFillTx/>
              <a:latin typeface="Arial"/>
            </a:endParaRPr>
          </a:p>
        </p:txBody>
      </p:sp>
      <p:sp>
        <p:nvSpPr>
          <p:cNvPr id="197" name="Shape 18"/>
          <p:cNvSpPr/>
          <p:nvPr/>
        </p:nvSpPr>
        <p:spPr>
          <a:xfrm>
            <a:off x="8065080" y="1572840"/>
            <a:ext cx="3492360" cy="3062520"/>
          </a:xfrm>
          <a:prstGeom prst="roundRect">
            <a:avLst>
              <a:gd name="adj" fmla="val 2687"/>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8" name="Text 19"/>
          <p:cNvSpPr/>
          <p:nvPr/>
        </p:nvSpPr>
        <p:spPr>
          <a:xfrm>
            <a:off x="8293680" y="1719000"/>
            <a:ext cx="1828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2B2420"/>
                </a:solidFill>
                <a:effectLst/>
                <a:uFillTx/>
                <a:latin typeface="Calibri"/>
                <a:ea typeface="Calibri"/>
              </a:rPr>
              <a:t>Zone C</a:t>
            </a:r>
            <a:endParaRPr lang="en-US" sz="1400" b="0" u="none" strike="noStrike">
              <a:solidFill>
                <a:srgbClr val="000000"/>
              </a:solidFill>
              <a:effectLst/>
              <a:uFillTx/>
              <a:latin typeface="Arial"/>
            </a:endParaRPr>
          </a:p>
        </p:txBody>
      </p:sp>
      <p:sp>
        <p:nvSpPr>
          <p:cNvPr id="199" name="Shape 20"/>
          <p:cNvSpPr/>
          <p:nvPr/>
        </p:nvSpPr>
        <p:spPr>
          <a:xfrm>
            <a:off x="8293680" y="2103120"/>
            <a:ext cx="3035160" cy="959400"/>
          </a:xfrm>
          <a:prstGeom prst="roundRect">
            <a:avLst>
              <a:gd name="adj" fmla="val 8571"/>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0" name="Text 21"/>
          <p:cNvSpPr/>
          <p:nvPr/>
        </p:nvSpPr>
        <p:spPr>
          <a:xfrm>
            <a:off x="8449200" y="2212920"/>
            <a:ext cx="1828080" cy="23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B85042"/>
                </a:solidFill>
                <a:effectLst/>
                <a:uFillTx/>
                <a:latin typeface="Calibri"/>
                <a:ea typeface="Calibri"/>
              </a:rPr>
              <a:t>Public</a:t>
            </a:r>
            <a:endParaRPr lang="en-US" sz="1150" b="0" u="none" strike="noStrike">
              <a:solidFill>
                <a:srgbClr val="000000"/>
              </a:solidFill>
              <a:effectLst/>
              <a:uFillTx/>
              <a:latin typeface="Arial"/>
            </a:endParaRPr>
          </a:p>
        </p:txBody>
      </p:sp>
      <p:sp>
        <p:nvSpPr>
          <p:cNvPr id="201" name="Text 22"/>
          <p:cNvSpPr/>
          <p:nvPr/>
        </p:nvSpPr>
        <p:spPr>
          <a:xfrm>
            <a:off x="8449200" y="2468880"/>
            <a:ext cx="2715120" cy="50220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100" b="1" u="none" strike="noStrike">
                <a:solidFill>
                  <a:srgbClr val="5C5148"/>
                </a:solidFill>
                <a:effectLst/>
                <a:uFillTx/>
                <a:latin typeface="Calibri"/>
                <a:ea typeface="Calibri"/>
              </a:rPr>
              <a:t>Load balancer reach</a:t>
            </a:r>
            <a:endParaRPr lang="en-US" sz="1100" b="0" u="none" strike="noStrike">
              <a:solidFill>
                <a:srgbClr val="000000"/>
              </a:solidFill>
              <a:effectLst/>
              <a:uFillTx/>
              <a:latin typeface="Arial"/>
            </a:endParaRPr>
          </a:p>
          <a:p>
            <a:pPr defTabSz="914400">
              <a:lnSpc>
                <a:spcPts val="1400"/>
              </a:lnSpc>
              <a:tabLst>
                <a:tab pos="0" algn="l"/>
              </a:tabLst>
            </a:pPr>
            <a:r>
              <a:rPr lang="en-US" sz="1100" b="1" u="none" strike="noStrike">
                <a:solidFill>
                  <a:srgbClr val="5C5148"/>
                </a:solidFill>
                <a:effectLst/>
                <a:uFillTx/>
                <a:latin typeface="Calibri"/>
                <a:ea typeface="Calibri"/>
              </a:rPr>
              <a:t>Outbound gateway</a:t>
            </a:r>
            <a:endParaRPr lang="en-US" sz="1100" b="0" u="none" strike="noStrike">
              <a:solidFill>
                <a:srgbClr val="000000"/>
              </a:solidFill>
              <a:effectLst/>
              <a:uFillTx/>
              <a:latin typeface="Arial"/>
            </a:endParaRPr>
          </a:p>
        </p:txBody>
      </p:sp>
      <p:sp>
        <p:nvSpPr>
          <p:cNvPr id="202" name="Shape 23"/>
          <p:cNvSpPr/>
          <p:nvPr/>
        </p:nvSpPr>
        <p:spPr>
          <a:xfrm>
            <a:off x="8293680" y="3246120"/>
            <a:ext cx="3035160" cy="1188000"/>
          </a:xfrm>
          <a:prstGeom prst="roundRect">
            <a:avLst>
              <a:gd name="adj" fmla="val 6923"/>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3" name="Text 24"/>
          <p:cNvSpPr/>
          <p:nvPr/>
        </p:nvSpPr>
        <p:spPr>
          <a:xfrm>
            <a:off x="8449200" y="3355920"/>
            <a:ext cx="1828080" cy="23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B85042"/>
                </a:solidFill>
                <a:effectLst/>
                <a:uFillTx/>
                <a:latin typeface="Calibri"/>
                <a:ea typeface="Calibri"/>
              </a:rPr>
              <a:t>Private</a:t>
            </a:r>
            <a:endParaRPr lang="en-US" sz="1150" b="0" u="none" strike="noStrike">
              <a:solidFill>
                <a:srgbClr val="000000"/>
              </a:solidFill>
              <a:effectLst/>
              <a:uFillTx/>
              <a:latin typeface="Arial"/>
            </a:endParaRPr>
          </a:p>
        </p:txBody>
      </p:sp>
      <p:sp>
        <p:nvSpPr>
          <p:cNvPr id="204" name="Text 25"/>
          <p:cNvSpPr/>
          <p:nvPr/>
        </p:nvSpPr>
        <p:spPr>
          <a:xfrm>
            <a:off x="8449200" y="3611880"/>
            <a:ext cx="2715120" cy="73080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100" b="1" u="none" strike="noStrike">
                <a:solidFill>
                  <a:srgbClr val="5C5148"/>
                </a:solidFill>
                <a:effectLst/>
                <a:uFillTx/>
                <a:latin typeface="Calibri"/>
                <a:ea typeface="Calibri"/>
              </a:rPr>
              <a:t>Cluster worker node</a:t>
            </a:r>
            <a:endParaRPr lang="en-US" sz="1100" b="0" u="none" strike="noStrike">
              <a:solidFill>
                <a:srgbClr val="000000"/>
              </a:solidFill>
              <a:effectLst/>
              <a:uFillTx/>
              <a:latin typeface="Arial"/>
            </a:endParaRPr>
          </a:p>
          <a:p>
            <a:pPr defTabSz="914400">
              <a:lnSpc>
                <a:spcPts val="1400"/>
              </a:lnSpc>
              <a:tabLst>
                <a:tab pos="0" algn="l"/>
              </a:tabLst>
            </a:pPr>
            <a:r>
              <a:rPr lang="en-US" sz="1100" b="1" u="none" strike="noStrike">
                <a:solidFill>
                  <a:srgbClr val="5C5148"/>
                </a:solidFill>
                <a:effectLst/>
                <a:uFillTx/>
                <a:latin typeface="Calibri"/>
                <a:ea typeface="Calibri"/>
              </a:rPr>
              <a:t>No public address</a:t>
            </a:r>
            <a:endParaRPr lang="en-US" sz="1100" b="0" u="none" strike="noStrike">
              <a:solidFill>
                <a:srgbClr val="000000"/>
              </a:solidFill>
              <a:effectLst/>
              <a:uFillTx/>
              <a:latin typeface="Arial"/>
            </a:endParaRPr>
          </a:p>
          <a:p>
            <a:pPr defTabSz="914400">
              <a:lnSpc>
                <a:spcPts val="1400"/>
              </a:lnSpc>
              <a:tabLst>
                <a:tab pos="0" algn="l"/>
              </a:tabLst>
            </a:pPr>
            <a:r>
              <a:rPr lang="en-US" sz="1100" b="1" u="none" strike="noStrike">
                <a:solidFill>
                  <a:srgbClr val="5C5148"/>
                </a:solidFill>
                <a:effectLst/>
                <a:uFillTx/>
                <a:latin typeface="Calibri"/>
                <a:ea typeface="Calibri"/>
              </a:rPr>
              <a:t>Outbound only</a:t>
            </a:r>
            <a:endParaRPr lang="en-US" sz="1100" b="0" u="none" strike="noStrike">
              <a:solidFill>
                <a:srgbClr val="000000"/>
              </a:solidFill>
              <a:effectLst/>
              <a:uFillTx/>
              <a:latin typeface="Arial"/>
            </a:endParaRPr>
          </a:p>
        </p:txBody>
      </p:sp>
      <p:sp>
        <p:nvSpPr>
          <p:cNvPr id="205" name="Shape 26"/>
          <p:cNvSpPr/>
          <p:nvPr/>
        </p:nvSpPr>
        <p:spPr>
          <a:xfrm>
            <a:off x="640080" y="4864680"/>
            <a:ext cx="10880640" cy="1206360"/>
          </a:xfrm>
          <a:prstGeom prst="roundRect">
            <a:avLst>
              <a:gd name="adj" fmla="val 6818"/>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6" name="Text 27"/>
          <p:cNvSpPr/>
          <p:nvPr/>
        </p:nvSpPr>
        <p:spPr>
          <a:xfrm>
            <a:off x="960120" y="5029200"/>
            <a:ext cx="45712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2B2420"/>
                </a:solidFill>
                <a:effectLst/>
                <a:uFillTx/>
                <a:latin typeface="Calibri"/>
                <a:ea typeface="Calibri"/>
              </a:rPr>
              <a:t>The decision worth defending</a:t>
            </a:r>
            <a:endParaRPr lang="en-US" sz="1400" b="0" u="none" strike="noStrike">
              <a:solidFill>
                <a:srgbClr val="000000"/>
              </a:solidFill>
              <a:effectLst/>
              <a:uFillTx/>
              <a:latin typeface="Arial"/>
            </a:endParaRPr>
          </a:p>
        </p:txBody>
      </p:sp>
      <p:sp>
        <p:nvSpPr>
          <p:cNvPr id="207" name="Text 28"/>
          <p:cNvSpPr/>
          <p:nvPr/>
        </p:nvSpPr>
        <p:spPr>
          <a:xfrm>
            <a:off x="960120" y="5321880"/>
            <a:ext cx="10240560" cy="657720"/>
          </a:xfrm>
          <a:prstGeom prst="rect">
            <a:avLst/>
          </a:prstGeom>
          <a:noFill/>
          <a:ln w="0">
            <a:noFill/>
          </a:ln>
        </p:spPr>
        <p:style>
          <a:lnRef idx="0"/>
          <a:fillRef idx="0"/>
          <a:effectRef idx="0"/>
          <a:fontRef idx="minor"/>
        </p:style>
        <p:txBody>
          <a:bodyPr lIns="0" tIns="0" rIns="0" bIns="0" anchor="ctr">
            <a:noAutofit/>
          </a:bodyPr>
          <a:p>
            <a:pPr defTabSz="914400">
              <a:lnSpc>
                <a:spcPts val="1800"/>
              </a:lnSpc>
              <a:tabLst>
                <a:tab pos="0" algn="l"/>
              </a:tabLst>
            </a:pPr>
            <a:r>
              <a:rPr lang="en-US" sz="1250" b="1" u="none" strike="noStrike">
                <a:solidFill>
                  <a:srgbClr val="5C5148"/>
                </a:solidFill>
                <a:effectLst/>
                <a:uFillTx/>
                <a:latin typeface="Calibri"/>
                <a:ea typeface="Calibri"/>
              </a:rPr>
              <a:t>Each zone has its own outbound gateway rather than sharing one. Sharing would be cheaper, but it makes every zone depend on a single one for internet access. Availability was chosen over the saving — and for a development environment the opposite choice is the right one.</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208"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21" strike="noStrike">
                <a:solidFill>
                  <a:srgbClr val="B85042"/>
                </a:solidFill>
                <a:effectLst/>
                <a:uFillTx/>
                <a:latin typeface="Calibri"/>
                <a:ea typeface="Calibri"/>
              </a:rPr>
              <a:t>FOUNDATION · CONCEPT</a:t>
            </a:r>
            <a:endParaRPr lang="en-US" sz="1100" b="0" u="none" strike="noStrike">
              <a:solidFill>
                <a:srgbClr val="000000"/>
              </a:solidFill>
              <a:effectLst/>
              <a:uFillTx/>
              <a:latin typeface="Arial"/>
            </a:endParaRPr>
          </a:p>
        </p:txBody>
      </p:sp>
      <p:sp>
        <p:nvSpPr>
          <p:cNvPr id="209"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Why an orchestrator, rather than servers</a:t>
            </a:r>
            <a:endParaRPr lang="en-US" sz="3400" b="0" u="none" strike="noStrike">
              <a:solidFill>
                <a:srgbClr val="000000"/>
              </a:solidFill>
              <a:effectLst/>
              <a:uFillTx/>
              <a:latin typeface="Arial"/>
            </a:endParaRPr>
          </a:p>
        </p:txBody>
      </p:sp>
      <p:sp>
        <p:nvSpPr>
          <p:cNvPr id="210" name="Text 2"/>
          <p:cNvSpPr/>
          <p:nvPr/>
        </p:nvSpPr>
        <p:spPr>
          <a:xfrm>
            <a:off x="640080" y="1353240"/>
            <a:ext cx="1088064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C5148"/>
                </a:solidFill>
                <a:effectLst/>
                <a:uFillTx/>
                <a:latin typeface="Calibri"/>
                <a:ea typeface="Calibri"/>
              </a:rPr>
              <a:t>Containers solve packaging. Something still has to decide where they run and what happens when they fail.</a:t>
            </a:r>
            <a:endParaRPr lang="en-US" sz="1500" b="0" u="none" strike="noStrike">
              <a:solidFill>
                <a:srgbClr val="000000"/>
              </a:solidFill>
              <a:effectLst/>
              <a:uFillTx/>
              <a:latin typeface="Arial"/>
            </a:endParaRPr>
          </a:p>
        </p:txBody>
      </p:sp>
      <p:sp>
        <p:nvSpPr>
          <p:cNvPr id="211" name="Shape 3"/>
          <p:cNvSpPr/>
          <p:nvPr/>
        </p:nvSpPr>
        <p:spPr>
          <a:xfrm>
            <a:off x="640080" y="2103120"/>
            <a:ext cx="10880640" cy="657720"/>
          </a:xfrm>
          <a:prstGeom prst="roundRect">
            <a:avLst>
              <a:gd name="adj" fmla="val 125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2" name="Text 4"/>
          <p:cNvSpPr/>
          <p:nvPr/>
        </p:nvSpPr>
        <p:spPr>
          <a:xfrm>
            <a:off x="960120" y="2286000"/>
            <a:ext cx="191952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B85042"/>
                </a:solidFill>
                <a:effectLst/>
                <a:uFillTx/>
                <a:latin typeface="Calibri"/>
                <a:ea typeface="Calibri"/>
              </a:rPr>
              <a:t>Placement</a:t>
            </a:r>
            <a:endParaRPr lang="en-US" sz="1450" b="0" u="none" strike="noStrike">
              <a:solidFill>
                <a:srgbClr val="000000"/>
              </a:solidFill>
              <a:effectLst/>
              <a:uFillTx/>
              <a:latin typeface="Arial"/>
            </a:endParaRPr>
          </a:p>
        </p:txBody>
      </p:sp>
      <p:sp>
        <p:nvSpPr>
          <p:cNvPr id="213" name="Text 5"/>
          <p:cNvSpPr/>
          <p:nvPr/>
        </p:nvSpPr>
        <p:spPr>
          <a:xfrm>
            <a:off x="3108960" y="2295000"/>
            <a:ext cx="786312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5C5148"/>
                </a:solidFill>
                <a:effectLst/>
                <a:uFillTx/>
                <a:latin typeface="Calibri"/>
                <a:ea typeface="Calibri"/>
              </a:rPr>
              <a:t>Decides which machine runs each container, and reschedules when one is lost</a:t>
            </a:r>
            <a:endParaRPr lang="en-US" sz="1300" b="0" u="none" strike="noStrike">
              <a:solidFill>
                <a:srgbClr val="000000"/>
              </a:solidFill>
              <a:effectLst/>
              <a:uFillTx/>
              <a:latin typeface="Arial"/>
            </a:endParaRPr>
          </a:p>
        </p:txBody>
      </p:sp>
      <p:sp>
        <p:nvSpPr>
          <p:cNvPr id="214" name="Shape 6"/>
          <p:cNvSpPr/>
          <p:nvPr/>
        </p:nvSpPr>
        <p:spPr>
          <a:xfrm>
            <a:off x="640080" y="2862000"/>
            <a:ext cx="10880640" cy="657720"/>
          </a:xfrm>
          <a:prstGeom prst="roundRect">
            <a:avLst>
              <a:gd name="adj" fmla="val 125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5" name="Text 7"/>
          <p:cNvSpPr/>
          <p:nvPr/>
        </p:nvSpPr>
        <p:spPr>
          <a:xfrm>
            <a:off x="960120" y="3044880"/>
            <a:ext cx="191952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B85042"/>
                </a:solidFill>
                <a:effectLst/>
                <a:uFillTx/>
                <a:latin typeface="Calibri"/>
                <a:ea typeface="Calibri"/>
              </a:rPr>
              <a:t>Healing</a:t>
            </a:r>
            <a:endParaRPr lang="en-US" sz="1450" b="0" u="none" strike="noStrike">
              <a:solidFill>
                <a:srgbClr val="000000"/>
              </a:solidFill>
              <a:effectLst/>
              <a:uFillTx/>
              <a:latin typeface="Arial"/>
            </a:endParaRPr>
          </a:p>
        </p:txBody>
      </p:sp>
      <p:sp>
        <p:nvSpPr>
          <p:cNvPr id="216" name="Text 8"/>
          <p:cNvSpPr/>
          <p:nvPr/>
        </p:nvSpPr>
        <p:spPr>
          <a:xfrm>
            <a:off x="3108960" y="3054240"/>
            <a:ext cx="786312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5C5148"/>
                </a:solidFill>
                <a:effectLst/>
                <a:uFillTx/>
                <a:latin typeface="Calibri"/>
                <a:ea typeface="Calibri"/>
              </a:rPr>
              <a:t>Restarts failed containers and replaces unhealthy ones automatically</a:t>
            </a:r>
            <a:endParaRPr lang="en-US" sz="1300" b="0" u="none" strike="noStrike">
              <a:solidFill>
                <a:srgbClr val="000000"/>
              </a:solidFill>
              <a:effectLst/>
              <a:uFillTx/>
              <a:latin typeface="Arial"/>
            </a:endParaRPr>
          </a:p>
        </p:txBody>
      </p:sp>
      <p:sp>
        <p:nvSpPr>
          <p:cNvPr id="217" name="Shape 9"/>
          <p:cNvSpPr/>
          <p:nvPr/>
        </p:nvSpPr>
        <p:spPr>
          <a:xfrm>
            <a:off x="640080" y="3620880"/>
            <a:ext cx="10880640" cy="657720"/>
          </a:xfrm>
          <a:prstGeom prst="roundRect">
            <a:avLst>
              <a:gd name="adj" fmla="val 125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8" name="Text 10"/>
          <p:cNvSpPr/>
          <p:nvPr/>
        </p:nvSpPr>
        <p:spPr>
          <a:xfrm>
            <a:off x="960120" y="3803760"/>
            <a:ext cx="191952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B85042"/>
                </a:solidFill>
                <a:effectLst/>
                <a:uFillTx/>
                <a:latin typeface="Calibri"/>
                <a:ea typeface="Calibri"/>
              </a:rPr>
              <a:t>Discovery</a:t>
            </a:r>
            <a:endParaRPr lang="en-US" sz="1450" b="0" u="none" strike="noStrike">
              <a:solidFill>
                <a:srgbClr val="000000"/>
              </a:solidFill>
              <a:effectLst/>
              <a:uFillTx/>
              <a:latin typeface="Arial"/>
            </a:endParaRPr>
          </a:p>
        </p:txBody>
      </p:sp>
      <p:sp>
        <p:nvSpPr>
          <p:cNvPr id="219" name="Text 11"/>
          <p:cNvSpPr/>
          <p:nvPr/>
        </p:nvSpPr>
        <p:spPr>
          <a:xfrm>
            <a:off x="3108960" y="3813120"/>
            <a:ext cx="786312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5C5148"/>
                </a:solidFill>
                <a:effectLst/>
                <a:uFillTx/>
                <a:latin typeface="Calibri"/>
                <a:ea typeface="Calibri"/>
              </a:rPr>
              <a:t>Gives each service a stable name, even as the containers behind it change</a:t>
            </a:r>
            <a:endParaRPr lang="en-US" sz="1300" b="0" u="none" strike="noStrike">
              <a:solidFill>
                <a:srgbClr val="000000"/>
              </a:solidFill>
              <a:effectLst/>
              <a:uFillTx/>
              <a:latin typeface="Arial"/>
            </a:endParaRPr>
          </a:p>
        </p:txBody>
      </p:sp>
      <p:sp>
        <p:nvSpPr>
          <p:cNvPr id="220" name="Shape 12"/>
          <p:cNvSpPr/>
          <p:nvPr/>
        </p:nvSpPr>
        <p:spPr>
          <a:xfrm>
            <a:off x="640080" y="4380120"/>
            <a:ext cx="10880640" cy="657720"/>
          </a:xfrm>
          <a:prstGeom prst="roundRect">
            <a:avLst>
              <a:gd name="adj" fmla="val 125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1" name="Text 13"/>
          <p:cNvSpPr/>
          <p:nvPr/>
        </p:nvSpPr>
        <p:spPr>
          <a:xfrm>
            <a:off x="960120" y="4563000"/>
            <a:ext cx="191952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B85042"/>
                </a:solidFill>
                <a:effectLst/>
                <a:uFillTx/>
                <a:latin typeface="Calibri"/>
                <a:ea typeface="Calibri"/>
              </a:rPr>
              <a:t>Rollout</a:t>
            </a:r>
            <a:endParaRPr lang="en-US" sz="1450" b="0" u="none" strike="noStrike">
              <a:solidFill>
                <a:srgbClr val="000000"/>
              </a:solidFill>
              <a:effectLst/>
              <a:uFillTx/>
              <a:latin typeface="Arial"/>
            </a:endParaRPr>
          </a:p>
        </p:txBody>
      </p:sp>
      <p:sp>
        <p:nvSpPr>
          <p:cNvPr id="222" name="Text 14"/>
          <p:cNvSpPr/>
          <p:nvPr/>
        </p:nvSpPr>
        <p:spPr>
          <a:xfrm>
            <a:off x="3108960" y="4572000"/>
            <a:ext cx="786312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5C5148"/>
                </a:solidFill>
                <a:effectLst/>
                <a:uFillTx/>
                <a:latin typeface="Calibri"/>
                <a:ea typeface="Calibri"/>
              </a:rPr>
              <a:t>Replaces versions gradually and reverses the change if health checks fail</a:t>
            </a:r>
            <a:endParaRPr lang="en-US" sz="1300" b="0" u="none" strike="noStrike">
              <a:solidFill>
                <a:srgbClr val="000000"/>
              </a:solidFill>
              <a:effectLst/>
              <a:uFillTx/>
              <a:latin typeface="Arial"/>
            </a:endParaRPr>
          </a:p>
        </p:txBody>
      </p:sp>
      <p:sp>
        <p:nvSpPr>
          <p:cNvPr id="223" name="Shape 15"/>
          <p:cNvSpPr/>
          <p:nvPr/>
        </p:nvSpPr>
        <p:spPr>
          <a:xfrm>
            <a:off x="640080" y="5139000"/>
            <a:ext cx="10880640" cy="657720"/>
          </a:xfrm>
          <a:prstGeom prst="roundRect">
            <a:avLst>
              <a:gd name="adj" fmla="val 125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4" name="Text 16"/>
          <p:cNvSpPr/>
          <p:nvPr/>
        </p:nvSpPr>
        <p:spPr>
          <a:xfrm>
            <a:off x="960120" y="5321880"/>
            <a:ext cx="191952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B85042"/>
                </a:solidFill>
                <a:effectLst/>
                <a:uFillTx/>
                <a:latin typeface="Calibri"/>
                <a:ea typeface="Calibri"/>
              </a:rPr>
              <a:t>Isolation</a:t>
            </a:r>
            <a:endParaRPr lang="en-US" sz="1450" b="0" u="none" strike="noStrike">
              <a:solidFill>
                <a:srgbClr val="000000"/>
              </a:solidFill>
              <a:effectLst/>
              <a:uFillTx/>
              <a:latin typeface="Arial"/>
            </a:endParaRPr>
          </a:p>
        </p:txBody>
      </p:sp>
      <p:sp>
        <p:nvSpPr>
          <p:cNvPr id="225" name="Text 17"/>
          <p:cNvSpPr/>
          <p:nvPr/>
        </p:nvSpPr>
        <p:spPr>
          <a:xfrm>
            <a:off x="3108960" y="5330880"/>
            <a:ext cx="786312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5C5148"/>
                </a:solidFill>
                <a:effectLst/>
                <a:uFillTx/>
                <a:latin typeface="Calibri"/>
                <a:ea typeface="Calibri"/>
              </a:rPr>
              <a:t>Separates workloads by namespace, identity and network policy</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226"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21" strike="noStrike">
                <a:solidFill>
                  <a:srgbClr val="B85042"/>
                </a:solidFill>
                <a:effectLst/>
                <a:uFillTx/>
                <a:latin typeface="Calibri"/>
                <a:ea typeface="Calibri"/>
              </a:rPr>
              <a:t>APPLICATION · ARCHITECTURE</a:t>
            </a:r>
            <a:endParaRPr lang="en-US" sz="1100" b="0" u="none" strike="noStrike">
              <a:solidFill>
                <a:srgbClr val="000000"/>
              </a:solidFill>
              <a:effectLst/>
              <a:uFillTx/>
              <a:latin typeface="Arial"/>
            </a:endParaRPr>
          </a:p>
        </p:txBody>
      </p:sp>
      <p:sp>
        <p:nvSpPr>
          <p:cNvPr id="227"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How a single request is served</a:t>
            </a:r>
            <a:endParaRPr lang="en-US" sz="3400" b="0" u="none" strike="noStrike">
              <a:solidFill>
                <a:srgbClr val="000000"/>
              </a:solidFill>
              <a:effectLst/>
              <a:uFillTx/>
              <a:latin typeface="Arial"/>
            </a:endParaRPr>
          </a:p>
        </p:txBody>
      </p:sp>
      <p:sp>
        <p:nvSpPr>
          <p:cNvPr id="228" name="Shape 2"/>
          <p:cNvSpPr/>
          <p:nvPr/>
        </p:nvSpPr>
        <p:spPr>
          <a:xfrm>
            <a:off x="640080" y="1691640"/>
            <a:ext cx="2376720" cy="1050840"/>
          </a:xfrm>
          <a:prstGeom prst="roundRect">
            <a:avLst>
              <a:gd name="adj" fmla="val 782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9" name="Text 3"/>
          <p:cNvSpPr/>
          <p:nvPr/>
        </p:nvSpPr>
        <p:spPr>
          <a:xfrm>
            <a:off x="749880" y="1874520"/>
            <a:ext cx="215712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2B2420"/>
                </a:solidFill>
                <a:effectLst/>
                <a:uFillTx/>
                <a:latin typeface="Calibri"/>
                <a:ea typeface="Calibri"/>
              </a:rPr>
              <a:t>User</a:t>
            </a:r>
            <a:endParaRPr lang="en-US" sz="1400" b="0" u="none" strike="noStrike">
              <a:solidFill>
                <a:srgbClr val="000000"/>
              </a:solidFill>
              <a:effectLst/>
              <a:uFillTx/>
              <a:latin typeface="Arial"/>
            </a:endParaRPr>
          </a:p>
        </p:txBody>
      </p:sp>
      <p:sp>
        <p:nvSpPr>
          <p:cNvPr id="230" name="Text 4"/>
          <p:cNvSpPr/>
          <p:nvPr/>
        </p:nvSpPr>
        <p:spPr>
          <a:xfrm>
            <a:off x="749880" y="2176200"/>
            <a:ext cx="2157120" cy="410760"/>
          </a:xfrm>
          <a:prstGeom prst="rect">
            <a:avLst/>
          </a:prstGeom>
          <a:noFill/>
          <a:ln w="0">
            <a:noFill/>
          </a:ln>
        </p:spPr>
        <p:style>
          <a:lnRef idx="0"/>
          <a:fillRef idx="0"/>
          <a:effectRef idx="0"/>
          <a:fontRef idx="minor"/>
        </p:style>
        <p:txBody>
          <a:bodyPr lIns="0" tIns="0" rIns="0" bIns="0" anchor="ctr">
            <a:noAutofit/>
          </a:bodyPr>
          <a:p>
            <a:pPr algn="ctr" defTabSz="914400">
              <a:lnSpc>
                <a:spcPts val="1400"/>
              </a:lnSpc>
              <a:tabLst>
                <a:tab pos="0" algn="l"/>
              </a:tabLst>
            </a:pPr>
            <a:r>
              <a:rPr lang="en-US" sz="1100" b="1" u="none" strike="noStrike">
                <a:solidFill>
                  <a:srgbClr val="5C5148"/>
                </a:solidFill>
                <a:effectLst/>
                <a:uFillTx/>
                <a:latin typeface="Calibri"/>
                <a:ea typeface="Calibri"/>
              </a:rPr>
              <a:t>Browser request</a:t>
            </a:r>
            <a:endParaRPr lang="en-US" sz="1100" b="0" u="none" strike="noStrike">
              <a:solidFill>
                <a:srgbClr val="000000"/>
              </a:solidFill>
              <a:effectLst/>
              <a:uFillTx/>
              <a:latin typeface="Arial"/>
            </a:endParaRPr>
          </a:p>
        </p:txBody>
      </p:sp>
      <p:sp>
        <p:nvSpPr>
          <p:cNvPr id="231" name="Shape 5"/>
          <p:cNvSpPr/>
          <p:nvPr/>
        </p:nvSpPr>
        <p:spPr>
          <a:xfrm>
            <a:off x="3072240" y="2212560"/>
            <a:ext cx="347400" cy="360"/>
          </a:xfrm>
          <a:prstGeom prst="line">
            <a:avLst/>
          </a:prstGeom>
          <a:ln w="19050">
            <a:solidFill>
              <a:srgbClr val="8C8078"/>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32" name="Shape 6"/>
          <p:cNvSpPr/>
          <p:nvPr/>
        </p:nvSpPr>
        <p:spPr>
          <a:xfrm>
            <a:off x="3474720" y="1691640"/>
            <a:ext cx="2376720" cy="1050840"/>
          </a:xfrm>
          <a:prstGeom prst="roundRect">
            <a:avLst>
              <a:gd name="adj" fmla="val 782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3" name="Text 7"/>
          <p:cNvSpPr/>
          <p:nvPr/>
        </p:nvSpPr>
        <p:spPr>
          <a:xfrm>
            <a:off x="3584520" y="1874520"/>
            <a:ext cx="215712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2B2420"/>
                </a:solidFill>
                <a:effectLst/>
                <a:uFillTx/>
                <a:latin typeface="Calibri"/>
                <a:ea typeface="Calibri"/>
              </a:rPr>
              <a:t>Load balancer</a:t>
            </a:r>
            <a:endParaRPr lang="en-US" sz="1400" b="0" u="none" strike="noStrike">
              <a:solidFill>
                <a:srgbClr val="000000"/>
              </a:solidFill>
              <a:effectLst/>
              <a:uFillTx/>
              <a:latin typeface="Arial"/>
            </a:endParaRPr>
          </a:p>
        </p:txBody>
      </p:sp>
      <p:sp>
        <p:nvSpPr>
          <p:cNvPr id="234" name="Text 8"/>
          <p:cNvSpPr/>
          <p:nvPr/>
        </p:nvSpPr>
        <p:spPr>
          <a:xfrm>
            <a:off x="3584520" y="2176200"/>
            <a:ext cx="2157120" cy="410760"/>
          </a:xfrm>
          <a:prstGeom prst="rect">
            <a:avLst/>
          </a:prstGeom>
          <a:noFill/>
          <a:ln w="0">
            <a:noFill/>
          </a:ln>
        </p:spPr>
        <p:style>
          <a:lnRef idx="0"/>
          <a:fillRef idx="0"/>
          <a:effectRef idx="0"/>
          <a:fontRef idx="minor"/>
        </p:style>
        <p:txBody>
          <a:bodyPr lIns="0" tIns="0" rIns="0" bIns="0" anchor="ctr">
            <a:noAutofit/>
          </a:bodyPr>
          <a:p>
            <a:pPr algn="ctr" defTabSz="914400">
              <a:lnSpc>
                <a:spcPts val="1400"/>
              </a:lnSpc>
              <a:tabLst>
                <a:tab pos="0" algn="l"/>
              </a:tabLst>
            </a:pPr>
            <a:r>
              <a:rPr lang="en-US" sz="1100" b="1" u="none" strike="noStrike">
                <a:solidFill>
                  <a:srgbClr val="5C5148"/>
                </a:solidFill>
                <a:effectLst/>
                <a:uFillTx/>
                <a:latin typeface="Calibri"/>
                <a:ea typeface="Calibri"/>
              </a:rPr>
              <a:t>Routes into the cluster</a:t>
            </a:r>
            <a:endParaRPr lang="en-US" sz="1100" b="0" u="none" strike="noStrike">
              <a:solidFill>
                <a:srgbClr val="000000"/>
              </a:solidFill>
              <a:effectLst/>
              <a:uFillTx/>
              <a:latin typeface="Arial"/>
            </a:endParaRPr>
          </a:p>
        </p:txBody>
      </p:sp>
      <p:sp>
        <p:nvSpPr>
          <p:cNvPr id="235" name="Shape 9"/>
          <p:cNvSpPr/>
          <p:nvPr/>
        </p:nvSpPr>
        <p:spPr>
          <a:xfrm>
            <a:off x="5906880" y="2212560"/>
            <a:ext cx="347400" cy="360"/>
          </a:xfrm>
          <a:prstGeom prst="line">
            <a:avLst/>
          </a:prstGeom>
          <a:ln w="19050">
            <a:solidFill>
              <a:srgbClr val="8C8078"/>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36" name="Shape 10"/>
          <p:cNvSpPr/>
          <p:nvPr/>
        </p:nvSpPr>
        <p:spPr>
          <a:xfrm>
            <a:off x="6309360" y="1691640"/>
            <a:ext cx="2376720" cy="1050840"/>
          </a:xfrm>
          <a:prstGeom prst="roundRect">
            <a:avLst>
              <a:gd name="adj" fmla="val 782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7" name="Text 11"/>
          <p:cNvSpPr/>
          <p:nvPr/>
        </p:nvSpPr>
        <p:spPr>
          <a:xfrm>
            <a:off x="6419160" y="1874520"/>
            <a:ext cx="215712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2B2420"/>
                </a:solidFill>
                <a:effectLst/>
                <a:uFillTx/>
                <a:latin typeface="Calibri"/>
                <a:ea typeface="Calibri"/>
              </a:rPr>
              <a:t>Web tier</a:t>
            </a:r>
            <a:endParaRPr lang="en-US" sz="1400" b="0" u="none" strike="noStrike">
              <a:solidFill>
                <a:srgbClr val="000000"/>
              </a:solidFill>
              <a:effectLst/>
              <a:uFillTx/>
              <a:latin typeface="Arial"/>
            </a:endParaRPr>
          </a:p>
        </p:txBody>
      </p:sp>
      <p:sp>
        <p:nvSpPr>
          <p:cNvPr id="238" name="Text 12"/>
          <p:cNvSpPr/>
          <p:nvPr/>
        </p:nvSpPr>
        <p:spPr>
          <a:xfrm>
            <a:off x="6419160" y="2176200"/>
            <a:ext cx="2157120" cy="410760"/>
          </a:xfrm>
          <a:prstGeom prst="rect">
            <a:avLst/>
          </a:prstGeom>
          <a:noFill/>
          <a:ln w="0">
            <a:noFill/>
          </a:ln>
        </p:spPr>
        <p:style>
          <a:lnRef idx="0"/>
          <a:fillRef idx="0"/>
          <a:effectRef idx="0"/>
          <a:fontRef idx="minor"/>
        </p:style>
        <p:txBody>
          <a:bodyPr lIns="0" tIns="0" rIns="0" bIns="0" anchor="ctr">
            <a:noAutofit/>
          </a:bodyPr>
          <a:p>
            <a:pPr algn="ctr" defTabSz="914400">
              <a:lnSpc>
                <a:spcPts val="1400"/>
              </a:lnSpc>
              <a:tabLst>
                <a:tab pos="0" algn="l"/>
              </a:tabLst>
            </a:pPr>
            <a:r>
              <a:rPr lang="en-US" sz="1100" b="1" u="none" strike="noStrike">
                <a:solidFill>
                  <a:srgbClr val="5C5148"/>
                </a:solidFill>
                <a:effectLst/>
                <a:uFillTx/>
                <a:latin typeface="Calibri"/>
                <a:ea typeface="Calibri"/>
              </a:rPr>
              <a:t>Reverse proxy · 2 copies</a:t>
            </a:r>
            <a:endParaRPr lang="en-US" sz="1100" b="0" u="none" strike="noStrike">
              <a:solidFill>
                <a:srgbClr val="000000"/>
              </a:solidFill>
              <a:effectLst/>
              <a:uFillTx/>
              <a:latin typeface="Arial"/>
            </a:endParaRPr>
          </a:p>
        </p:txBody>
      </p:sp>
      <p:sp>
        <p:nvSpPr>
          <p:cNvPr id="239" name="Shape 13"/>
          <p:cNvSpPr/>
          <p:nvPr/>
        </p:nvSpPr>
        <p:spPr>
          <a:xfrm>
            <a:off x="8741520" y="2212560"/>
            <a:ext cx="347400" cy="360"/>
          </a:xfrm>
          <a:prstGeom prst="line">
            <a:avLst/>
          </a:prstGeom>
          <a:ln w="19050">
            <a:solidFill>
              <a:srgbClr val="8C8078"/>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40" name="Shape 14"/>
          <p:cNvSpPr/>
          <p:nvPr/>
        </p:nvSpPr>
        <p:spPr>
          <a:xfrm>
            <a:off x="9144000" y="1691640"/>
            <a:ext cx="2376720" cy="1050840"/>
          </a:xfrm>
          <a:prstGeom prst="roundRect">
            <a:avLst>
              <a:gd name="adj" fmla="val 782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1" name="Text 15"/>
          <p:cNvSpPr/>
          <p:nvPr/>
        </p:nvSpPr>
        <p:spPr>
          <a:xfrm>
            <a:off x="9253800" y="1874520"/>
            <a:ext cx="215712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2B2420"/>
                </a:solidFill>
                <a:effectLst/>
                <a:uFillTx/>
                <a:latin typeface="Calibri"/>
                <a:ea typeface="Calibri"/>
              </a:rPr>
              <a:t>Application tier</a:t>
            </a:r>
            <a:endParaRPr lang="en-US" sz="1400" b="0" u="none" strike="noStrike">
              <a:solidFill>
                <a:srgbClr val="000000"/>
              </a:solidFill>
              <a:effectLst/>
              <a:uFillTx/>
              <a:latin typeface="Arial"/>
            </a:endParaRPr>
          </a:p>
        </p:txBody>
      </p:sp>
      <p:sp>
        <p:nvSpPr>
          <p:cNvPr id="242" name="Text 16"/>
          <p:cNvSpPr/>
          <p:nvPr/>
        </p:nvSpPr>
        <p:spPr>
          <a:xfrm>
            <a:off x="9253800" y="2176200"/>
            <a:ext cx="2157120" cy="410760"/>
          </a:xfrm>
          <a:prstGeom prst="rect">
            <a:avLst/>
          </a:prstGeom>
          <a:noFill/>
          <a:ln w="0">
            <a:noFill/>
          </a:ln>
        </p:spPr>
        <p:style>
          <a:lnRef idx="0"/>
          <a:fillRef idx="0"/>
          <a:effectRef idx="0"/>
          <a:fontRef idx="minor"/>
        </p:style>
        <p:txBody>
          <a:bodyPr lIns="0" tIns="0" rIns="0" bIns="0" anchor="ctr">
            <a:noAutofit/>
          </a:bodyPr>
          <a:p>
            <a:pPr algn="ctr" defTabSz="914400">
              <a:lnSpc>
                <a:spcPts val="1400"/>
              </a:lnSpc>
              <a:tabLst>
                <a:tab pos="0" algn="l"/>
              </a:tabLst>
            </a:pPr>
            <a:r>
              <a:rPr lang="en-US" sz="1100" b="1" u="none" strike="noStrike">
                <a:solidFill>
                  <a:srgbClr val="5C5148"/>
                </a:solidFill>
                <a:effectLst/>
                <a:uFillTx/>
                <a:latin typeface="Calibri"/>
                <a:ea typeface="Calibri"/>
              </a:rPr>
              <a:t>Java server · 2 copies</a:t>
            </a:r>
            <a:endParaRPr lang="en-US" sz="1100" b="0" u="none" strike="noStrike">
              <a:solidFill>
                <a:srgbClr val="000000"/>
              </a:solidFill>
              <a:effectLst/>
              <a:uFillTx/>
              <a:latin typeface="Arial"/>
            </a:endParaRPr>
          </a:p>
        </p:txBody>
      </p:sp>
      <p:sp>
        <p:nvSpPr>
          <p:cNvPr id="243" name="Shape 17"/>
          <p:cNvSpPr/>
          <p:nvPr/>
        </p:nvSpPr>
        <p:spPr>
          <a:xfrm>
            <a:off x="640080" y="3794760"/>
            <a:ext cx="349236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4" name="Text 18"/>
          <p:cNvSpPr/>
          <p:nvPr/>
        </p:nvSpPr>
        <p:spPr>
          <a:xfrm>
            <a:off x="896040" y="3977640"/>
            <a:ext cx="2980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85042"/>
                </a:solidFill>
                <a:effectLst/>
                <a:uFillTx/>
                <a:latin typeface="Calibri"/>
                <a:ea typeface="Calibri"/>
              </a:rPr>
              <a:t>Database</a:t>
            </a:r>
            <a:endParaRPr lang="en-US" sz="1400" b="0" u="none" strike="noStrike">
              <a:solidFill>
                <a:srgbClr val="000000"/>
              </a:solidFill>
              <a:effectLst/>
              <a:uFillTx/>
              <a:latin typeface="Arial"/>
            </a:endParaRPr>
          </a:p>
        </p:txBody>
      </p:sp>
      <p:sp>
        <p:nvSpPr>
          <p:cNvPr id="245" name="Text 19"/>
          <p:cNvSpPr/>
          <p:nvPr/>
        </p:nvSpPr>
        <p:spPr>
          <a:xfrm>
            <a:off x="896040" y="4279320"/>
            <a:ext cx="2980080" cy="685080"/>
          </a:xfrm>
          <a:prstGeom prst="rect">
            <a:avLst/>
          </a:prstGeom>
          <a:noFill/>
          <a:ln w="0">
            <a:noFill/>
          </a:ln>
        </p:spPr>
        <p:style>
          <a:lnRef idx="0"/>
          <a:fillRef idx="0"/>
          <a:effectRef idx="0"/>
          <a:fontRef idx="minor"/>
        </p:style>
        <p:txBody>
          <a:bodyPr lIns="0" tIns="0" rIns="0" bIns="0" anchor="ctr">
            <a:noAutofit/>
          </a:bodyPr>
          <a:p>
            <a:pPr defTabSz="914400">
              <a:lnSpc>
                <a:spcPts val="1599"/>
              </a:lnSpc>
              <a:tabLst>
                <a:tab pos="0" algn="l"/>
              </a:tabLst>
            </a:pPr>
            <a:r>
              <a:rPr lang="en-US" sz="1200" b="1" u="none" strike="noStrike">
                <a:solidFill>
                  <a:srgbClr val="5C5148"/>
                </a:solidFill>
                <a:effectLst/>
                <a:uFillTx/>
                <a:latin typeface="Calibri"/>
                <a:ea typeface="Calibri"/>
              </a:rPr>
              <a:t>Stores accounts and content</a:t>
            </a:r>
            <a:endParaRPr lang="en-US" sz="1200" b="0" u="none" strike="noStrike">
              <a:solidFill>
                <a:srgbClr val="000000"/>
              </a:solidFill>
              <a:effectLst/>
              <a:uFillTx/>
              <a:latin typeface="Arial"/>
            </a:endParaRPr>
          </a:p>
          <a:p>
            <a:pPr defTabSz="914400">
              <a:lnSpc>
                <a:spcPts val="1599"/>
              </a:lnSpc>
              <a:tabLst>
                <a:tab pos="0" algn="l"/>
              </a:tabLst>
            </a:pPr>
            <a:r>
              <a:rPr lang="en-US" sz="1200" b="1" u="none" strike="noStrike">
                <a:solidFill>
                  <a:srgbClr val="5C5148"/>
                </a:solidFill>
                <a:effectLst/>
                <a:uFillTx/>
                <a:latin typeface="Calibri"/>
                <a:ea typeface="Calibri"/>
              </a:rPr>
              <a:t>Persistent disk that survives restarts</a:t>
            </a:r>
            <a:endParaRPr lang="en-US" sz="1200" b="0" u="none" strike="noStrike">
              <a:solidFill>
                <a:srgbClr val="000000"/>
              </a:solidFill>
              <a:effectLst/>
              <a:uFillTx/>
              <a:latin typeface="Arial"/>
            </a:endParaRPr>
          </a:p>
        </p:txBody>
      </p:sp>
      <p:sp>
        <p:nvSpPr>
          <p:cNvPr id="246" name="Shape 20"/>
          <p:cNvSpPr/>
          <p:nvPr/>
        </p:nvSpPr>
        <p:spPr>
          <a:xfrm flipH="1">
            <a:off x="2386440" y="2797920"/>
            <a:ext cx="5888880" cy="941760"/>
          </a:xfrm>
          <a:prstGeom prst="line">
            <a:avLst/>
          </a:prstGeom>
          <a:ln w="19050">
            <a:solidFill>
              <a:srgbClr val="8C8078"/>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47" name="Shape 21"/>
          <p:cNvSpPr/>
          <p:nvPr/>
        </p:nvSpPr>
        <p:spPr>
          <a:xfrm>
            <a:off x="4352400" y="3794760"/>
            <a:ext cx="349236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8" name="Text 22"/>
          <p:cNvSpPr/>
          <p:nvPr/>
        </p:nvSpPr>
        <p:spPr>
          <a:xfrm>
            <a:off x="4608720" y="3977640"/>
            <a:ext cx="2980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85042"/>
                </a:solidFill>
                <a:effectLst/>
                <a:uFillTx/>
                <a:latin typeface="Calibri"/>
                <a:ea typeface="Calibri"/>
              </a:rPr>
              <a:t>Cache</a:t>
            </a:r>
            <a:endParaRPr lang="en-US" sz="1400" b="0" u="none" strike="noStrike">
              <a:solidFill>
                <a:srgbClr val="000000"/>
              </a:solidFill>
              <a:effectLst/>
              <a:uFillTx/>
              <a:latin typeface="Arial"/>
            </a:endParaRPr>
          </a:p>
        </p:txBody>
      </p:sp>
      <p:sp>
        <p:nvSpPr>
          <p:cNvPr id="249" name="Text 23"/>
          <p:cNvSpPr/>
          <p:nvPr/>
        </p:nvSpPr>
        <p:spPr>
          <a:xfrm>
            <a:off x="4608720" y="4279320"/>
            <a:ext cx="2980080" cy="685080"/>
          </a:xfrm>
          <a:prstGeom prst="rect">
            <a:avLst/>
          </a:prstGeom>
          <a:noFill/>
          <a:ln w="0">
            <a:noFill/>
          </a:ln>
        </p:spPr>
        <p:style>
          <a:lnRef idx="0"/>
          <a:fillRef idx="0"/>
          <a:effectRef idx="0"/>
          <a:fontRef idx="minor"/>
        </p:style>
        <p:txBody>
          <a:bodyPr lIns="0" tIns="0" rIns="0" bIns="0" anchor="ctr">
            <a:noAutofit/>
          </a:bodyPr>
          <a:p>
            <a:pPr defTabSz="914400">
              <a:lnSpc>
                <a:spcPts val="1599"/>
              </a:lnSpc>
              <a:tabLst>
                <a:tab pos="0" algn="l"/>
              </a:tabLst>
            </a:pPr>
            <a:r>
              <a:rPr lang="en-US" sz="1200" b="1" u="none" strike="noStrike">
                <a:solidFill>
                  <a:srgbClr val="5C5148"/>
                </a:solidFill>
                <a:effectLst/>
                <a:uFillTx/>
                <a:latin typeface="Calibri"/>
                <a:ea typeface="Calibri"/>
              </a:rPr>
              <a:t>Holds frequent lookups</a:t>
            </a:r>
            <a:endParaRPr lang="en-US" sz="1200" b="0" u="none" strike="noStrike">
              <a:solidFill>
                <a:srgbClr val="000000"/>
              </a:solidFill>
              <a:effectLst/>
              <a:uFillTx/>
              <a:latin typeface="Arial"/>
            </a:endParaRPr>
          </a:p>
          <a:p>
            <a:pPr defTabSz="914400">
              <a:lnSpc>
                <a:spcPts val="1599"/>
              </a:lnSpc>
              <a:tabLst>
                <a:tab pos="0" algn="l"/>
              </a:tabLst>
            </a:pPr>
            <a:r>
              <a:rPr lang="en-US" sz="1200" b="1" u="none" strike="noStrike">
                <a:solidFill>
                  <a:srgbClr val="5C5148"/>
                </a:solidFill>
                <a:effectLst/>
                <a:uFillTx/>
                <a:latin typeface="Calibri"/>
                <a:ea typeface="Calibri"/>
              </a:rPr>
              <a:t>Reduces database load</a:t>
            </a:r>
            <a:endParaRPr lang="en-US" sz="1200" b="0" u="none" strike="noStrike">
              <a:solidFill>
                <a:srgbClr val="000000"/>
              </a:solidFill>
              <a:effectLst/>
              <a:uFillTx/>
              <a:latin typeface="Arial"/>
            </a:endParaRPr>
          </a:p>
        </p:txBody>
      </p:sp>
      <p:sp>
        <p:nvSpPr>
          <p:cNvPr id="250" name="Shape 24"/>
          <p:cNvSpPr/>
          <p:nvPr/>
        </p:nvSpPr>
        <p:spPr>
          <a:xfrm flipH="1">
            <a:off x="6098760" y="2797920"/>
            <a:ext cx="2176560" cy="941760"/>
          </a:xfrm>
          <a:prstGeom prst="line">
            <a:avLst/>
          </a:prstGeom>
          <a:ln w="19050">
            <a:solidFill>
              <a:srgbClr val="8C8078"/>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51" name="Shape 25"/>
          <p:cNvSpPr/>
          <p:nvPr/>
        </p:nvSpPr>
        <p:spPr>
          <a:xfrm>
            <a:off x="8065080" y="3794760"/>
            <a:ext cx="349236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2" name="Text 26"/>
          <p:cNvSpPr/>
          <p:nvPr/>
        </p:nvSpPr>
        <p:spPr>
          <a:xfrm>
            <a:off x="8321040" y="3977640"/>
            <a:ext cx="2980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85042"/>
                </a:solidFill>
                <a:effectLst/>
                <a:uFillTx/>
                <a:latin typeface="Calibri"/>
                <a:ea typeface="Calibri"/>
              </a:rPr>
              <a:t>Message broker</a:t>
            </a:r>
            <a:endParaRPr lang="en-US" sz="1400" b="0" u="none" strike="noStrike">
              <a:solidFill>
                <a:srgbClr val="000000"/>
              </a:solidFill>
              <a:effectLst/>
              <a:uFillTx/>
              <a:latin typeface="Arial"/>
            </a:endParaRPr>
          </a:p>
        </p:txBody>
      </p:sp>
      <p:sp>
        <p:nvSpPr>
          <p:cNvPr id="253" name="Text 27"/>
          <p:cNvSpPr/>
          <p:nvPr/>
        </p:nvSpPr>
        <p:spPr>
          <a:xfrm>
            <a:off x="8321040" y="4279320"/>
            <a:ext cx="2980080" cy="685080"/>
          </a:xfrm>
          <a:prstGeom prst="rect">
            <a:avLst/>
          </a:prstGeom>
          <a:noFill/>
          <a:ln w="0">
            <a:noFill/>
          </a:ln>
        </p:spPr>
        <p:style>
          <a:lnRef idx="0"/>
          <a:fillRef idx="0"/>
          <a:effectRef idx="0"/>
          <a:fontRef idx="minor"/>
        </p:style>
        <p:txBody>
          <a:bodyPr lIns="0" tIns="0" rIns="0" bIns="0" anchor="ctr">
            <a:noAutofit/>
          </a:bodyPr>
          <a:p>
            <a:pPr defTabSz="914400">
              <a:lnSpc>
                <a:spcPts val="1599"/>
              </a:lnSpc>
              <a:tabLst>
                <a:tab pos="0" algn="l"/>
              </a:tabLst>
            </a:pPr>
            <a:r>
              <a:rPr lang="en-US" sz="1200" b="1" u="none" strike="noStrike">
                <a:solidFill>
                  <a:srgbClr val="5C5148"/>
                </a:solidFill>
                <a:effectLst/>
                <a:uFillTx/>
                <a:latin typeface="Calibri"/>
                <a:ea typeface="Calibri"/>
              </a:rPr>
              <a:t>Queues background work</a:t>
            </a:r>
            <a:endParaRPr lang="en-US" sz="1200" b="0" u="none" strike="noStrike">
              <a:solidFill>
                <a:srgbClr val="000000"/>
              </a:solidFill>
              <a:effectLst/>
              <a:uFillTx/>
              <a:latin typeface="Arial"/>
            </a:endParaRPr>
          </a:p>
          <a:p>
            <a:pPr defTabSz="914400">
              <a:lnSpc>
                <a:spcPts val="1599"/>
              </a:lnSpc>
              <a:tabLst>
                <a:tab pos="0" algn="l"/>
              </a:tabLst>
            </a:pPr>
            <a:r>
              <a:rPr lang="en-US" sz="1200" b="1" u="none" strike="noStrike">
                <a:solidFill>
                  <a:srgbClr val="5C5148"/>
                </a:solidFill>
                <a:effectLst/>
                <a:uFillTx/>
                <a:latin typeface="Calibri"/>
                <a:ea typeface="Calibri"/>
              </a:rPr>
              <a:t>Decouples slow tasks from requests</a:t>
            </a:r>
            <a:endParaRPr lang="en-US" sz="1200" b="0" u="none" strike="noStrike">
              <a:solidFill>
                <a:srgbClr val="000000"/>
              </a:solidFill>
              <a:effectLst/>
              <a:uFillTx/>
              <a:latin typeface="Arial"/>
            </a:endParaRPr>
          </a:p>
        </p:txBody>
      </p:sp>
      <p:sp>
        <p:nvSpPr>
          <p:cNvPr id="254" name="Shape 28"/>
          <p:cNvSpPr/>
          <p:nvPr/>
        </p:nvSpPr>
        <p:spPr>
          <a:xfrm>
            <a:off x="8275320" y="2797920"/>
            <a:ext cx="1536120" cy="941760"/>
          </a:xfrm>
          <a:prstGeom prst="line">
            <a:avLst/>
          </a:prstGeom>
          <a:ln w="19050">
            <a:solidFill>
              <a:srgbClr val="8C8078"/>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255"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APPLICATION · ARCHITECTURE</a:t>
            </a:r>
            <a:endParaRPr lang="en-US" sz="1400" b="0" u="none" strike="noStrike">
              <a:solidFill>
                <a:srgbClr val="000000"/>
              </a:solidFill>
              <a:effectLst/>
              <a:uFillTx/>
              <a:latin typeface="Arial"/>
            </a:endParaRPr>
          </a:p>
        </p:txBody>
      </p:sp>
      <p:sp>
        <p:nvSpPr>
          <p:cNvPr id="256" name="Text 1"/>
          <p:cNvSpPr/>
          <p:nvPr/>
        </p:nvSpPr>
        <p:spPr>
          <a:xfrm>
            <a:off x="640080" y="603360"/>
            <a:ext cx="1261836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2B2420"/>
                </a:solidFill>
                <a:effectLst/>
                <a:uFillTx/>
                <a:latin typeface="Cambria"/>
                <a:ea typeface="Cambria"/>
              </a:rPr>
              <a:t>The difference between what can be replaced and what cannot</a:t>
            </a:r>
            <a:endParaRPr lang="en-US" sz="3200" b="0" u="none" strike="noStrike">
              <a:solidFill>
                <a:srgbClr val="000000"/>
              </a:solidFill>
              <a:effectLst/>
              <a:uFillTx/>
              <a:latin typeface="Arial"/>
            </a:endParaRPr>
          </a:p>
        </p:txBody>
      </p:sp>
      <p:sp>
        <p:nvSpPr>
          <p:cNvPr id="257" name="Text 2"/>
          <p:cNvSpPr/>
          <p:nvPr/>
        </p:nvSpPr>
        <p:spPr>
          <a:xfrm>
            <a:off x="640080" y="1353240"/>
            <a:ext cx="1088064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C5148"/>
                </a:solidFill>
                <a:effectLst/>
                <a:uFillTx/>
                <a:latin typeface="Calibri"/>
                <a:ea typeface="Calibri"/>
              </a:rPr>
              <a:t>Most of the system is disposable. A small part is not — and that part shapes the design.</a:t>
            </a:r>
            <a:endParaRPr lang="en-US" sz="1500" b="0" u="none" strike="noStrike">
              <a:solidFill>
                <a:srgbClr val="000000"/>
              </a:solidFill>
              <a:effectLst/>
              <a:uFillTx/>
              <a:latin typeface="Arial"/>
            </a:endParaRPr>
          </a:p>
        </p:txBody>
      </p:sp>
      <p:sp>
        <p:nvSpPr>
          <p:cNvPr id="258" name="Shape 3"/>
          <p:cNvSpPr/>
          <p:nvPr/>
        </p:nvSpPr>
        <p:spPr>
          <a:xfrm>
            <a:off x="640080" y="2057400"/>
            <a:ext cx="5348520" cy="2422440"/>
          </a:xfrm>
          <a:prstGeom prst="roundRect">
            <a:avLst>
              <a:gd name="adj" fmla="val 339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9" name="Text 4"/>
          <p:cNvSpPr/>
          <p:nvPr/>
        </p:nvSpPr>
        <p:spPr>
          <a:xfrm>
            <a:off x="960120" y="2267640"/>
            <a:ext cx="36568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B2420"/>
                </a:solidFill>
                <a:effectLst/>
                <a:uFillTx/>
                <a:latin typeface="Calibri"/>
                <a:ea typeface="Calibri"/>
              </a:rPr>
              <a:t>Replaceable</a:t>
            </a:r>
            <a:endParaRPr lang="en-US" sz="1700" b="0" u="none" strike="noStrike">
              <a:solidFill>
                <a:srgbClr val="000000"/>
              </a:solidFill>
              <a:effectLst/>
              <a:uFillTx/>
              <a:latin typeface="Arial"/>
            </a:endParaRPr>
          </a:p>
        </p:txBody>
      </p:sp>
      <p:sp>
        <p:nvSpPr>
          <p:cNvPr id="260" name="Text 5"/>
          <p:cNvSpPr/>
          <p:nvPr/>
        </p:nvSpPr>
        <p:spPr>
          <a:xfrm>
            <a:off x="960120" y="2670120"/>
            <a:ext cx="4708440" cy="164520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700"/>
              </a:spcAft>
              <a:buClr>
                <a:srgbClr val="5C5148"/>
              </a:buClr>
              <a:buFont typeface="Symbol" charset="2"/>
              <a:buChar char=""/>
            </a:pPr>
            <a:r>
              <a:rPr lang="en-US" sz="1300" b="1" u="none" strike="noStrike">
                <a:solidFill>
                  <a:srgbClr val="5C5148"/>
                </a:solidFill>
                <a:effectLst/>
                <a:uFillTx/>
                <a:latin typeface="Calibri"/>
                <a:ea typeface="Calibri"/>
              </a:rPr>
              <a:t>Web and application containers hold nothing permanent</a:t>
            </a:r>
            <a:endParaRPr lang="en-US" sz="1300" b="0" u="none" strike="noStrike">
              <a:solidFill>
                <a:srgbClr val="000000"/>
              </a:solidFill>
              <a:effectLst/>
              <a:uFillTx/>
              <a:latin typeface="Arial"/>
            </a:endParaRPr>
          </a:p>
          <a:p>
            <a:pPr marL="343080" indent="-343080" defTabSz="914400">
              <a:lnSpc>
                <a:spcPct val="100000"/>
              </a:lnSpc>
              <a:spcAft>
                <a:spcPts val="700"/>
              </a:spcAft>
              <a:buClr>
                <a:srgbClr val="5C5148"/>
              </a:buClr>
              <a:buFont typeface="Symbol" charset="2"/>
              <a:buChar char=""/>
            </a:pPr>
            <a:r>
              <a:rPr lang="en-US" sz="1300" b="1" u="none" strike="noStrike">
                <a:solidFill>
                  <a:srgbClr val="5C5148"/>
                </a:solidFill>
                <a:effectLst/>
                <a:uFillTx/>
                <a:latin typeface="Calibri"/>
                <a:ea typeface="Calibri"/>
              </a:rPr>
              <a:t>Any copy can be destroyed and recreated at any time</a:t>
            </a:r>
            <a:endParaRPr lang="en-US" sz="1300" b="0" u="none" strike="noStrike">
              <a:solidFill>
                <a:srgbClr val="000000"/>
              </a:solidFill>
              <a:effectLst/>
              <a:uFillTx/>
              <a:latin typeface="Arial"/>
            </a:endParaRPr>
          </a:p>
          <a:p>
            <a:pPr marL="343080" indent="-343080" defTabSz="914400">
              <a:lnSpc>
                <a:spcPct val="100000"/>
              </a:lnSpc>
              <a:spcAft>
                <a:spcPts val="700"/>
              </a:spcAft>
              <a:buClr>
                <a:srgbClr val="5C5148"/>
              </a:buClr>
              <a:buFont typeface="Symbol" charset="2"/>
              <a:buChar char=""/>
            </a:pPr>
            <a:r>
              <a:rPr lang="en-US" sz="1300" b="1" u="none" strike="noStrike">
                <a:solidFill>
                  <a:srgbClr val="5C5148"/>
                </a:solidFill>
                <a:effectLst/>
                <a:uFillTx/>
                <a:latin typeface="Calibri"/>
                <a:ea typeface="Calibri"/>
              </a:rPr>
              <a:t>Scaling is simply running more of them</a:t>
            </a:r>
            <a:endParaRPr lang="en-US" sz="1300" b="0" u="none" strike="noStrike">
              <a:solidFill>
                <a:srgbClr val="000000"/>
              </a:solidFill>
              <a:effectLst/>
              <a:uFillTx/>
              <a:latin typeface="Arial"/>
            </a:endParaRPr>
          </a:p>
          <a:p>
            <a:pPr marL="343080" indent="-343080" defTabSz="914400">
              <a:lnSpc>
                <a:spcPct val="100000"/>
              </a:lnSpc>
              <a:spcAft>
                <a:spcPts val="700"/>
              </a:spcAft>
              <a:buClr>
                <a:srgbClr val="5C5148"/>
              </a:buClr>
              <a:buFont typeface="Symbol" charset="2"/>
              <a:buChar char=""/>
            </a:pPr>
            <a:r>
              <a:rPr lang="en-US" sz="1300" b="1" u="none" strike="noStrike">
                <a:solidFill>
                  <a:srgbClr val="5C5148"/>
                </a:solidFill>
                <a:effectLst/>
                <a:uFillTx/>
                <a:latin typeface="Calibri"/>
                <a:ea typeface="Calibri"/>
              </a:rPr>
              <a:t>Upgrades replace them one at a time with no downtime</a:t>
            </a:r>
            <a:endParaRPr lang="en-US" sz="1300" b="0" u="none" strike="noStrike">
              <a:solidFill>
                <a:srgbClr val="000000"/>
              </a:solidFill>
              <a:effectLst/>
              <a:uFillTx/>
              <a:latin typeface="Arial"/>
            </a:endParaRPr>
          </a:p>
        </p:txBody>
      </p:sp>
      <p:sp>
        <p:nvSpPr>
          <p:cNvPr id="261" name="Shape 6"/>
          <p:cNvSpPr/>
          <p:nvPr/>
        </p:nvSpPr>
        <p:spPr>
          <a:xfrm>
            <a:off x="6263640" y="2057400"/>
            <a:ext cx="5257080" cy="2422440"/>
          </a:xfrm>
          <a:prstGeom prst="roundRect">
            <a:avLst>
              <a:gd name="adj" fmla="val 3396"/>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2" name="Text 7"/>
          <p:cNvSpPr/>
          <p:nvPr/>
        </p:nvSpPr>
        <p:spPr>
          <a:xfrm>
            <a:off x="6583680" y="2267640"/>
            <a:ext cx="36568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B85042"/>
                </a:solidFill>
                <a:effectLst/>
                <a:uFillTx/>
                <a:latin typeface="Calibri"/>
                <a:ea typeface="Calibri"/>
              </a:rPr>
              <a:t>Irreplaceable</a:t>
            </a:r>
            <a:endParaRPr lang="en-US" sz="1700" b="0" u="none" strike="noStrike">
              <a:solidFill>
                <a:srgbClr val="000000"/>
              </a:solidFill>
              <a:effectLst/>
              <a:uFillTx/>
              <a:latin typeface="Arial"/>
            </a:endParaRPr>
          </a:p>
        </p:txBody>
      </p:sp>
      <p:sp>
        <p:nvSpPr>
          <p:cNvPr id="263" name="Text 8"/>
          <p:cNvSpPr/>
          <p:nvPr/>
        </p:nvSpPr>
        <p:spPr>
          <a:xfrm>
            <a:off x="6583680" y="2670120"/>
            <a:ext cx="4617000" cy="164520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700"/>
              </a:spcAft>
              <a:buClr>
                <a:srgbClr val="5C5148"/>
              </a:buClr>
              <a:buFont typeface="Symbol" charset="2"/>
              <a:buChar char=""/>
            </a:pPr>
            <a:r>
              <a:rPr lang="en-US" sz="1300" b="1" u="none" strike="noStrike">
                <a:solidFill>
                  <a:srgbClr val="5C5148"/>
                </a:solidFill>
                <a:effectLst/>
                <a:uFillTx/>
                <a:latin typeface="Calibri"/>
                <a:ea typeface="Calibri"/>
              </a:rPr>
              <a:t>The database holds every account and post</a:t>
            </a:r>
            <a:endParaRPr lang="en-US" sz="1300" b="0" u="none" strike="noStrike">
              <a:solidFill>
                <a:srgbClr val="000000"/>
              </a:solidFill>
              <a:effectLst/>
              <a:uFillTx/>
              <a:latin typeface="Arial"/>
            </a:endParaRPr>
          </a:p>
          <a:p>
            <a:pPr marL="343080" indent="-343080" defTabSz="914400">
              <a:lnSpc>
                <a:spcPct val="100000"/>
              </a:lnSpc>
              <a:spcAft>
                <a:spcPts val="700"/>
              </a:spcAft>
              <a:buClr>
                <a:srgbClr val="5C5148"/>
              </a:buClr>
              <a:buFont typeface="Symbol" charset="2"/>
              <a:buChar char=""/>
            </a:pPr>
            <a:r>
              <a:rPr lang="en-US" sz="1300" b="1" u="none" strike="noStrike">
                <a:solidFill>
                  <a:srgbClr val="5C5148"/>
                </a:solidFill>
                <a:effectLst/>
                <a:uFillTx/>
                <a:latin typeface="Calibri"/>
                <a:ea typeface="Calibri"/>
              </a:rPr>
              <a:t>It keeps a stable identity and its own attached disk</a:t>
            </a:r>
            <a:endParaRPr lang="en-US" sz="1300" b="0" u="none" strike="noStrike">
              <a:solidFill>
                <a:srgbClr val="000000"/>
              </a:solidFill>
              <a:effectLst/>
              <a:uFillTx/>
              <a:latin typeface="Arial"/>
            </a:endParaRPr>
          </a:p>
          <a:p>
            <a:pPr marL="343080" indent="-343080" defTabSz="914400">
              <a:lnSpc>
                <a:spcPct val="100000"/>
              </a:lnSpc>
              <a:spcAft>
                <a:spcPts val="700"/>
              </a:spcAft>
              <a:buClr>
                <a:srgbClr val="5C5148"/>
              </a:buClr>
              <a:buFont typeface="Symbol" charset="2"/>
              <a:buChar char=""/>
            </a:pPr>
            <a:r>
              <a:rPr lang="en-US" sz="1300" b="1" u="none" strike="noStrike">
                <a:solidFill>
                  <a:srgbClr val="5C5148"/>
                </a:solidFill>
                <a:effectLst/>
                <a:uFillTx/>
                <a:latin typeface="Calibri"/>
                <a:ea typeface="Calibri"/>
              </a:rPr>
              <a:t>The disk survives the container being replaced</a:t>
            </a:r>
            <a:endParaRPr lang="en-US" sz="1300" b="0" u="none" strike="noStrike">
              <a:solidFill>
                <a:srgbClr val="000000"/>
              </a:solidFill>
              <a:effectLst/>
              <a:uFillTx/>
              <a:latin typeface="Arial"/>
            </a:endParaRPr>
          </a:p>
          <a:p>
            <a:pPr marL="343080" indent="-343080" defTabSz="914400">
              <a:lnSpc>
                <a:spcPct val="100000"/>
              </a:lnSpc>
              <a:spcAft>
                <a:spcPts val="700"/>
              </a:spcAft>
              <a:buClr>
                <a:srgbClr val="5C5148"/>
              </a:buClr>
              <a:buFont typeface="Symbol" charset="2"/>
              <a:buChar char=""/>
            </a:pPr>
            <a:r>
              <a:rPr lang="en-US" sz="1300" b="1" u="none" strike="noStrike">
                <a:solidFill>
                  <a:srgbClr val="5C5148"/>
                </a:solidFill>
                <a:effectLst/>
                <a:uFillTx/>
                <a:latin typeface="Calibri"/>
                <a:ea typeface="Calibri"/>
              </a:rPr>
              <a:t>It is protected from being evicted during maintenance</a:t>
            </a:r>
            <a:endParaRPr lang="en-US" sz="1300" b="0" u="none" strike="noStrike">
              <a:solidFill>
                <a:srgbClr val="000000"/>
              </a:solidFill>
              <a:effectLst/>
              <a:uFillTx/>
              <a:latin typeface="Arial"/>
            </a:endParaRPr>
          </a:p>
        </p:txBody>
      </p:sp>
      <p:sp>
        <p:nvSpPr>
          <p:cNvPr id="264" name="Shape 9"/>
          <p:cNvSpPr/>
          <p:nvPr/>
        </p:nvSpPr>
        <p:spPr>
          <a:xfrm>
            <a:off x="640080" y="4709160"/>
            <a:ext cx="10880640" cy="1005120"/>
          </a:xfrm>
          <a:prstGeom prst="roundRect">
            <a:avLst>
              <a:gd name="adj" fmla="val 8182"/>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5" name="Text 10"/>
          <p:cNvSpPr/>
          <p:nvPr/>
        </p:nvSpPr>
        <p:spPr>
          <a:xfrm>
            <a:off x="960120" y="4956120"/>
            <a:ext cx="10240560" cy="54792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350" b="1" u="none" strike="noStrike">
                <a:solidFill>
                  <a:srgbClr val="5C5148"/>
                </a:solidFill>
                <a:effectLst/>
                <a:uFillTx/>
                <a:latin typeface="Calibri"/>
                <a:ea typeface="Calibri"/>
              </a:rPr>
              <a:t>This distinction drives three later decisions: which workloads get multiple copies, what the backup system must capture, and why the database is the largest availability risk in the design.</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266"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DELIVERY · CONCEPT</a:t>
            </a:r>
            <a:endParaRPr lang="en-US" sz="1400" b="0" u="none" strike="noStrike">
              <a:solidFill>
                <a:srgbClr val="000000"/>
              </a:solidFill>
              <a:effectLst/>
              <a:uFillTx/>
              <a:latin typeface="Arial"/>
            </a:endParaRPr>
          </a:p>
        </p:txBody>
      </p:sp>
      <p:sp>
        <p:nvSpPr>
          <p:cNvPr id="267"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Continuous integration and continuous delivery</a:t>
            </a:r>
            <a:endParaRPr lang="en-US" sz="3400" b="0" u="none" strike="noStrike">
              <a:solidFill>
                <a:srgbClr val="000000"/>
              </a:solidFill>
              <a:effectLst/>
              <a:uFillTx/>
              <a:latin typeface="Arial"/>
            </a:endParaRPr>
          </a:p>
        </p:txBody>
      </p:sp>
      <p:sp>
        <p:nvSpPr>
          <p:cNvPr id="268" name="Text 2"/>
          <p:cNvSpPr/>
          <p:nvPr/>
        </p:nvSpPr>
        <p:spPr>
          <a:xfrm>
            <a:off x="640080" y="1353240"/>
            <a:ext cx="1088064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C5148"/>
                </a:solidFill>
                <a:effectLst/>
                <a:uFillTx/>
                <a:latin typeface="Calibri"/>
                <a:ea typeface="Calibri"/>
              </a:rPr>
              <a:t>Two distinct promises, often merged into one acronym.</a:t>
            </a:r>
            <a:endParaRPr lang="en-US" sz="1500" b="0" u="none" strike="noStrike">
              <a:solidFill>
                <a:srgbClr val="000000"/>
              </a:solidFill>
              <a:effectLst/>
              <a:uFillTx/>
              <a:latin typeface="Arial"/>
            </a:endParaRPr>
          </a:p>
        </p:txBody>
      </p:sp>
      <p:sp>
        <p:nvSpPr>
          <p:cNvPr id="269" name="Shape 3"/>
          <p:cNvSpPr/>
          <p:nvPr/>
        </p:nvSpPr>
        <p:spPr>
          <a:xfrm>
            <a:off x="640080" y="2011680"/>
            <a:ext cx="5348520" cy="2285280"/>
          </a:xfrm>
          <a:prstGeom prst="roundRect">
            <a:avLst>
              <a:gd name="adj" fmla="val 36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0" name="Text 4"/>
          <p:cNvSpPr/>
          <p:nvPr/>
        </p:nvSpPr>
        <p:spPr>
          <a:xfrm>
            <a:off x="960120" y="2212920"/>
            <a:ext cx="36568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B2420"/>
                </a:solidFill>
                <a:effectLst/>
                <a:uFillTx/>
                <a:latin typeface="Calibri"/>
                <a:ea typeface="Calibri"/>
              </a:rPr>
              <a:t>Integration  ·  CI</a:t>
            </a:r>
            <a:endParaRPr lang="en-US" sz="1700" b="0" u="none" strike="noStrike">
              <a:solidFill>
                <a:srgbClr val="000000"/>
              </a:solidFill>
              <a:effectLst/>
              <a:uFillTx/>
              <a:latin typeface="Arial"/>
            </a:endParaRPr>
          </a:p>
        </p:txBody>
      </p:sp>
      <p:sp>
        <p:nvSpPr>
          <p:cNvPr id="271" name="Text 5"/>
          <p:cNvSpPr/>
          <p:nvPr/>
        </p:nvSpPr>
        <p:spPr>
          <a:xfrm>
            <a:off x="960120" y="2615040"/>
            <a:ext cx="4754520" cy="123372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300" b="1" u="none" strike="noStrike">
                <a:solidFill>
                  <a:srgbClr val="5C5148"/>
                </a:solidFill>
                <a:effectLst/>
                <a:uFillTx/>
                <a:latin typeface="Calibri"/>
                <a:ea typeface="Calibri"/>
              </a:rPr>
              <a:t>Every change is compiled, tested and inspected automatically. The promise is that the main branch always builds and passes its checks — so a broken change is caught in minutes by a machine, not in days by a colleague.</a:t>
            </a:r>
            <a:endParaRPr lang="en-US" sz="1300" b="0" u="none" strike="noStrike">
              <a:solidFill>
                <a:srgbClr val="000000"/>
              </a:solidFill>
              <a:effectLst/>
              <a:uFillTx/>
              <a:latin typeface="Arial"/>
            </a:endParaRPr>
          </a:p>
        </p:txBody>
      </p:sp>
      <p:sp>
        <p:nvSpPr>
          <p:cNvPr id="272" name="Text 6"/>
          <p:cNvSpPr/>
          <p:nvPr/>
        </p:nvSpPr>
        <p:spPr>
          <a:xfrm>
            <a:off x="960120" y="3877200"/>
            <a:ext cx="47084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i="1" u="none" strike="noStrike">
                <a:solidFill>
                  <a:srgbClr val="B85042"/>
                </a:solidFill>
                <a:effectLst/>
                <a:uFillTx/>
                <a:latin typeface="Calibri"/>
                <a:ea typeface="Calibri"/>
              </a:rPr>
              <a:t>Build · Test · Analyse · Scan</a:t>
            </a:r>
            <a:endParaRPr lang="en-US" sz="1200" b="0" u="none" strike="noStrike">
              <a:solidFill>
                <a:srgbClr val="000000"/>
              </a:solidFill>
              <a:effectLst/>
              <a:uFillTx/>
              <a:latin typeface="Arial"/>
            </a:endParaRPr>
          </a:p>
        </p:txBody>
      </p:sp>
      <p:sp>
        <p:nvSpPr>
          <p:cNvPr id="273" name="Shape 7"/>
          <p:cNvSpPr/>
          <p:nvPr/>
        </p:nvSpPr>
        <p:spPr>
          <a:xfrm>
            <a:off x="6263640" y="2011680"/>
            <a:ext cx="5257080" cy="2285280"/>
          </a:xfrm>
          <a:prstGeom prst="roundRect">
            <a:avLst>
              <a:gd name="adj" fmla="val 36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4" name="Text 8"/>
          <p:cNvSpPr/>
          <p:nvPr/>
        </p:nvSpPr>
        <p:spPr>
          <a:xfrm>
            <a:off x="6583680" y="2212920"/>
            <a:ext cx="36568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B2420"/>
                </a:solidFill>
                <a:effectLst/>
                <a:uFillTx/>
                <a:latin typeface="Calibri"/>
                <a:ea typeface="Calibri"/>
              </a:rPr>
              <a:t>Delivery  ·  CD</a:t>
            </a:r>
            <a:endParaRPr lang="en-US" sz="1700" b="0" u="none" strike="noStrike">
              <a:solidFill>
                <a:srgbClr val="000000"/>
              </a:solidFill>
              <a:effectLst/>
              <a:uFillTx/>
              <a:latin typeface="Arial"/>
            </a:endParaRPr>
          </a:p>
        </p:txBody>
      </p:sp>
      <p:sp>
        <p:nvSpPr>
          <p:cNvPr id="275" name="Text 9"/>
          <p:cNvSpPr/>
          <p:nvPr/>
        </p:nvSpPr>
        <p:spPr>
          <a:xfrm>
            <a:off x="6583680" y="2615040"/>
            <a:ext cx="4617000" cy="123372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300" b="1" u="none" strike="noStrike">
                <a:solidFill>
                  <a:srgbClr val="5C5148"/>
                </a:solidFill>
                <a:effectLst/>
                <a:uFillTx/>
                <a:latin typeface="Calibri"/>
                <a:ea typeface="Calibri"/>
              </a:rPr>
              <a:t>A change that passed its checks is released without a human performing the steps. The promise is that deploying is unremarkable — frequent, reversible and identical every time, rather than an event that requires a planned window.</a:t>
            </a:r>
            <a:endParaRPr lang="en-US" sz="1300" b="0" u="none" strike="noStrike">
              <a:solidFill>
                <a:srgbClr val="000000"/>
              </a:solidFill>
              <a:effectLst/>
              <a:uFillTx/>
              <a:latin typeface="Arial"/>
            </a:endParaRPr>
          </a:p>
        </p:txBody>
      </p:sp>
      <p:sp>
        <p:nvSpPr>
          <p:cNvPr id="276" name="Text 10"/>
          <p:cNvSpPr/>
          <p:nvPr/>
        </p:nvSpPr>
        <p:spPr>
          <a:xfrm>
            <a:off x="6583680" y="3877200"/>
            <a:ext cx="46170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i="1" u="none" strike="noStrike">
                <a:solidFill>
                  <a:srgbClr val="B85042"/>
                </a:solidFill>
                <a:effectLst/>
                <a:uFillTx/>
                <a:latin typeface="Calibri"/>
                <a:ea typeface="Calibri"/>
              </a:rPr>
              <a:t>Publish · Verify · Release · Roll back</a:t>
            </a:r>
            <a:endParaRPr lang="en-US" sz="1200" b="0" u="none" strike="noStrike">
              <a:solidFill>
                <a:srgbClr val="000000"/>
              </a:solidFill>
              <a:effectLst/>
              <a:uFillTx/>
              <a:latin typeface="Arial"/>
            </a:endParaRPr>
          </a:p>
        </p:txBody>
      </p:sp>
      <p:sp>
        <p:nvSpPr>
          <p:cNvPr id="277" name="Shape 11"/>
          <p:cNvSpPr/>
          <p:nvPr/>
        </p:nvSpPr>
        <p:spPr>
          <a:xfrm>
            <a:off x="640080" y="4526280"/>
            <a:ext cx="10880640" cy="1188000"/>
          </a:xfrm>
          <a:prstGeom prst="roundRect">
            <a:avLst>
              <a:gd name="adj" fmla="val 6923"/>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8" name="Text 12"/>
          <p:cNvSpPr/>
          <p:nvPr/>
        </p:nvSpPr>
        <p:spPr>
          <a:xfrm>
            <a:off x="960120" y="4709160"/>
            <a:ext cx="45712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2B2420"/>
                </a:solidFill>
                <a:effectLst/>
                <a:uFillTx/>
                <a:latin typeface="Calibri"/>
                <a:ea typeface="Calibri"/>
              </a:rPr>
              <a:t>Both are implemented here</a:t>
            </a:r>
            <a:endParaRPr lang="en-US" sz="1400" b="0" u="none" strike="noStrike">
              <a:solidFill>
                <a:srgbClr val="000000"/>
              </a:solidFill>
              <a:effectLst/>
              <a:uFillTx/>
              <a:latin typeface="Arial"/>
            </a:endParaRPr>
          </a:p>
        </p:txBody>
      </p:sp>
      <p:sp>
        <p:nvSpPr>
          <p:cNvPr id="279" name="Text 13"/>
          <p:cNvSpPr/>
          <p:nvPr/>
        </p:nvSpPr>
        <p:spPr>
          <a:xfrm>
            <a:off x="960120" y="5010840"/>
            <a:ext cx="10240560" cy="602640"/>
          </a:xfrm>
          <a:prstGeom prst="rect">
            <a:avLst/>
          </a:prstGeom>
          <a:noFill/>
          <a:ln w="0">
            <a:noFill/>
          </a:ln>
        </p:spPr>
        <p:style>
          <a:lnRef idx="0"/>
          <a:fillRef idx="0"/>
          <a:effectRef idx="0"/>
          <a:fontRef idx="minor"/>
        </p:style>
        <p:txBody>
          <a:bodyPr lIns="0" tIns="0" rIns="0" bIns="0" anchor="ctr">
            <a:noAutofit/>
          </a:bodyPr>
          <a:p>
            <a:pPr defTabSz="914400">
              <a:lnSpc>
                <a:spcPts val="1800"/>
              </a:lnSpc>
              <a:tabLst>
                <a:tab pos="0" algn="l"/>
              </a:tabLst>
            </a:pPr>
            <a:r>
              <a:rPr lang="en-US" sz="1300" b="1" u="none" strike="noStrike">
                <a:solidFill>
                  <a:srgbClr val="5C5148"/>
                </a:solidFill>
                <a:effectLst/>
                <a:uFillTx/>
                <a:latin typeface="Calibri"/>
                <a:ea typeface="Calibri"/>
              </a:rPr>
              <a:t>The pipeline runs from commit to a running container in the cluster. The release step is atomic: if the new version does not become healthy within its timeout, the previous one is restored automatically.</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280"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DELIVERY · IMPLEMENTATION</a:t>
            </a:r>
            <a:endParaRPr lang="en-US" sz="1400" b="0" u="none" strike="noStrike">
              <a:solidFill>
                <a:srgbClr val="000000"/>
              </a:solidFill>
              <a:effectLst/>
              <a:uFillTx/>
              <a:latin typeface="Arial"/>
            </a:endParaRPr>
          </a:p>
        </p:txBody>
      </p:sp>
      <p:sp>
        <p:nvSpPr>
          <p:cNvPr id="281"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Eleven stages, one command</a:t>
            </a:r>
            <a:endParaRPr lang="en-US" sz="3400" b="0" u="none" strike="noStrike">
              <a:solidFill>
                <a:srgbClr val="000000"/>
              </a:solidFill>
              <a:effectLst/>
              <a:uFillTx/>
              <a:latin typeface="Arial"/>
            </a:endParaRPr>
          </a:p>
        </p:txBody>
      </p:sp>
      <p:sp>
        <p:nvSpPr>
          <p:cNvPr id="282" name="Shape 2"/>
          <p:cNvSpPr/>
          <p:nvPr/>
        </p:nvSpPr>
        <p:spPr>
          <a:xfrm>
            <a:off x="298440" y="1613520"/>
            <a:ext cx="1112760" cy="1311480"/>
          </a:xfrm>
          <a:prstGeom prst="roundRect">
            <a:avLst>
              <a:gd name="adj" fmla="val 803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3" name="Text 3"/>
          <p:cNvSpPr/>
          <p:nvPr/>
        </p:nvSpPr>
        <p:spPr>
          <a:xfrm>
            <a:off x="298440" y="1733040"/>
            <a:ext cx="1112760" cy="257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B85042"/>
                </a:solidFill>
                <a:effectLst/>
                <a:uFillTx/>
                <a:latin typeface="Calibri"/>
                <a:ea typeface="Calibri"/>
              </a:rPr>
              <a:t>1</a:t>
            </a:r>
            <a:endParaRPr lang="en-US" sz="1100" b="0" u="none" strike="noStrike">
              <a:solidFill>
                <a:srgbClr val="000000"/>
              </a:solidFill>
              <a:effectLst/>
              <a:uFillTx/>
              <a:latin typeface="Arial"/>
            </a:endParaRPr>
          </a:p>
        </p:txBody>
      </p:sp>
      <p:sp>
        <p:nvSpPr>
          <p:cNvPr id="284" name="Text 4"/>
          <p:cNvSpPr/>
          <p:nvPr/>
        </p:nvSpPr>
        <p:spPr>
          <a:xfrm>
            <a:off x="338400" y="2011320"/>
            <a:ext cx="1033200" cy="41652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050" b="1" u="none" strike="noStrike">
                <a:solidFill>
                  <a:srgbClr val="2B2420"/>
                </a:solidFill>
                <a:effectLst/>
                <a:uFillTx/>
                <a:latin typeface="Calibri"/>
                <a:ea typeface="Calibri"/>
              </a:rPr>
              <a:t>Prepare</a:t>
            </a:r>
            <a:endParaRPr lang="en-US" sz="1050" b="0" u="none" strike="noStrike">
              <a:solidFill>
                <a:srgbClr val="000000"/>
              </a:solidFill>
              <a:effectLst/>
              <a:uFillTx/>
              <a:latin typeface="Arial"/>
            </a:endParaRPr>
          </a:p>
        </p:txBody>
      </p:sp>
      <p:sp>
        <p:nvSpPr>
          <p:cNvPr id="285" name="Text 5"/>
          <p:cNvSpPr/>
          <p:nvPr/>
        </p:nvSpPr>
        <p:spPr>
          <a:xfrm>
            <a:off x="328320" y="2448720"/>
            <a:ext cx="1052640" cy="416880"/>
          </a:xfrm>
          <a:prstGeom prst="rect">
            <a:avLst/>
          </a:prstGeom>
          <a:noFill/>
          <a:ln w="0">
            <a:noFill/>
          </a:ln>
        </p:spPr>
        <p:style>
          <a:lnRef idx="0"/>
          <a:fillRef idx="0"/>
          <a:effectRef idx="0"/>
          <a:fontRef idx="minor"/>
        </p:style>
        <p:txBody>
          <a:bodyPr lIns="0" tIns="0" rIns="0" bIns="0" anchor="ctr">
            <a:noAutofit/>
          </a:bodyPr>
          <a:p>
            <a:pPr algn="ctr" defTabSz="914400">
              <a:lnSpc>
                <a:spcPts val="1001"/>
              </a:lnSpc>
              <a:tabLst>
                <a:tab pos="0" algn="l"/>
              </a:tabLst>
            </a:pPr>
            <a:r>
              <a:rPr lang="en-US" sz="1000" b="1" u="none" strike="noStrike">
                <a:solidFill>
                  <a:srgbClr val="8C8078"/>
                </a:solidFill>
                <a:effectLst/>
                <a:uFillTx/>
                <a:latin typeface="Calibri"/>
                <a:ea typeface="Calibri"/>
              </a:rPr>
              <a:t>Identify commit</a:t>
            </a:r>
            <a:endParaRPr lang="en-US" sz="1000" b="0" u="none" strike="noStrike">
              <a:solidFill>
                <a:srgbClr val="000000"/>
              </a:solidFill>
              <a:effectLst/>
              <a:uFillTx/>
              <a:latin typeface="Arial"/>
            </a:endParaRPr>
          </a:p>
        </p:txBody>
      </p:sp>
      <p:sp>
        <p:nvSpPr>
          <p:cNvPr id="286" name="Shape 6"/>
          <p:cNvSpPr/>
          <p:nvPr/>
        </p:nvSpPr>
        <p:spPr>
          <a:xfrm>
            <a:off x="1416600" y="2269440"/>
            <a:ext cx="99360" cy="360"/>
          </a:xfrm>
          <a:prstGeom prst="line">
            <a:avLst/>
          </a:prstGeom>
          <a:ln w="19050">
            <a:solidFill>
              <a:srgbClr val="8C8078"/>
            </a:solidFill>
            <a:round/>
            <a:tailEnd len="med" type="triangle" w="med"/>
          </a:ln>
        </p:spPr>
        <p:style>
          <a:lnRef idx="0"/>
          <a:fillRef idx="0"/>
          <a:effectRef idx="0"/>
          <a:fontRef idx="minor"/>
        </p:style>
        <p:txBody>
          <a:bodyPr lIns="49680" tIns="-44640" rIns="49680" bIns="-44640" anchor="t" anchorCtr="1">
            <a:noAutofit/>
          </a:bodyPr>
          <a:p>
            <a:endParaRPr lang="en-US" sz="1800" b="0" u="none" strike="noStrike">
              <a:solidFill>
                <a:srgbClr val="000000"/>
              </a:solidFill>
              <a:effectLst/>
              <a:uFillTx/>
              <a:latin typeface="Arial"/>
            </a:endParaRPr>
          </a:p>
        </p:txBody>
      </p:sp>
      <p:sp>
        <p:nvSpPr>
          <p:cNvPr id="287" name="Shape 7"/>
          <p:cNvSpPr/>
          <p:nvPr/>
        </p:nvSpPr>
        <p:spPr>
          <a:xfrm>
            <a:off x="1521000" y="1613520"/>
            <a:ext cx="1112760" cy="1311480"/>
          </a:xfrm>
          <a:prstGeom prst="roundRect">
            <a:avLst>
              <a:gd name="adj" fmla="val 803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8" name="Text 8"/>
          <p:cNvSpPr/>
          <p:nvPr/>
        </p:nvSpPr>
        <p:spPr>
          <a:xfrm>
            <a:off x="1521000" y="1733040"/>
            <a:ext cx="1112760" cy="257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B85042"/>
                </a:solidFill>
                <a:effectLst/>
                <a:uFillTx/>
                <a:latin typeface="Calibri"/>
                <a:ea typeface="Calibri"/>
              </a:rPr>
              <a:t>2</a:t>
            </a:r>
            <a:endParaRPr lang="en-US" sz="1100" b="0" u="none" strike="noStrike">
              <a:solidFill>
                <a:srgbClr val="000000"/>
              </a:solidFill>
              <a:effectLst/>
              <a:uFillTx/>
              <a:latin typeface="Arial"/>
            </a:endParaRPr>
          </a:p>
        </p:txBody>
      </p:sp>
      <p:sp>
        <p:nvSpPr>
          <p:cNvPr id="289" name="Text 9"/>
          <p:cNvSpPr/>
          <p:nvPr/>
        </p:nvSpPr>
        <p:spPr>
          <a:xfrm>
            <a:off x="1560960" y="2011320"/>
            <a:ext cx="1033200" cy="41652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050" b="1" u="none" strike="noStrike">
                <a:solidFill>
                  <a:srgbClr val="2B2420"/>
                </a:solidFill>
                <a:effectLst/>
                <a:uFillTx/>
                <a:latin typeface="Calibri"/>
                <a:ea typeface="Calibri"/>
              </a:rPr>
              <a:t>Build &amp; Test</a:t>
            </a:r>
            <a:endParaRPr lang="en-US" sz="1050" b="0" u="none" strike="noStrike">
              <a:solidFill>
                <a:srgbClr val="000000"/>
              </a:solidFill>
              <a:effectLst/>
              <a:uFillTx/>
              <a:latin typeface="Arial"/>
            </a:endParaRPr>
          </a:p>
        </p:txBody>
      </p:sp>
      <p:sp>
        <p:nvSpPr>
          <p:cNvPr id="290" name="Text 10"/>
          <p:cNvSpPr/>
          <p:nvPr/>
        </p:nvSpPr>
        <p:spPr>
          <a:xfrm>
            <a:off x="1550880" y="2448720"/>
            <a:ext cx="1052640" cy="416880"/>
          </a:xfrm>
          <a:prstGeom prst="rect">
            <a:avLst/>
          </a:prstGeom>
          <a:noFill/>
          <a:ln w="0">
            <a:noFill/>
          </a:ln>
        </p:spPr>
        <p:style>
          <a:lnRef idx="0"/>
          <a:fillRef idx="0"/>
          <a:effectRef idx="0"/>
          <a:fontRef idx="minor"/>
        </p:style>
        <p:txBody>
          <a:bodyPr lIns="0" tIns="0" rIns="0" bIns="0" anchor="ctr">
            <a:noAutofit/>
          </a:bodyPr>
          <a:p>
            <a:pPr algn="ctr" defTabSz="914400">
              <a:lnSpc>
                <a:spcPts val="1001"/>
              </a:lnSpc>
              <a:tabLst>
                <a:tab pos="0" algn="l"/>
              </a:tabLst>
            </a:pPr>
            <a:r>
              <a:rPr lang="en-US" sz="1000" b="1" u="none" strike="noStrike">
                <a:solidFill>
                  <a:srgbClr val="8C8078"/>
                </a:solidFill>
                <a:effectLst/>
                <a:uFillTx/>
                <a:latin typeface="Calibri"/>
                <a:ea typeface="Calibri"/>
              </a:rPr>
              <a:t>Compile, run unit tests</a:t>
            </a:r>
            <a:endParaRPr lang="en-US" sz="1000" b="0" u="none" strike="noStrike">
              <a:solidFill>
                <a:srgbClr val="000000"/>
              </a:solidFill>
              <a:effectLst/>
              <a:uFillTx/>
              <a:latin typeface="Arial"/>
            </a:endParaRPr>
          </a:p>
        </p:txBody>
      </p:sp>
      <p:sp>
        <p:nvSpPr>
          <p:cNvPr id="291" name="Shape 11"/>
          <p:cNvSpPr/>
          <p:nvPr/>
        </p:nvSpPr>
        <p:spPr>
          <a:xfrm>
            <a:off x="2639160" y="2269440"/>
            <a:ext cx="99360" cy="360"/>
          </a:xfrm>
          <a:prstGeom prst="line">
            <a:avLst/>
          </a:prstGeom>
          <a:ln w="19050">
            <a:solidFill>
              <a:srgbClr val="8C8078"/>
            </a:solidFill>
            <a:round/>
            <a:tailEnd len="med" type="triangle" w="med"/>
          </a:ln>
        </p:spPr>
        <p:style>
          <a:lnRef idx="0"/>
          <a:fillRef idx="0"/>
          <a:effectRef idx="0"/>
          <a:fontRef idx="minor"/>
        </p:style>
        <p:txBody>
          <a:bodyPr lIns="49680" tIns="-44640" rIns="49680" bIns="-44640" anchor="t" anchorCtr="1">
            <a:noAutofit/>
          </a:bodyPr>
          <a:p>
            <a:endParaRPr lang="en-US" sz="1800" b="0" u="none" strike="noStrike">
              <a:solidFill>
                <a:srgbClr val="000000"/>
              </a:solidFill>
              <a:effectLst/>
              <a:uFillTx/>
              <a:latin typeface="Arial"/>
            </a:endParaRPr>
          </a:p>
        </p:txBody>
      </p:sp>
      <p:sp>
        <p:nvSpPr>
          <p:cNvPr id="292" name="Shape 12"/>
          <p:cNvSpPr/>
          <p:nvPr/>
        </p:nvSpPr>
        <p:spPr>
          <a:xfrm>
            <a:off x="2743560" y="1613520"/>
            <a:ext cx="1112760" cy="1311480"/>
          </a:xfrm>
          <a:prstGeom prst="roundRect">
            <a:avLst>
              <a:gd name="adj" fmla="val 803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3" name="Text 13"/>
          <p:cNvSpPr/>
          <p:nvPr/>
        </p:nvSpPr>
        <p:spPr>
          <a:xfrm>
            <a:off x="2743560" y="1733040"/>
            <a:ext cx="1112760" cy="257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B85042"/>
                </a:solidFill>
                <a:effectLst/>
                <a:uFillTx/>
                <a:latin typeface="Calibri"/>
                <a:ea typeface="Calibri"/>
              </a:rPr>
              <a:t>3</a:t>
            </a:r>
            <a:endParaRPr lang="en-US" sz="1100" b="0" u="none" strike="noStrike">
              <a:solidFill>
                <a:srgbClr val="000000"/>
              </a:solidFill>
              <a:effectLst/>
              <a:uFillTx/>
              <a:latin typeface="Arial"/>
            </a:endParaRPr>
          </a:p>
        </p:txBody>
      </p:sp>
      <p:sp>
        <p:nvSpPr>
          <p:cNvPr id="294" name="Text 14"/>
          <p:cNvSpPr/>
          <p:nvPr/>
        </p:nvSpPr>
        <p:spPr>
          <a:xfrm>
            <a:off x="2783520" y="2011320"/>
            <a:ext cx="1033200" cy="41652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050" b="1" u="none" strike="noStrike">
                <a:solidFill>
                  <a:srgbClr val="2B2420"/>
                </a:solidFill>
                <a:effectLst/>
                <a:uFillTx/>
                <a:latin typeface="Calibri"/>
                <a:ea typeface="Calibri"/>
              </a:rPr>
              <a:t>Code Quality</a:t>
            </a:r>
            <a:endParaRPr lang="en-US" sz="1050" b="0" u="none" strike="noStrike">
              <a:solidFill>
                <a:srgbClr val="000000"/>
              </a:solidFill>
              <a:effectLst/>
              <a:uFillTx/>
              <a:latin typeface="Arial"/>
            </a:endParaRPr>
          </a:p>
        </p:txBody>
      </p:sp>
      <p:sp>
        <p:nvSpPr>
          <p:cNvPr id="295" name="Text 15"/>
          <p:cNvSpPr/>
          <p:nvPr/>
        </p:nvSpPr>
        <p:spPr>
          <a:xfrm>
            <a:off x="2773800" y="2448720"/>
            <a:ext cx="1052640" cy="416880"/>
          </a:xfrm>
          <a:prstGeom prst="rect">
            <a:avLst/>
          </a:prstGeom>
          <a:noFill/>
          <a:ln w="0">
            <a:noFill/>
          </a:ln>
        </p:spPr>
        <p:style>
          <a:lnRef idx="0"/>
          <a:fillRef idx="0"/>
          <a:effectRef idx="0"/>
          <a:fontRef idx="minor"/>
        </p:style>
        <p:txBody>
          <a:bodyPr lIns="0" tIns="0" rIns="0" bIns="0" anchor="ctr">
            <a:noAutofit/>
          </a:bodyPr>
          <a:p>
            <a:pPr algn="ctr" defTabSz="914400">
              <a:lnSpc>
                <a:spcPts val="1001"/>
              </a:lnSpc>
              <a:tabLst>
                <a:tab pos="0" algn="l"/>
              </a:tabLst>
            </a:pPr>
            <a:r>
              <a:rPr lang="en-US" sz="1000" b="1" u="none" strike="noStrike">
                <a:solidFill>
                  <a:srgbClr val="8C8078"/>
                </a:solidFill>
                <a:effectLst/>
                <a:uFillTx/>
                <a:latin typeface="Calibri"/>
                <a:ea typeface="Calibri"/>
              </a:rPr>
              <a:t>Static analysis</a:t>
            </a:r>
            <a:endParaRPr lang="en-US" sz="1000" b="0" u="none" strike="noStrike">
              <a:solidFill>
                <a:srgbClr val="000000"/>
              </a:solidFill>
              <a:effectLst/>
              <a:uFillTx/>
              <a:latin typeface="Arial"/>
            </a:endParaRPr>
          </a:p>
        </p:txBody>
      </p:sp>
      <p:sp>
        <p:nvSpPr>
          <p:cNvPr id="296" name="Shape 16"/>
          <p:cNvSpPr/>
          <p:nvPr/>
        </p:nvSpPr>
        <p:spPr>
          <a:xfrm>
            <a:off x="3861720" y="2269440"/>
            <a:ext cx="99360" cy="360"/>
          </a:xfrm>
          <a:prstGeom prst="line">
            <a:avLst/>
          </a:prstGeom>
          <a:ln w="19050">
            <a:solidFill>
              <a:srgbClr val="8C8078"/>
            </a:solidFill>
            <a:round/>
            <a:tailEnd len="med" type="triangle" w="med"/>
          </a:ln>
        </p:spPr>
        <p:style>
          <a:lnRef idx="0"/>
          <a:fillRef idx="0"/>
          <a:effectRef idx="0"/>
          <a:fontRef idx="minor"/>
        </p:style>
        <p:txBody>
          <a:bodyPr lIns="49680" tIns="-44640" rIns="49680" bIns="-44640" anchor="t" anchorCtr="1">
            <a:noAutofit/>
          </a:bodyPr>
          <a:p>
            <a:endParaRPr lang="en-US" sz="1800" b="0" u="none" strike="noStrike">
              <a:solidFill>
                <a:srgbClr val="000000"/>
              </a:solidFill>
              <a:effectLst/>
              <a:uFillTx/>
              <a:latin typeface="Arial"/>
            </a:endParaRPr>
          </a:p>
        </p:txBody>
      </p:sp>
      <p:sp>
        <p:nvSpPr>
          <p:cNvPr id="297" name="Shape 17"/>
          <p:cNvSpPr/>
          <p:nvPr/>
        </p:nvSpPr>
        <p:spPr>
          <a:xfrm>
            <a:off x="3966840" y="1613520"/>
            <a:ext cx="1112400" cy="1311480"/>
          </a:xfrm>
          <a:prstGeom prst="roundRect">
            <a:avLst>
              <a:gd name="adj" fmla="val 803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8" name="Text 18"/>
          <p:cNvSpPr/>
          <p:nvPr/>
        </p:nvSpPr>
        <p:spPr>
          <a:xfrm>
            <a:off x="3966840" y="1733040"/>
            <a:ext cx="1112400" cy="257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B85042"/>
                </a:solidFill>
                <a:effectLst/>
                <a:uFillTx/>
                <a:latin typeface="Calibri"/>
                <a:ea typeface="Calibri"/>
              </a:rPr>
              <a:t>4</a:t>
            </a:r>
            <a:endParaRPr lang="en-US" sz="1100" b="0" u="none" strike="noStrike">
              <a:solidFill>
                <a:srgbClr val="000000"/>
              </a:solidFill>
              <a:effectLst/>
              <a:uFillTx/>
              <a:latin typeface="Arial"/>
            </a:endParaRPr>
          </a:p>
        </p:txBody>
      </p:sp>
      <p:sp>
        <p:nvSpPr>
          <p:cNvPr id="299" name="Text 19"/>
          <p:cNvSpPr/>
          <p:nvPr/>
        </p:nvSpPr>
        <p:spPr>
          <a:xfrm>
            <a:off x="4006080" y="2011320"/>
            <a:ext cx="1033200" cy="41652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050" b="1" u="none" strike="noStrike">
                <a:solidFill>
                  <a:srgbClr val="2B2420"/>
                </a:solidFill>
                <a:effectLst/>
                <a:uFillTx/>
                <a:latin typeface="Calibri"/>
                <a:ea typeface="Calibri"/>
              </a:rPr>
              <a:t>Package</a:t>
            </a:r>
            <a:endParaRPr lang="en-US" sz="1050" b="0" u="none" strike="noStrike">
              <a:solidFill>
                <a:srgbClr val="000000"/>
              </a:solidFill>
              <a:effectLst/>
              <a:uFillTx/>
              <a:latin typeface="Arial"/>
            </a:endParaRPr>
          </a:p>
        </p:txBody>
      </p:sp>
      <p:sp>
        <p:nvSpPr>
          <p:cNvPr id="300" name="Text 20"/>
          <p:cNvSpPr/>
          <p:nvPr/>
        </p:nvSpPr>
        <p:spPr>
          <a:xfrm>
            <a:off x="3996360" y="2448720"/>
            <a:ext cx="1053000" cy="416880"/>
          </a:xfrm>
          <a:prstGeom prst="rect">
            <a:avLst/>
          </a:prstGeom>
          <a:noFill/>
          <a:ln w="0">
            <a:noFill/>
          </a:ln>
        </p:spPr>
        <p:style>
          <a:lnRef idx="0"/>
          <a:fillRef idx="0"/>
          <a:effectRef idx="0"/>
          <a:fontRef idx="minor"/>
        </p:style>
        <p:txBody>
          <a:bodyPr lIns="0" tIns="0" rIns="0" bIns="0" anchor="ctr">
            <a:noAutofit/>
          </a:bodyPr>
          <a:p>
            <a:pPr algn="ctr" defTabSz="914400">
              <a:lnSpc>
                <a:spcPts val="1001"/>
              </a:lnSpc>
              <a:tabLst>
                <a:tab pos="0" algn="l"/>
              </a:tabLst>
            </a:pPr>
            <a:r>
              <a:rPr lang="en-US" sz="1000" b="1" u="none" strike="noStrike">
                <a:solidFill>
                  <a:srgbClr val="8C8078"/>
                </a:solidFill>
                <a:effectLst/>
                <a:uFillTx/>
                <a:latin typeface="Calibri"/>
                <a:ea typeface="Calibri"/>
              </a:rPr>
              <a:t>Five container images</a:t>
            </a:r>
            <a:endParaRPr lang="en-US" sz="1000" b="0" u="none" strike="noStrike">
              <a:solidFill>
                <a:srgbClr val="000000"/>
              </a:solidFill>
              <a:effectLst/>
              <a:uFillTx/>
              <a:latin typeface="Arial"/>
            </a:endParaRPr>
          </a:p>
        </p:txBody>
      </p:sp>
      <p:sp>
        <p:nvSpPr>
          <p:cNvPr id="301" name="Shape 21"/>
          <p:cNvSpPr/>
          <p:nvPr/>
        </p:nvSpPr>
        <p:spPr>
          <a:xfrm>
            <a:off x="5084640" y="2269440"/>
            <a:ext cx="99720" cy="360"/>
          </a:xfrm>
          <a:prstGeom prst="line">
            <a:avLst/>
          </a:prstGeom>
          <a:ln w="19050">
            <a:solidFill>
              <a:srgbClr val="8C8078"/>
            </a:solidFill>
            <a:round/>
            <a:tailEnd len="med" type="triangle" w="med"/>
          </a:ln>
        </p:spPr>
        <p:style>
          <a:lnRef idx="0"/>
          <a:fillRef idx="0"/>
          <a:effectRef idx="0"/>
          <a:fontRef idx="minor"/>
        </p:style>
        <p:txBody>
          <a:bodyPr lIns="49680" tIns="-44640" rIns="49680" bIns="-44640" anchor="t" anchorCtr="1">
            <a:noAutofit/>
          </a:bodyPr>
          <a:p>
            <a:endParaRPr lang="en-US" sz="1800" b="0" u="none" strike="noStrike">
              <a:solidFill>
                <a:srgbClr val="000000"/>
              </a:solidFill>
              <a:effectLst/>
              <a:uFillTx/>
              <a:latin typeface="Arial"/>
            </a:endParaRPr>
          </a:p>
        </p:txBody>
      </p:sp>
      <p:sp>
        <p:nvSpPr>
          <p:cNvPr id="302" name="Shape 22"/>
          <p:cNvSpPr/>
          <p:nvPr/>
        </p:nvSpPr>
        <p:spPr>
          <a:xfrm>
            <a:off x="5189400" y="1613520"/>
            <a:ext cx="1112400" cy="1311480"/>
          </a:xfrm>
          <a:prstGeom prst="roundRect">
            <a:avLst>
              <a:gd name="adj" fmla="val 803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3" name="Text 23"/>
          <p:cNvSpPr/>
          <p:nvPr/>
        </p:nvSpPr>
        <p:spPr>
          <a:xfrm>
            <a:off x="5189400" y="1733040"/>
            <a:ext cx="1112400" cy="257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B85042"/>
                </a:solidFill>
                <a:effectLst/>
                <a:uFillTx/>
                <a:latin typeface="Calibri"/>
                <a:ea typeface="Calibri"/>
              </a:rPr>
              <a:t>5</a:t>
            </a:r>
            <a:endParaRPr lang="en-US" sz="1100" b="0" u="none" strike="noStrike">
              <a:solidFill>
                <a:srgbClr val="000000"/>
              </a:solidFill>
              <a:effectLst/>
              <a:uFillTx/>
              <a:latin typeface="Arial"/>
            </a:endParaRPr>
          </a:p>
        </p:txBody>
      </p:sp>
      <p:sp>
        <p:nvSpPr>
          <p:cNvPr id="304" name="Text 24"/>
          <p:cNvSpPr/>
          <p:nvPr/>
        </p:nvSpPr>
        <p:spPr>
          <a:xfrm>
            <a:off x="5229000" y="2011320"/>
            <a:ext cx="1033200" cy="41652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050" b="1" u="none" strike="noStrike">
                <a:solidFill>
                  <a:srgbClr val="2B2420"/>
                </a:solidFill>
                <a:effectLst/>
                <a:uFillTx/>
                <a:latin typeface="Calibri"/>
                <a:ea typeface="Calibri"/>
              </a:rPr>
              <a:t>Scan</a:t>
            </a:r>
            <a:endParaRPr lang="en-US" sz="1050" b="0" u="none" strike="noStrike">
              <a:solidFill>
                <a:srgbClr val="000000"/>
              </a:solidFill>
              <a:effectLst/>
              <a:uFillTx/>
              <a:latin typeface="Arial"/>
            </a:endParaRPr>
          </a:p>
        </p:txBody>
      </p:sp>
      <p:sp>
        <p:nvSpPr>
          <p:cNvPr id="305" name="Text 25"/>
          <p:cNvSpPr/>
          <p:nvPr/>
        </p:nvSpPr>
        <p:spPr>
          <a:xfrm>
            <a:off x="5218920" y="2448720"/>
            <a:ext cx="1053000" cy="416880"/>
          </a:xfrm>
          <a:prstGeom prst="rect">
            <a:avLst/>
          </a:prstGeom>
          <a:noFill/>
          <a:ln w="0">
            <a:noFill/>
          </a:ln>
        </p:spPr>
        <p:style>
          <a:lnRef idx="0"/>
          <a:fillRef idx="0"/>
          <a:effectRef idx="0"/>
          <a:fontRef idx="minor"/>
        </p:style>
        <p:txBody>
          <a:bodyPr lIns="0" tIns="0" rIns="0" bIns="0" anchor="ctr">
            <a:noAutofit/>
          </a:bodyPr>
          <a:p>
            <a:pPr algn="ctr" defTabSz="914400">
              <a:lnSpc>
                <a:spcPts val="1001"/>
              </a:lnSpc>
              <a:tabLst>
                <a:tab pos="0" algn="l"/>
              </a:tabLst>
            </a:pPr>
            <a:r>
              <a:rPr lang="en-US" sz="1000" b="1" u="none" strike="noStrike">
                <a:solidFill>
                  <a:srgbClr val="8C8078"/>
                </a:solidFill>
                <a:effectLst/>
                <a:uFillTx/>
                <a:latin typeface="Calibri"/>
                <a:ea typeface="Calibri"/>
              </a:rPr>
              <a:t>Flaws + inventory</a:t>
            </a:r>
            <a:endParaRPr lang="en-US" sz="1000" b="0" u="none" strike="noStrike">
              <a:solidFill>
                <a:srgbClr val="000000"/>
              </a:solidFill>
              <a:effectLst/>
              <a:uFillTx/>
              <a:latin typeface="Arial"/>
            </a:endParaRPr>
          </a:p>
        </p:txBody>
      </p:sp>
      <p:sp>
        <p:nvSpPr>
          <p:cNvPr id="306" name="Shape 26"/>
          <p:cNvSpPr/>
          <p:nvPr/>
        </p:nvSpPr>
        <p:spPr>
          <a:xfrm>
            <a:off x="6307560" y="2269440"/>
            <a:ext cx="99360" cy="360"/>
          </a:xfrm>
          <a:prstGeom prst="line">
            <a:avLst/>
          </a:prstGeom>
          <a:ln w="19050">
            <a:solidFill>
              <a:srgbClr val="8C8078"/>
            </a:solidFill>
            <a:round/>
            <a:tailEnd len="med" type="triangle" w="med"/>
          </a:ln>
        </p:spPr>
        <p:style>
          <a:lnRef idx="0"/>
          <a:fillRef idx="0"/>
          <a:effectRef idx="0"/>
          <a:fontRef idx="minor"/>
        </p:style>
        <p:txBody>
          <a:bodyPr lIns="49680" tIns="-44640" rIns="49680" bIns="-44640" anchor="t" anchorCtr="1">
            <a:noAutofit/>
          </a:bodyPr>
          <a:p>
            <a:endParaRPr lang="en-US" sz="1800" b="0" u="none" strike="noStrike">
              <a:solidFill>
                <a:srgbClr val="000000"/>
              </a:solidFill>
              <a:effectLst/>
              <a:uFillTx/>
              <a:latin typeface="Arial"/>
            </a:endParaRPr>
          </a:p>
        </p:txBody>
      </p:sp>
      <p:sp>
        <p:nvSpPr>
          <p:cNvPr id="307" name="Shape 27"/>
          <p:cNvSpPr/>
          <p:nvPr/>
        </p:nvSpPr>
        <p:spPr>
          <a:xfrm>
            <a:off x="6411960" y="1613520"/>
            <a:ext cx="1112760" cy="1311480"/>
          </a:xfrm>
          <a:prstGeom prst="roundRect">
            <a:avLst>
              <a:gd name="adj" fmla="val 803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8" name="Text 28"/>
          <p:cNvSpPr/>
          <p:nvPr/>
        </p:nvSpPr>
        <p:spPr>
          <a:xfrm>
            <a:off x="6411960" y="1733040"/>
            <a:ext cx="1112760" cy="257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B85042"/>
                </a:solidFill>
                <a:effectLst/>
                <a:uFillTx/>
                <a:latin typeface="Calibri"/>
                <a:ea typeface="Calibri"/>
              </a:rPr>
              <a:t>6</a:t>
            </a:r>
            <a:endParaRPr lang="en-US" sz="1100" b="0" u="none" strike="noStrike">
              <a:solidFill>
                <a:srgbClr val="000000"/>
              </a:solidFill>
              <a:effectLst/>
              <a:uFillTx/>
              <a:latin typeface="Arial"/>
            </a:endParaRPr>
          </a:p>
        </p:txBody>
      </p:sp>
      <p:sp>
        <p:nvSpPr>
          <p:cNvPr id="309" name="Text 29"/>
          <p:cNvSpPr/>
          <p:nvPr/>
        </p:nvSpPr>
        <p:spPr>
          <a:xfrm>
            <a:off x="6451920" y="2011320"/>
            <a:ext cx="1033200" cy="41652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050" b="1" u="none" strike="noStrike">
                <a:solidFill>
                  <a:srgbClr val="2B2420"/>
                </a:solidFill>
                <a:effectLst/>
                <a:uFillTx/>
                <a:latin typeface="Calibri"/>
                <a:ea typeface="Calibri"/>
              </a:rPr>
              <a:t>Authenticate</a:t>
            </a:r>
            <a:endParaRPr lang="en-US" sz="1050" b="0" u="none" strike="noStrike">
              <a:solidFill>
                <a:srgbClr val="000000"/>
              </a:solidFill>
              <a:effectLst/>
              <a:uFillTx/>
              <a:latin typeface="Arial"/>
            </a:endParaRPr>
          </a:p>
        </p:txBody>
      </p:sp>
      <p:sp>
        <p:nvSpPr>
          <p:cNvPr id="310" name="Text 30"/>
          <p:cNvSpPr/>
          <p:nvPr/>
        </p:nvSpPr>
        <p:spPr>
          <a:xfrm>
            <a:off x="6441480" y="2448720"/>
            <a:ext cx="1053000" cy="416880"/>
          </a:xfrm>
          <a:prstGeom prst="rect">
            <a:avLst/>
          </a:prstGeom>
          <a:noFill/>
          <a:ln w="0">
            <a:noFill/>
          </a:ln>
        </p:spPr>
        <p:style>
          <a:lnRef idx="0"/>
          <a:fillRef idx="0"/>
          <a:effectRef idx="0"/>
          <a:fontRef idx="minor"/>
        </p:style>
        <p:txBody>
          <a:bodyPr lIns="0" tIns="0" rIns="0" bIns="0" anchor="ctr">
            <a:noAutofit/>
          </a:bodyPr>
          <a:p>
            <a:pPr algn="ctr" defTabSz="914400">
              <a:lnSpc>
                <a:spcPts val="1001"/>
              </a:lnSpc>
              <a:tabLst>
                <a:tab pos="0" algn="l"/>
              </a:tabLst>
            </a:pPr>
            <a:r>
              <a:rPr lang="en-US" sz="1000" b="1" u="none" strike="noStrike">
                <a:solidFill>
                  <a:srgbClr val="8C8078"/>
                </a:solidFill>
                <a:effectLst/>
                <a:uFillTx/>
                <a:latin typeface="Calibri"/>
                <a:ea typeface="Calibri"/>
              </a:rPr>
              <a:t>Registry access</a:t>
            </a:r>
            <a:endParaRPr lang="en-US" sz="1000" b="0" u="none" strike="noStrike">
              <a:solidFill>
                <a:srgbClr val="000000"/>
              </a:solidFill>
              <a:effectLst/>
              <a:uFillTx/>
              <a:latin typeface="Arial"/>
            </a:endParaRPr>
          </a:p>
        </p:txBody>
      </p:sp>
      <p:sp>
        <p:nvSpPr>
          <p:cNvPr id="311" name="Shape 31"/>
          <p:cNvSpPr/>
          <p:nvPr/>
        </p:nvSpPr>
        <p:spPr>
          <a:xfrm>
            <a:off x="298440" y="3154320"/>
            <a:ext cx="1112760" cy="1311480"/>
          </a:xfrm>
          <a:prstGeom prst="roundRect">
            <a:avLst>
              <a:gd name="adj" fmla="val 803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2" name="Text 32"/>
          <p:cNvSpPr/>
          <p:nvPr/>
        </p:nvSpPr>
        <p:spPr>
          <a:xfrm>
            <a:off x="298440" y="3273840"/>
            <a:ext cx="1112760" cy="257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B85042"/>
                </a:solidFill>
                <a:effectLst/>
                <a:uFillTx/>
                <a:latin typeface="Calibri"/>
                <a:ea typeface="Calibri"/>
              </a:rPr>
              <a:t>7</a:t>
            </a:r>
            <a:endParaRPr lang="en-US" sz="1100" b="0" u="none" strike="noStrike">
              <a:solidFill>
                <a:srgbClr val="000000"/>
              </a:solidFill>
              <a:effectLst/>
              <a:uFillTx/>
              <a:latin typeface="Arial"/>
            </a:endParaRPr>
          </a:p>
        </p:txBody>
      </p:sp>
      <p:sp>
        <p:nvSpPr>
          <p:cNvPr id="313" name="Text 33"/>
          <p:cNvSpPr/>
          <p:nvPr/>
        </p:nvSpPr>
        <p:spPr>
          <a:xfrm>
            <a:off x="338400" y="3551760"/>
            <a:ext cx="1033200" cy="41688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050" b="1" u="none" strike="noStrike">
                <a:solidFill>
                  <a:srgbClr val="2B2420"/>
                </a:solidFill>
                <a:effectLst/>
                <a:uFillTx/>
                <a:latin typeface="Calibri"/>
                <a:ea typeface="Calibri"/>
              </a:rPr>
              <a:t>Tag</a:t>
            </a:r>
            <a:endParaRPr lang="en-US" sz="1050" b="0" u="none" strike="noStrike">
              <a:solidFill>
                <a:srgbClr val="000000"/>
              </a:solidFill>
              <a:effectLst/>
              <a:uFillTx/>
              <a:latin typeface="Arial"/>
            </a:endParaRPr>
          </a:p>
        </p:txBody>
      </p:sp>
      <p:sp>
        <p:nvSpPr>
          <p:cNvPr id="314" name="Text 34"/>
          <p:cNvSpPr/>
          <p:nvPr/>
        </p:nvSpPr>
        <p:spPr>
          <a:xfrm>
            <a:off x="328320" y="3989520"/>
            <a:ext cx="1052640" cy="416880"/>
          </a:xfrm>
          <a:prstGeom prst="rect">
            <a:avLst/>
          </a:prstGeom>
          <a:noFill/>
          <a:ln w="0">
            <a:noFill/>
          </a:ln>
        </p:spPr>
        <p:style>
          <a:lnRef idx="0"/>
          <a:fillRef idx="0"/>
          <a:effectRef idx="0"/>
          <a:fontRef idx="minor"/>
        </p:style>
        <p:txBody>
          <a:bodyPr lIns="0" tIns="0" rIns="0" bIns="0" anchor="ctr">
            <a:noAutofit/>
          </a:bodyPr>
          <a:p>
            <a:pPr algn="ctr" defTabSz="914400">
              <a:lnSpc>
                <a:spcPts val="1001"/>
              </a:lnSpc>
              <a:tabLst>
                <a:tab pos="0" algn="l"/>
              </a:tabLst>
            </a:pPr>
            <a:r>
              <a:rPr lang="en-US" sz="1000" b="1" u="none" strike="noStrike">
                <a:solidFill>
                  <a:srgbClr val="8C8078"/>
                </a:solidFill>
                <a:effectLst/>
                <a:uFillTx/>
                <a:latin typeface="Calibri"/>
                <a:ea typeface="Calibri"/>
              </a:rPr>
              <a:t>Label by commit</a:t>
            </a:r>
            <a:endParaRPr lang="en-US" sz="1000" b="0" u="none" strike="noStrike">
              <a:solidFill>
                <a:srgbClr val="000000"/>
              </a:solidFill>
              <a:effectLst/>
              <a:uFillTx/>
              <a:latin typeface="Arial"/>
            </a:endParaRPr>
          </a:p>
        </p:txBody>
      </p:sp>
      <p:sp>
        <p:nvSpPr>
          <p:cNvPr id="315" name="Shape 35"/>
          <p:cNvSpPr/>
          <p:nvPr/>
        </p:nvSpPr>
        <p:spPr>
          <a:xfrm>
            <a:off x="1416600" y="3810240"/>
            <a:ext cx="99360" cy="360"/>
          </a:xfrm>
          <a:prstGeom prst="line">
            <a:avLst/>
          </a:prstGeom>
          <a:ln w="19050">
            <a:solidFill>
              <a:srgbClr val="8C8078"/>
            </a:solidFill>
            <a:round/>
            <a:tailEnd len="med" type="triangle" w="med"/>
          </a:ln>
        </p:spPr>
        <p:style>
          <a:lnRef idx="0"/>
          <a:fillRef idx="0"/>
          <a:effectRef idx="0"/>
          <a:fontRef idx="minor"/>
        </p:style>
        <p:txBody>
          <a:bodyPr lIns="49680" tIns="-44640" rIns="49680" bIns="-44640" anchor="t" anchorCtr="1">
            <a:noAutofit/>
          </a:bodyPr>
          <a:p>
            <a:endParaRPr lang="en-US" sz="1800" b="0" u="none" strike="noStrike">
              <a:solidFill>
                <a:srgbClr val="000000"/>
              </a:solidFill>
              <a:effectLst/>
              <a:uFillTx/>
              <a:latin typeface="Arial"/>
            </a:endParaRPr>
          </a:p>
        </p:txBody>
      </p:sp>
      <p:sp>
        <p:nvSpPr>
          <p:cNvPr id="316" name="Shape 36"/>
          <p:cNvSpPr/>
          <p:nvPr/>
        </p:nvSpPr>
        <p:spPr>
          <a:xfrm>
            <a:off x="1521000" y="3154320"/>
            <a:ext cx="1112760" cy="1311480"/>
          </a:xfrm>
          <a:prstGeom prst="roundRect">
            <a:avLst>
              <a:gd name="adj" fmla="val 803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7" name="Text 37"/>
          <p:cNvSpPr/>
          <p:nvPr/>
        </p:nvSpPr>
        <p:spPr>
          <a:xfrm>
            <a:off x="1521000" y="3273840"/>
            <a:ext cx="1112760" cy="257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B85042"/>
                </a:solidFill>
                <a:effectLst/>
                <a:uFillTx/>
                <a:latin typeface="Calibri"/>
                <a:ea typeface="Calibri"/>
              </a:rPr>
              <a:t>8</a:t>
            </a:r>
            <a:endParaRPr lang="en-US" sz="1100" b="0" u="none" strike="noStrike">
              <a:solidFill>
                <a:srgbClr val="000000"/>
              </a:solidFill>
              <a:effectLst/>
              <a:uFillTx/>
              <a:latin typeface="Arial"/>
            </a:endParaRPr>
          </a:p>
        </p:txBody>
      </p:sp>
      <p:sp>
        <p:nvSpPr>
          <p:cNvPr id="318" name="Text 38"/>
          <p:cNvSpPr/>
          <p:nvPr/>
        </p:nvSpPr>
        <p:spPr>
          <a:xfrm>
            <a:off x="1560960" y="3551760"/>
            <a:ext cx="1033200" cy="41688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050" b="1" u="none" strike="noStrike">
                <a:solidFill>
                  <a:srgbClr val="2B2420"/>
                </a:solidFill>
                <a:effectLst/>
                <a:uFillTx/>
                <a:latin typeface="Calibri"/>
                <a:ea typeface="Calibri"/>
              </a:rPr>
              <a:t>Publish</a:t>
            </a:r>
            <a:endParaRPr lang="en-US" sz="1050" b="0" u="none" strike="noStrike">
              <a:solidFill>
                <a:srgbClr val="000000"/>
              </a:solidFill>
              <a:effectLst/>
              <a:uFillTx/>
              <a:latin typeface="Arial"/>
            </a:endParaRPr>
          </a:p>
        </p:txBody>
      </p:sp>
      <p:sp>
        <p:nvSpPr>
          <p:cNvPr id="319" name="Text 39"/>
          <p:cNvSpPr/>
          <p:nvPr/>
        </p:nvSpPr>
        <p:spPr>
          <a:xfrm>
            <a:off x="1550880" y="3989520"/>
            <a:ext cx="1052640" cy="416880"/>
          </a:xfrm>
          <a:prstGeom prst="rect">
            <a:avLst/>
          </a:prstGeom>
          <a:noFill/>
          <a:ln w="0">
            <a:noFill/>
          </a:ln>
        </p:spPr>
        <p:style>
          <a:lnRef idx="0"/>
          <a:fillRef idx="0"/>
          <a:effectRef idx="0"/>
          <a:fontRef idx="minor"/>
        </p:style>
        <p:txBody>
          <a:bodyPr lIns="0" tIns="0" rIns="0" bIns="0" anchor="ctr">
            <a:noAutofit/>
          </a:bodyPr>
          <a:p>
            <a:pPr algn="ctr" defTabSz="914400">
              <a:lnSpc>
                <a:spcPts val="1001"/>
              </a:lnSpc>
              <a:tabLst>
                <a:tab pos="0" algn="l"/>
              </a:tabLst>
            </a:pPr>
            <a:r>
              <a:rPr lang="en-US" sz="1000" b="1" u="none" strike="noStrike">
                <a:solidFill>
                  <a:srgbClr val="8C8078"/>
                </a:solidFill>
                <a:effectLst/>
                <a:uFillTx/>
                <a:latin typeface="Calibri"/>
                <a:ea typeface="Calibri"/>
              </a:rPr>
              <a:t>Push to registry</a:t>
            </a:r>
            <a:endParaRPr lang="en-US" sz="1000" b="0" u="none" strike="noStrike">
              <a:solidFill>
                <a:srgbClr val="000000"/>
              </a:solidFill>
              <a:effectLst/>
              <a:uFillTx/>
              <a:latin typeface="Arial"/>
            </a:endParaRPr>
          </a:p>
        </p:txBody>
      </p:sp>
      <p:sp>
        <p:nvSpPr>
          <p:cNvPr id="320" name="Shape 40"/>
          <p:cNvSpPr/>
          <p:nvPr/>
        </p:nvSpPr>
        <p:spPr>
          <a:xfrm>
            <a:off x="2639160" y="3810240"/>
            <a:ext cx="99360" cy="360"/>
          </a:xfrm>
          <a:prstGeom prst="line">
            <a:avLst/>
          </a:prstGeom>
          <a:ln w="19050">
            <a:solidFill>
              <a:srgbClr val="8C8078"/>
            </a:solidFill>
            <a:round/>
            <a:tailEnd len="med" type="triangle" w="med"/>
          </a:ln>
        </p:spPr>
        <p:style>
          <a:lnRef idx="0"/>
          <a:fillRef idx="0"/>
          <a:effectRef idx="0"/>
          <a:fontRef idx="minor"/>
        </p:style>
        <p:txBody>
          <a:bodyPr lIns="49680" tIns="-44640" rIns="49680" bIns="-44640" anchor="t" anchorCtr="1">
            <a:noAutofit/>
          </a:bodyPr>
          <a:p>
            <a:endParaRPr lang="en-US" sz="1800" b="0" u="none" strike="noStrike">
              <a:solidFill>
                <a:srgbClr val="000000"/>
              </a:solidFill>
              <a:effectLst/>
              <a:uFillTx/>
              <a:latin typeface="Arial"/>
            </a:endParaRPr>
          </a:p>
        </p:txBody>
      </p:sp>
      <p:sp>
        <p:nvSpPr>
          <p:cNvPr id="321" name="Shape 41"/>
          <p:cNvSpPr/>
          <p:nvPr/>
        </p:nvSpPr>
        <p:spPr>
          <a:xfrm>
            <a:off x="2743560" y="3154320"/>
            <a:ext cx="1112760" cy="1311480"/>
          </a:xfrm>
          <a:prstGeom prst="roundRect">
            <a:avLst>
              <a:gd name="adj" fmla="val 803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2" name="Text 42"/>
          <p:cNvSpPr/>
          <p:nvPr/>
        </p:nvSpPr>
        <p:spPr>
          <a:xfrm>
            <a:off x="2743560" y="3273840"/>
            <a:ext cx="1112760" cy="257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B85042"/>
                </a:solidFill>
                <a:effectLst/>
                <a:uFillTx/>
                <a:latin typeface="Calibri"/>
                <a:ea typeface="Calibri"/>
              </a:rPr>
              <a:t>9</a:t>
            </a:r>
            <a:endParaRPr lang="en-US" sz="1100" b="0" u="none" strike="noStrike">
              <a:solidFill>
                <a:srgbClr val="000000"/>
              </a:solidFill>
              <a:effectLst/>
              <a:uFillTx/>
              <a:latin typeface="Arial"/>
            </a:endParaRPr>
          </a:p>
        </p:txBody>
      </p:sp>
      <p:sp>
        <p:nvSpPr>
          <p:cNvPr id="323" name="Text 43"/>
          <p:cNvSpPr/>
          <p:nvPr/>
        </p:nvSpPr>
        <p:spPr>
          <a:xfrm>
            <a:off x="2783520" y="3551760"/>
            <a:ext cx="1033200" cy="41688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050" b="1" u="none" strike="noStrike">
                <a:solidFill>
                  <a:srgbClr val="2B2420"/>
                </a:solidFill>
                <a:effectLst/>
                <a:uFillTx/>
                <a:latin typeface="Calibri"/>
                <a:ea typeface="Calibri"/>
              </a:rPr>
              <a:t>Verify</a:t>
            </a:r>
            <a:endParaRPr lang="en-US" sz="1050" b="0" u="none" strike="noStrike">
              <a:solidFill>
                <a:srgbClr val="000000"/>
              </a:solidFill>
              <a:effectLst/>
              <a:uFillTx/>
              <a:latin typeface="Arial"/>
            </a:endParaRPr>
          </a:p>
        </p:txBody>
      </p:sp>
      <p:sp>
        <p:nvSpPr>
          <p:cNvPr id="324" name="Text 44"/>
          <p:cNvSpPr/>
          <p:nvPr/>
        </p:nvSpPr>
        <p:spPr>
          <a:xfrm>
            <a:off x="2773800" y="3989520"/>
            <a:ext cx="1052640" cy="416880"/>
          </a:xfrm>
          <a:prstGeom prst="rect">
            <a:avLst/>
          </a:prstGeom>
          <a:noFill/>
          <a:ln w="0">
            <a:noFill/>
          </a:ln>
        </p:spPr>
        <p:style>
          <a:lnRef idx="0"/>
          <a:fillRef idx="0"/>
          <a:effectRef idx="0"/>
          <a:fontRef idx="minor"/>
        </p:style>
        <p:txBody>
          <a:bodyPr lIns="0" tIns="0" rIns="0" bIns="0" anchor="ctr">
            <a:noAutofit/>
          </a:bodyPr>
          <a:p>
            <a:pPr algn="ctr" defTabSz="914400">
              <a:lnSpc>
                <a:spcPts val="1001"/>
              </a:lnSpc>
              <a:tabLst>
                <a:tab pos="0" algn="l"/>
              </a:tabLst>
            </a:pPr>
            <a:r>
              <a:rPr lang="en-US" sz="1000" b="1" u="none" strike="noStrike">
                <a:solidFill>
                  <a:srgbClr val="8C8078"/>
                </a:solidFill>
                <a:effectLst/>
                <a:uFillTx/>
                <a:latin typeface="Calibri"/>
                <a:ea typeface="Calibri"/>
              </a:rPr>
              <a:t>Confirm images</a:t>
            </a:r>
            <a:endParaRPr lang="en-US" sz="1000" b="0" u="none" strike="noStrike">
              <a:solidFill>
                <a:srgbClr val="000000"/>
              </a:solidFill>
              <a:effectLst/>
              <a:uFillTx/>
              <a:latin typeface="Arial"/>
            </a:endParaRPr>
          </a:p>
        </p:txBody>
      </p:sp>
      <p:sp>
        <p:nvSpPr>
          <p:cNvPr id="325" name="Shape 45"/>
          <p:cNvSpPr/>
          <p:nvPr/>
        </p:nvSpPr>
        <p:spPr>
          <a:xfrm>
            <a:off x="3861720" y="3810240"/>
            <a:ext cx="99360" cy="360"/>
          </a:xfrm>
          <a:prstGeom prst="line">
            <a:avLst/>
          </a:prstGeom>
          <a:ln w="19050">
            <a:solidFill>
              <a:srgbClr val="8C8078"/>
            </a:solidFill>
            <a:round/>
            <a:tailEnd len="med" type="triangle" w="med"/>
          </a:ln>
        </p:spPr>
        <p:style>
          <a:lnRef idx="0"/>
          <a:fillRef idx="0"/>
          <a:effectRef idx="0"/>
          <a:fontRef idx="minor"/>
        </p:style>
        <p:txBody>
          <a:bodyPr lIns="49680" tIns="-44640" rIns="49680" bIns="-44640" anchor="t" anchorCtr="1">
            <a:noAutofit/>
          </a:bodyPr>
          <a:p>
            <a:endParaRPr lang="en-US" sz="1800" b="0" u="none" strike="noStrike">
              <a:solidFill>
                <a:srgbClr val="000000"/>
              </a:solidFill>
              <a:effectLst/>
              <a:uFillTx/>
              <a:latin typeface="Arial"/>
            </a:endParaRPr>
          </a:p>
        </p:txBody>
      </p:sp>
      <p:sp>
        <p:nvSpPr>
          <p:cNvPr id="326" name="Shape 46"/>
          <p:cNvSpPr/>
          <p:nvPr/>
        </p:nvSpPr>
        <p:spPr>
          <a:xfrm>
            <a:off x="3966840" y="3154320"/>
            <a:ext cx="1112400" cy="1311480"/>
          </a:xfrm>
          <a:prstGeom prst="roundRect">
            <a:avLst>
              <a:gd name="adj" fmla="val 803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7" name="Text 47"/>
          <p:cNvSpPr/>
          <p:nvPr/>
        </p:nvSpPr>
        <p:spPr>
          <a:xfrm>
            <a:off x="3966840" y="3273840"/>
            <a:ext cx="1112400" cy="257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B85042"/>
                </a:solidFill>
                <a:effectLst/>
                <a:uFillTx/>
                <a:latin typeface="Calibri"/>
                <a:ea typeface="Calibri"/>
              </a:rPr>
              <a:t>10</a:t>
            </a:r>
            <a:endParaRPr lang="en-US" sz="1100" b="0" u="none" strike="noStrike">
              <a:solidFill>
                <a:srgbClr val="000000"/>
              </a:solidFill>
              <a:effectLst/>
              <a:uFillTx/>
              <a:latin typeface="Arial"/>
            </a:endParaRPr>
          </a:p>
        </p:txBody>
      </p:sp>
      <p:sp>
        <p:nvSpPr>
          <p:cNvPr id="328" name="Text 48"/>
          <p:cNvSpPr/>
          <p:nvPr/>
        </p:nvSpPr>
        <p:spPr>
          <a:xfrm>
            <a:off x="4006080" y="3551760"/>
            <a:ext cx="1033200" cy="41688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050" b="1" u="none" strike="noStrike">
                <a:solidFill>
                  <a:srgbClr val="2B2420"/>
                </a:solidFill>
                <a:effectLst/>
                <a:uFillTx/>
                <a:latin typeface="Calibri"/>
                <a:ea typeface="Calibri"/>
              </a:rPr>
              <a:t>Release</a:t>
            </a:r>
            <a:endParaRPr lang="en-US" sz="1050" b="0" u="none" strike="noStrike">
              <a:solidFill>
                <a:srgbClr val="000000"/>
              </a:solidFill>
              <a:effectLst/>
              <a:uFillTx/>
              <a:latin typeface="Arial"/>
            </a:endParaRPr>
          </a:p>
        </p:txBody>
      </p:sp>
      <p:sp>
        <p:nvSpPr>
          <p:cNvPr id="329" name="Text 49"/>
          <p:cNvSpPr/>
          <p:nvPr/>
        </p:nvSpPr>
        <p:spPr>
          <a:xfrm>
            <a:off x="3996360" y="3989520"/>
            <a:ext cx="1053000" cy="416880"/>
          </a:xfrm>
          <a:prstGeom prst="rect">
            <a:avLst/>
          </a:prstGeom>
          <a:noFill/>
          <a:ln w="0">
            <a:noFill/>
          </a:ln>
        </p:spPr>
        <p:style>
          <a:lnRef idx="0"/>
          <a:fillRef idx="0"/>
          <a:effectRef idx="0"/>
          <a:fontRef idx="minor"/>
        </p:style>
        <p:txBody>
          <a:bodyPr lIns="0" tIns="0" rIns="0" bIns="0" anchor="ctr">
            <a:noAutofit/>
          </a:bodyPr>
          <a:p>
            <a:pPr algn="ctr" defTabSz="914400">
              <a:lnSpc>
                <a:spcPts val="1001"/>
              </a:lnSpc>
              <a:tabLst>
                <a:tab pos="0" algn="l"/>
              </a:tabLst>
            </a:pPr>
            <a:r>
              <a:rPr lang="en-US" sz="1000" b="1" u="none" strike="noStrike">
                <a:solidFill>
                  <a:srgbClr val="8C8078"/>
                </a:solidFill>
                <a:effectLst/>
                <a:uFillTx/>
                <a:latin typeface="Calibri"/>
                <a:ea typeface="Calibri"/>
              </a:rPr>
              <a:t>Deploy to cluster</a:t>
            </a:r>
            <a:endParaRPr lang="en-US" sz="1000" b="0" u="none" strike="noStrike">
              <a:solidFill>
                <a:srgbClr val="000000"/>
              </a:solidFill>
              <a:effectLst/>
              <a:uFillTx/>
              <a:latin typeface="Arial"/>
            </a:endParaRPr>
          </a:p>
        </p:txBody>
      </p:sp>
      <p:sp>
        <p:nvSpPr>
          <p:cNvPr id="330" name="Shape 50"/>
          <p:cNvSpPr/>
          <p:nvPr/>
        </p:nvSpPr>
        <p:spPr>
          <a:xfrm>
            <a:off x="5084640" y="3810240"/>
            <a:ext cx="99720" cy="360"/>
          </a:xfrm>
          <a:prstGeom prst="line">
            <a:avLst/>
          </a:prstGeom>
          <a:ln w="19050">
            <a:solidFill>
              <a:srgbClr val="8C8078"/>
            </a:solidFill>
            <a:round/>
            <a:tailEnd len="med" type="triangle" w="med"/>
          </a:ln>
        </p:spPr>
        <p:style>
          <a:lnRef idx="0"/>
          <a:fillRef idx="0"/>
          <a:effectRef idx="0"/>
          <a:fontRef idx="minor"/>
        </p:style>
        <p:txBody>
          <a:bodyPr lIns="49680" tIns="-44640" rIns="49680" bIns="-44640" anchor="t" anchorCtr="1">
            <a:noAutofit/>
          </a:bodyPr>
          <a:p>
            <a:endParaRPr lang="en-US" sz="1800" b="0" u="none" strike="noStrike">
              <a:solidFill>
                <a:srgbClr val="000000"/>
              </a:solidFill>
              <a:effectLst/>
              <a:uFillTx/>
              <a:latin typeface="Arial"/>
            </a:endParaRPr>
          </a:p>
        </p:txBody>
      </p:sp>
      <p:sp>
        <p:nvSpPr>
          <p:cNvPr id="331" name="Shape 51"/>
          <p:cNvSpPr/>
          <p:nvPr/>
        </p:nvSpPr>
        <p:spPr>
          <a:xfrm>
            <a:off x="5189400" y="3154320"/>
            <a:ext cx="1112400" cy="1311480"/>
          </a:xfrm>
          <a:prstGeom prst="roundRect">
            <a:avLst>
              <a:gd name="adj" fmla="val 803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2" name="Text 52"/>
          <p:cNvSpPr/>
          <p:nvPr/>
        </p:nvSpPr>
        <p:spPr>
          <a:xfrm>
            <a:off x="5189400" y="3273840"/>
            <a:ext cx="1112400" cy="257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B85042"/>
                </a:solidFill>
                <a:effectLst/>
                <a:uFillTx/>
                <a:latin typeface="Calibri"/>
                <a:ea typeface="Calibri"/>
              </a:rPr>
              <a:t>11</a:t>
            </a:r>
            <a:endParaRPr lang="en-US" sz="1100" b="0" u="none" strike="noStrike">
              <a:solidFill>
                <a:srgbClr val="000000"/>
              </a:solidFill>
              <a:effectLst/>
              <a:uFillTx/>
              <a:latin typeface="Arial"/>
            </a:endParaRPr>
          </a:p>
        </p:txBody>
      </p:sp>
      <p:sp>
        <p:nvSpPr>
          <p:cNvPr id="333" name="Text 53"/>
          <p:cNvSpPr/>
          <p:nvPr/>
        </p:nvSpPr>
        <p:spPr>
          <a:xfrm>
            <a:off x="5229000" y="3551760"/>
            <a:ext cx="1033200" cy="41688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050" b="1" u="none" strike="noStrike">
                <a:solidFill>
                  <a:srgbClr val="2B2420"/>
                </a:solidFill>
                <a:effectLst/>
                <a:uFillTx/>
                <a:latin typeface="Calibri"/>
                <a:ea typeface="Calibri"/>
              </a:rPr>
              <a:t>Clean up</a:t>
            </a:r>
            <a:endParaRPr lang="en-US" sz="1050" b="0" u="none" strike="noStrike">
              <a:solidFill>
                <a:srgbClr val="000000"/>
              </a:solidFill>
              <a:effectLst/>
              <a:uFillTx/>
              <a:latin typeface="Arial"/>
            </a:endParaRPr>
          </a:p>
        </p:txBody>
      </p:sp>
      <p:sp>
        <p:nvSpPr>
          <p:cNvPr id="334" name="Text 54"/>
          <p:cNvSpPr/>
          <p:nvPr/>
        </p:nvSpPr>
        <p:spPr>
          <a:xfrm>
            <a:off x="5218920" y="3989520"/>
            <a:ext cx="1053000" cy="416880"/>
          </a:xfrm>
          <a:prstGeom prst="rect">
            <a:avLst/>
          </a:prstGeom>
          <a:noFill/>
          <a:ln w="0">
            <a:noFill/>
          </a:ln>
        </p:spPr>
        <p:style>
          <a:lnRef idx="0"/>
          <a:fillRef idx="0"/>
          <a:effectRef idx="0"/>
          <a:fontRef idx="minor"/>
        </p:style>
        <p:txBody>
          <a:bodyPr lIns="0" tIns="0" rIns="0" bIns="0" anchor="ctr">
            <a:noAutofit/>
          </a:bodyPr>
          <a:p>
            <a:pPr algn="ctr" defTabSz="914400">
              <a:lnSpc>
                <a:spcPts val="1001"/>
              </a:lnSpc>
              <a:tabLst>
                <a:tab pos="0" algn="l"/>
              </a:tabLst>
            </a:pPr>
            <a:r>
              <a:rPr lang="en-US" sz="1000" b="1" u="none" strike="noStrike">
                <a:solidFill>
                  <a:srgbClr val="8C8078"/>
                </a:solidFill>
                <a:effectLst/>
                <a:uFillTx/>
                <a:latin typeface="Calibri"/>
                <a:ea typeface="Calibri"/>
              </a:rPr>
              <a:t>Clear credentials</a:t>
            </a:r>
            <a:endParaRPr lang="en-US" sz="1000" b="0" u="none" strike="noStrike">
              <a:solidFill>
                <a:srgbClr val="000000"/>
              </a:solidFill>
              <a:effectLst/>
              <a:uFillTx/>
              <a:latin typeface="Arial"/>
            </a:endParaRPr>
          </a:p>
        </p:txBody>
      </p:sp>
      <p:sp>
        <p:nvSpPr>
          <p:cNvPr id="335" name="Shape 55"/>
          <p:cNvSpPr/>
          <p:nvPr/>
        </p:nvSpPr>
        <p:spPr>
          <a:xfrm>
            <a:off x="7360920" y="3246120"/>
            <a:ext cx="4159800" cy="1206360"/>
          </a:xfrm>
          <a:prstGeom prst="roundRect">
            <a:avLst>
              <a:gd name="adj" fmla="val 6818"/>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6" name="Text 56"/>
          <p:cNvSpPr/>
          <p:nvPr/>
        </p:nvSpPr>
        <p:spPr>
          <a:xfrm>
            <a:off x="7607880" y="3401640"/>
            <a:ext cx="36568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2B2420"/>
                </a:solidFill>
                <a:effectLst/>
                <a:uFillTx/>
                <a:latin typeface="Calibri"/>
                <a:ea typeface="Calibri"/>
              </a:rPr>
              <a:t>Order is a security control</a:t>
            </a:r>
            <a:endParaRPr lang="en-US" sz="1350" b="0" u="none" strike="noStrike">
              <a:solidFill>
                <a:srgbClr val="000000"/>
              </a:solidFill>
              <a:effectLst/>
              <a:uFillTx/>
              <a:latin typeface="Arial"/>
            </a:endParaRPr>
          </a:p>
        </p:txBody>
      </p:sp>
      <p:sp>
        <p:nvSpPr>
          <p:cNvPr id="337" name="Text 57"/>
          <p:cNvSpPr/>
          <p:nvPr/>
        </p:nvSpPr>
        <p:spPr>
          <a:xfrm>
            <a:off x="7607880" y="3694320"/>
            <a:ext cx="3656880" cy="71244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1" u="none" strike="noStrike">
                <a:solidFill>
                  <a:srgbClr val="5C5148"/>
                </a:solidFill>
                <a:effectLst/>
                <a:uFillTx/>
                <a:latin typeface="Calibri"/>
                <a:ea typeface="Calibri"/>
              </a:rPr>
              <a:t>Scanning happens before the registry is touched — so an image with known vulnerabilities is never published, rather than published and then reported on.</a:t>
            </a:r>
            <a:endParaRPr lang="en-US" sz="1100" b="0" u="none" strike="noStrike">
              <a:solidFill>
                <a:srgbClr val="000000"/>
              </a:solidFill>
              <a:effectLst/>
              <a:uFillTx/>
              <a:latin typeface="Arial"/>
            </a:endParaRPr>
          </a:p>
        </p:txBody>
      </p:sp>
      <p:sp>
        <p:nvSpPr>
          <p:cNvPr id="338" name="Shape 58"/>
          <p:cNvSpPr/>
          <p:nvPr/>
        </p:nvSpPr>
        <p:spPr>
          <a:xfrm>
            <a:off x="640080" y="4846320"/>
            <a:ext cx="10880640" cy="913680"/>
          </a:xfrm>
          <a:prstGeom prst="roundRect">
            <a:avLst>
              <a:gd name="adj" fmla="val 9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9" name="Text 59"/>
          <p:cNvSpPr/>
          <p:nvPr/>
        </p:nvSpPr>
        <p:spPr>
          <a:xfrm>
            <a:off x="960120" y="5074920"/>
            <a:ext cx="10240560" cy="502200"/>
          </a:xfrm>
          <a:prstGeom prst="rect">
            <a:avLst/>
          </a:prstGeom>
          <a:noFill/>
          <a:ln w="0">
            <a:noFill/>
          </a:ln>
        </p:spPr>
        <p:style>
          <a:lnRef idx="0"/>
          <a:fillRef idx="0"/>
          <a:effectRef idx="0"/>
          <a:fontRef idx="minor"/>
        </p:style>
        <p:txBody>
          <a:bodyPr lIns="0" tIns="0" rIns="0" bIns="0" anchor="ctr">
            <a:noAutofit/>
          </a:bodyPr>
          <a:p>
            <a:pPr defTabSz="914400">
              <a:lnSpc>
                <a:spcPts val="1800"/>
              </a:lnSpc>
              <a:tabLst>
                <a:tab pos="0" algn="l"/>
              </a:tabLst>
            </a:pPr>
            <a:r>
              <a:rPr lang="en-US" sz="1300" b="1" u="none" strike="noStrike">
                <a:solidFill>
                  <a:srgbClr val="5C5148"/>
                </a:solidFill>
                <a:effectLst/>
                <a:uFillTx/>
                <a:latin typeface="Calibri"/>
                <a:ea typeface="Calibri"/>
              </a:rPr>
              <a:t>Every build also produces a signed inventory of every component inside each image — the record you need when the next major vulnerability is announced and someone asks whether you are affected.</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340"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DELIVERY · SECURITY</a:t>
            </a:r>
            <a:endParaRPr lang="en-US" sz="1400" b="0" u="none" strike="noStrike">
              <a:solidFill>
                <a:srgbClr val="000000"/>
              </a:solidFill>
              <a:effectLst/>
              <a:uFillTx/>
              <a:latin typeface="Arial"/>
            </a:endParaRPr>
          </a:p>
        </p:txBody>
      </p:sp>
      <p:sp>
        <p:nvSpPr>
          <p:cNvPr id="341"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Two pipelines, deliberately unequal</a:t>
            </a:r>
            <a:endParaRPr lang="en-US" sz="3400" b="0" u="none" strike="noStrike">
              <a:solidFill>
                <a:srgbClr val="000000"/>
              </a:solidFill>
              <a:effectLst/>
              <a:uFillTx/>
              <a:latin typeface="Arial"/>
            </a:endParaRPr>
          </a:p>
        </p:txBody>
      </p:sp>
      <p:sp>
        <p:nvSpPr>
          <p:cNvPr id="342" name="Text 2"/>
          <p:cNvSpPr/>
          <p:nvPr/>
        </p:nvSpPr>
        <p:spPr>
          <a:xfrm>
            <a:off x="640080" y="1353240"/>
            <a:ext cx="1088064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C5148"/>
                </a:solidFill>
                <a:effectLst/>
                <a:uFillTx/>
                <a:latin typeface="Calibri"/>
                <a:ea typeface="Calibri"/>
              </a:rPr>
              <a:t>The system that deploys the application should not be able to reconfigure the cluster.</a:t>
            </a:r>
            <a:endParaRPr lang="en-US" sz="1500" b="0" u="none" strike="noStrike">
              <a:solidFill>
                <a:srgbClr val="000000"/>
              </a:solidFill>
              <a:effectLst/>
              <a:uFillTx/>
              <a:latin typeface="Arial"/>
            </a:endParaRPr>
          </a:p>
        </p:txBody>
      </p:sp>
      <p:sp>
        <p:nvSpPr>
          <p:cNvPr id="343" name="Shape 3"/>
          <p:cNvSpPr/>
          <p:nvPr/>
        </p:nvSpPr>
        <p:spPr>
          <a:xfrm>
            <a:off x="640080" y="2011680"/>
            <a:ext cx="5348520" cy="2742480"/>
          </a:xfrm>
          <a:prstGeom prst="roundRect">
            <a:avLst>
              <a:gd name="adj" fmla="val 3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344" name="Text 4"/>
          <p:cNvSpPr/>
          <p:nvPr/>
        </p:nvSpPr>
        <p:spPr>
          <a:xfrm>
            <a:off x="960120" y="2212920"/>
            <a:ext cx="365688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B2420"/>
                </a:solidFill>
                <a:effectLst/>
                <a:uFillTx/>
                <a:latin typeface="Calibri"/>
                <a:ea typeface="Calibri"/>
              </a:rPr>
              <a:t>Application pipeline</a:t>
            </a:r>
            <a:endParaRPr lang="en-US" sz="1600" b="0" u="none" strike="noStrike">
              <a:solidFill>
                <a:srgbClr val="000000"/>
              </a:solidFill>
              <a:effectLst/>
              <a:uFillTx/>
              <a:latin typeface="Arial"/>
            </a:endParaRPr>
          </a:p>
        </p:txBody>
      </p:sp>
      <p:sp>
        <p:nvSpPr>
          <p:cNvPr id="345" name="Text 5"/>
          <p:cNvSpPr/>
          <p:nvPr/>
        </p:nvSpPr>
        <p:spPr>
          <a:xfrm>
            <a:off x="960120" y="2615040"/>
            <a:ext cx="13708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C8078"/>
                </a:solidFill>
                <a:effectLst/>
                <a:uFillTx/>
                <a:latin typeface="Calibri"/>
                <a:ea typeface="Calibri"/>
              </a:rPr>
              <a:t>Runs on</a:t>
            </a:r>
            <a:endParaRPr lang="en-US" sz="1150" b="0" u="none" strike="noStrike">
              <a:solidFill>
                <a:srgbClr val="000000"/>
              </a:solidFill>
              <a:effectLst/>
              <a:uFillTx/>
              <a:latin typeface="Arial"/>
            </a:endParaRPr>
          </a:p>
        </p:txBody>
      </p:sp>
      <p:sp>
        <p:nvSpPr>
          <p:cNvPr id="346" name="Text 6"/>
          <p:cNvSpPr/>
          <p:nvPr/>
        </p:nvSpPr>
        <p:spPr>
          <a:xfrm>
            <a:off x="2423160" y="2615040"/>
            <a:ext cx="329112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Every code change</a:t>
            </a:r>
            <a:endParaRPr lang="en-US" sz="1250" b="0" u="none" strike="noStrike">
              <a:solidFill>
                <a:srgbClr val="000000"/>
              </a:solidFill>
              <a:effectLst/>
              <a:uFillTx/>
              <a:latin typeface="Arial"/>
            </a:endParaRPr>
          </a:p>
        </p:txBody>
      </p:sp>
      <p:sp>
        <p:nvSpPr>
          <p:cNvPr id="347" name="Text 7"/>
          <p:cNvSpPr/>
          <p:nvPr/>
        </p:nvSpPr>
        <p:spPr>
          <a:xfrm>
            <a:off x="960120" y="3090600"/>
            <a:ext cx="13708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C8078"/>
                </a:solidFill>
                <a:effectLst/>
                <a:uFillTx/>
                <a:latin typeface="Calibri"/>
                <a:ea typeface="Calibri"/>
              </a:rPr>
              <a:t>Can change</a:t>
            </a:r>
            <a:endParaRPr lang="en-US" sz="1150" b="0" u="none" strike="noStrike">
              <a:solidFill>
                <a:srgbClr val="000000"/>
              </a:solidFill>
              <a:effectLst/>
              <a:uFillTx/>
              <a:latin typeface="Arial"/>
            </a:endParaRPr>
          </a:p>
        </p:txBody>
      </p:sp>
      <p:sp>
        <p:nvSpPr>
          <p:cNvPr id="348" name="Text 8"/>
          <p:cNvSpPr/>
          <p:nvPr/>
        </p:nvSpPr>
        <p:spPr>
          <a:xfrm>
            <a:off x="2423160" y="3090600"/>
            <a:ext cx="329112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The application only</a:t>
            </a:r>
            <a:endParaRPr lang="en-US" sz="1250" b="0" u="none" strike="noStrike">
              <a:solidFill>
                <a:srgbClr val="000000"/>
              </a:solidFill>
              <a:effectLst/>
              <a:uFillTx/>
              <a:latin typeface="Arial"/>
            </a:endParaRPr>
          </a:p>
        </p:txBody>
      </p:sp>
      <p:sp>
        <p:nvSpPr>
          <p:cNvPr id="349" name="Text 9"/>
          <p:cNvSpPr/>
          <p:nvPr/>
        </p:nvSpPr>
        <p:spPr>
          <a:xfrm>
            <a:off x="960120" y="3566160"/>
            <a:ext cx="13708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C8078"/>
                </a:solidFill>
                <a:effectLst/>
                <a:uFillTx/>
                <a:latin typeface="Calibri"/>
                <a:ea typeface="Calibri"/>
              </a:rPr>
              <a:t>Cannot</a:t>
            </a:r>
            <a:endParaRPr lang="en-US" sz="1150" b="0" u="none" strike="noStrike">
              <a:solidFill>
                <a:srgbClr val="000000"/>
              </a:solidFill>
              <a:effectLst/>
              <a:uFillTx/>
              <a:latin typeface="Arial"/>
            </a:endParaRPr>
          </a:p>
        </p:txBody>
      </p:sp>
      <p:sp>
        <p:nvSpPr>
          <p:cNvPr id="350" name="Text 10"/>
          <p:cNvSpPr/>
          <p:nvPr/>
        </p:nvSpPr>
        <p:spPr>
          <a:xfrm>
            <a:off x="2423160" y="3566160"/>
            <a:ext cx="329112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Read other teams' secrets</a:t>
            </a:r>
            <a:endParaRPr lang="en-US" sz="1250" b="0" u="none" strike="noStrike">
              <a:solidFill>
                <a:srgbClr val="000000"/>
              </a:solidFill>
              <a:effectLst/>
              <a:uFillTx/>
              <a:latin typeface="Arial"/>
            </a:endParaRPr>
          </a:p>
        </p:txBody>
      </p:sp>
      <p:sp>
        <p:nvSpPr>
          <p:cNvPr id="351" name="Text 11"/>
          <p:cNvSpPr/>
          <p:nvPr/>
        </p:nvSpPr>
        <p:spPr>
          <a:xfrm>
            <a:off x="960120" y="4041720"/>
            <a:ext cx="13708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C8078"/>
                </a:solidFill>
                <a:effectLst/>
                <a:uFillTx/>
                <a:latin typeface="Calibri"/>
                <a:ea typeface="Calibri"/>
              </a:rPr>
              <a:t>Cannot</a:t>
            </a:r>
            <a:endParaRPr lang="en-US" sz="1150" b="0" u="none" strike="noStrike">
              <a:solidFill>
                <a:srgbClr val="000000"/>
              </a:solidFill>
              <a:effectLst/>
              <a:uFillTx/>
              <a:latin typeface="Arial"/>
            </a:endParaRPr>
          </a:p>
        </p:txBody>
      </p:sp>
      <p:sp>
        <p:nvSpPr>
          <p:cNvPr id="352" name="Text 12"/>
          <p:cNvSpPr/>
          <p:nvPr/>
        </p:nvSpPr>
        <p:spPr>
          <a:xfrm>
            <a:off x="2423160" y="4041720"/>
            <a:ext cx="329112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Alter cluster configuration</a:t>
            </a:r>
            <a:endParaRPr lang="en-US" sz="1250" b="0" u="none" strike="noStrike">
              <a:solidFill>
                <a:srgbClr val="000000"/>
              </a:solidFill>
              <a:effectLst/>
              <a:uFillTx/>
              <a:latin typeface="Arial"/>
            </a:endParaRPr>
          </a:p>
        </p:txBody>
      </p:sp>
      <p:sp>
        <p:nvSpPr>
          <p:cNvPr id="353" name="Shape 13"/>
          <p:cNvSpPr/>
          <p:nvPr/>
        </p:nvSpPr>
        <p:spPr>
          <a:xfrm>
            <a:off x="6263640" y="2011680"/>
            <a:ext cx="5257080" cy="2742480"/>
          </a:xfrm>
          <a:prstGeom prst="roundRect">
            <a:avLst>
              <a:gd name="adj" fmla="val 3000"/>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354" name="Text 14"/>
          <p:cNvSpPr/>
          <p:nvPr/>
        </p:nvSpPr>
        <p:spPr>
          <a:xfrm>
            <a:off x="6583680" y="2212920"/>
            <a:ext cx="365688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85042"/>
                </a:solidFill>
                <a:effectLst/>
                <a:uFillTx/>
                <a:latin typeface="Calibri"/>
                <a:ea typeface="Calibri"/>
              </a:rPr>
              <a:t>Platform pipeline</a:t>
            </a:r>
            <a:endParaRPr lang="en-US" sz="1600" b="0" u="none" strike="noStrike">
              <a:solidFill>
                <a:srgbClr val="000000"/>
              </a:solidFill>
              <a:effectLst/>
              <a:uFillTx/>
              <a:latin typeface="Arial"/>
            </a:endParaRPr>
          </a:p>
        </p:txBody>
      </p:sp>
      <p:sp>
        <p:nvSpPr>
          <p:cNvPr id="355" name="Text 15"/>
          <p:cNvSpPr/>
          <p:nvPr/>
        </p:nvSpPr>
        <p:spPr>
          <a:xfrm>
            <a:off x="6583680" y="2615040"/>
            <a:ext cx="13708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C8078"/>
                </a:solidFill>
                <a:effectLst/>
                <a:uFillTx/>
                <a:latin typeface="Calibri"/>
                <a:ea typeface="Calibri"/>
              </a:rPr>
              <a:t>Runs on</a:t>
            </a:r>
            <a:endParaRPr lang="en-US" sz="1150" b="0" u="none" strike="noStrike">
              <a:solidFill>
                <a:srgbClr val="000000"/>
              </a:solidFill>
              <a:effectLst/>
              <a:uFillTx/>
              <a:latin typeface="Arial"/>
            </a:endParaRPr>
          </a:p>
        </p:txBody>
      </p:sp>
      <p:sp>
        <p:nvSpPr>
          <p:cNvPr id="356" name="Text 16"/>
          <p:cNvSpPr/>
          <p:nvPr/>
        </p:nvSpPr>
        <p:spPr>
          <a:xfrm>
            <a:off x="8046720" y="2615040"/>
            <a:ext cx="31996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A person pressing the button</a:t>
            </a:r>
            <a:endParaRPr lang="en-US" sz="1250" b="0" u="none" strike="noStrike">
              <a:solidFill>
                <a:srgbClr val="000000"/>
              </a:solidFill>
              <a:effectLst/>
              <a:uFillTx/>
              <a:latin typeface="Arial"/>
            </a:endParaRPr>
          </a:p>
        </p:txBody>
      </p:sp>
      <p:sp>
        <p:nvSpPr>
          <p:cNvPr id="357" name="Text 17"/>
          <p:cNvSpPr/>
          <p:nvPr/>
        </p:nvSpPr>
        <p:spPr>
          <a:xfrm>
            <a:off x="6583680" y="3090600"/>
            <a:ext cx="13708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C8078"/>
                </a:solidFill>
                <a:effectLst/>
                <a:uFillTx/>
                <a:latin typeface="Calibri"/>
                <a:ea typeface="Calibri"/>
              </a:rPr>
              <a:t>Requires</a:t>
            </a:r>
            <a:endParaRPr lang="en-US" sz="1150" b="0" u="none" strike="noStrike">
              <a:solidFill>
                <a:srgbClr val="000000"/>
              </a:solidFill>
              <a:effectLst/>
              <a:uFillTx/>
              <a:latin typeface="Arial"/>
            </a:endParaRPr>
          </a:p>
        </p:txBody>
      </p:sp>
      <p:sp>
        <p:nvSpPr>
          <p:cNvPr id="358" name="Text 18"/>
          <p:cNvSpPr/>
          <p:nvPr/>
        </p:nvSpPr>
        <p:spPr>
          <a:xfrm>
            <a:off x="8046720" y="3090600"/>
            <a:ext cx="31996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Explicit approval</a:t>
            </a:r>
            <a:endParaRPr lang="en-US" sz="1250" b="0" u="none" strike="noStrike">
              <a:solidFill>
                <a:srgbClr val="000000"/>
              </a:solidFill>
              <a:effectLst/>
              <a:uFillTx/>
              <a:latin typeface="Arial"/>
            </a:endParaRPr>
          </a:p>
        </p:txBody>
      </p:sp>
      <p:sp>
        <p:nvSpPr>
          <p:cNvPr id="359" name="Text 19"/>
          <p:cNvSpPr/>
          <p:nvPr/>
        </p:nvSpPr>
        <p:spPr>
          <a:xfrm>
            <a:off x="6583680" y="3566160"/>
            <a:ext cx="13708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C8078"/>
                </a:solidFill>
                <a:effectLst/>
                <a:uFillTx/>
                <a:latin typeface="Calibri"/>
                <a:ea typeface="Calibri"/>
              </a:rPr>
              <a:t>Borrows</a:t>
            </a:r>
            <a:endParaRPr lang="en-US" sz="1150" b="0" u="none" strike="noStrike">
              <a:solidFill>
                <a:srgbClr val="000000"/>
              </a:solidFill>
              <a:effectLst/>
              <a:uFillTx/>
              <a:latin typeface="Arial"/>
            </a:endParaRPr>
          </a:p>
        </p:txBody>
      </p:sp>
      <p:sp>
        <p:nvSpPr>
          <p:cNvPr id="360" name="Text 20"/>
          <p:cNvSpPr/>
          <p:nvPr/>
        </p:nvSpPr>
        <p:spPr>
          <a:xfrm>
            <a:off x="8046720" y="3566160"/>
            <a:ext cx="31996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Wider access, for one hour</a:t>
            </a:r>
            <a:endParaRPr lang="en-US" sz="1250" b="0" u="none" strike="noStrike">
              <a:solidFill>
                <a:srgbClr val="000000"/>
              </a:solidFill>
              <a:effectLst/>
              <a:uFillTx/>
              <a:latin typeface="Arial"/>
            </a:endParaRPr>
          </a:p>
        </p:txBody>
      </p:sp>
      <p:sp>
        <p:nvSpPr>
          <p:cNvPr id="361" name="Text 21"/>
          <p:cNvSpPr/>
          <p:nvPr/>
        </p:nvSpPr>
        <p:spPr>
          <a:xfrm>
            <a:off x="6583680" y="4041720"/>
            <a:ext cx="13708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C8078"/>
                </a:solidFill>
                <a:effectLst/>
                <a:uFillTx/>
                <a:latin typeface="Calibri"/>
                <a:ea typeface="Calibri"/>
              </a:rPr>
              <a:t>Records</a:t>
            </a:r>
            <a:endParaRPr lang="en-US" sz="1150" b="0" u="none" strike="noStrike">
              <a:solidFill>
                <a:srgbClr val="000000"/>
              </a:solidFill>
              <a:effectLst/>
              <a:uFillTx/>
              <a:latin typeface="Arial"/>
            </a:endParaRPr>
          </a:p>
        </p:txBody>
      </p:sp>
      <p:sp>
        <p:nvSpPr>
          <p:cNvPr id="362" name="Text 22"/>
          <p:cNvSpPr/>
          <p:nvPr/>
        </p:nvSpPr>
        <p:spPr>
          <a:xfrm>
            <a:off x="8046720" y="4041720"/>
            <a:ext cx="31996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Who, when, which build</a:t>
            </a:r>
            <a:endParaRPr lang="en-US" sz="1250" b="0" u="none" strike="noStrike">
              <a:solidFill>
                <a:srgbClr val="000000"/>
              </a:solidFill>
              <a:effectLst/>
              <a:uFillTx/>
              <a:latin typeface="Arial"/>
            </a:endParaRPr>
          </a:p>
        </p:txBody>
      </p:sp>
      <p:sp>
        <p:nvSpPr>
          <p:cNvPr id="363" name="Shape 23"/>
          <p:cNvSpPr/>
          <p:nvPr/>
        </p:nvSpPr>
        <p:spPr>
          <a:xfrm>
            <a:off x="640080" y="4983480"/>
            <a:ext cx="10880640" cy="959400"/>
          </a:xfrm>
          <a:prstGeom prst="roundRect">
            <a:avLst>
              <a:gd name="adj" fmla="val 8571"/>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364" name="Text 24"/>
          <p:cNvSpPr/>
          <p:nvPr/>
        </p:nvSpPr>
        <p:spPr>
          <a:xfrm>
            <a:off x="960120" y="5212080"/>
            <a:ext cx="10240560" cy="52956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350" b="1" u="none" strike="noStrike">
                <a:solidFill>
                  <a:srgbClr val="5C5148"/>
                </a:solidFill>
                <a:effectLst/>
                <a:uFillTx/>
                <a:latin typeface="Calibri"/>
                <a:ea typeface="Calibri"/>
              </a:rPr>
              <a:t>The wider permission is not held — it is requested. A compromised build, or an edited pipeline file, still cannot reach the platform, because that identity simply does not have the access.</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365"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SECURITY · CONCEPT</a:t>
            </a:r>
            <a:endParaRPr lang="en-US" sz="1400" b="0" u="none" strike="noStrike">
              <a:solidFill>
                <a:srgbClr val="000000"/>
              </a:solidFill>
              <a:effectLst/>
              <a:uFillTx/>
              <a:latin typeface="Arial"/>
            </a:endParaRPr>
          </a:p>
        </p:txBody>
      </p:sp>
      <p:sp>
        <p:nvSpPr>
          <p:cNvPr id="366"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Assume any single control will fail</a:t>
            </a:r>
            <a:endParaRPr lang="en-US" sz="3400" b="0" u="none" strike="noStrike">
              <a:solidFill>
                <a:srgbClr val="000000"/>
              </a:solidFill>
              <a:effectLst/>
              <a:uFillTx/>
              <a:latin typeface="Arial"/>
            </a:endParaRPr>
          </a:p>
        </p:txBody>
      </p:sp>
      <p:sp>
        <p:nvSpPr>
          <p:cNvPr id="367" name="Text 2"/>
          <p:cNvSpPr/>
          <p:nvPr/>
        </p:nvSpPr>
        <p:spPr>
          <a:xfrm>
            <a:off x="640080" y="1353240"/>
            <a:ext cx="1088064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C5148"/>
                </a:solidFill>
                <a:effectLst/>
                <a:uFillTx/>
                <a:latin typeface="Calibri"/>
                <a:ea typeface="Calibri"/>
              </a:rPr>
              <a:t>Layered defence means a mistake in one place does not become a breach.</a:t>
            </a:r>
            <a:endParaRPr lang="en-US" sz="1500" b="0" u="none" strike="noStrike">
              <a:solidFill>
                <a:srgbClr val="000000"/>
              </a:solidFill>
              <a:effectLst/>
              <a:uFillTx/>
              <a:latin typeface="Arial"/>
            </a:endParaRPr>
          </a:p>
        </p:txBody>
      </p:sp>
      <p:sp>
        <p:nvSpPr>
          <p:cNvPr id="368" name="Shape 3"/>
          <p:cNvSpPr/>
          <p:nvPr/>
        </p:nvSpPr>
        <p:spPr>
          <a:xfrm>
            <a:off x="640080" y="2030040"/>
            <a:ext cx="10880640" cy="547920"/>
          </a:xfrm>
          <a:prstGeom prst="roundRect">
            <a:avLst>
              <a:gd name="adj" fmla="val 15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369" name="Text 4"/>
          <p:cNvSpPr/>
          <p:nvPr/>
        </p:nvSpPr>
        <p:spPr>
          <a:xfrm>
            <a:off x="932760" y="2167200"/>
            <a:ext cx="26510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5042"/>
                </a:solidFill>
                <a:effectLst/>
                <a:uFillTx/>
                <a:latin typeface="Calibri"/>
                <a:ea typeface="Calibri"/>
              </a:rPr>
              <a:t>Cloud permissions</a:t>
            </a:r>
            <a:endParaRPr lang="en-US" sz="1300" b="0" u="none" strike="noStrike">
              <a:solidFill>
                <a:srgbClr val="000000"/>
              </a:solidFill>
              <a:effectLst/>
              <a:uFillTx/>
              <a:latin typeface="Arial"/>
            </a:endParaRPr>
          </a:p>
        </p:txBody>
      </p:sp>
      <p:sp>
        <p:nvSpPr>
          <p:cNvPr id="370" name="Text 5"/>
          <p:cNvSpPr/>
          <p:nvPr/>
        </p:nvSpPr>
        <p:spPr>
          <a:xfrm>
            <a:off x="3749040" y="21762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Each component holds only the cloud access it needs, and holds no permanent keys</a:t>
            </a:r>
            <a:endParaRPr lang="en-US" sz="1250" b="0" u="none" strike="noStrike">
              <a:solidFill>
                <a:srgbClr val="000000"/>
              </a:solidFill>
              <a:effectLst/>
              <a:uFillTx/>
              <a:latin typeface="Arial"/>
            </a:endParaRPr>
          </a:p>
        </p:txBody>
      </p:sp>
      <p:sp>
        <p:nvSpPr>
          <p:cNvPr id="371" name="Shape 6"/>
          <p:cNvSpPr/>
          <p:nvPr/>
        </p:nvSpPr>
        <p:spPr>
          <a:xfrm>
            <a:off x="640080" y="2651760"/>
            <a:ext cx="10880640" cy="547920"/>
          </a:xfrm>
          <a:prstGeom prst="roundRect">
            <a:avLst>
              <a:gd name="adj" fmla="val 15000"/>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372" name="Text 7"/>
          <p:cNvSpPr/>
          <p:nvPr/>
        </p:nvSpPr>
        <p:spPr>
          <a:xfrm>
            <a:off x="932760" y="2788920"/>
            <a:ext cx="26510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5042"/>
                </a:solidFill>
                <a:effectLst/>
                <a:uFillTx/>
                <a:latin typeface="Calibri"/>
                <a:ea typeface="Calibri"/>
              </a:rPr>
              <a:t>Network position</a:t>
            </a:r>
            <a:endParaRPr lang="en-US" sz="1300" b="0" u="none" strike="noStrike">
              <a:solidFill>
                <a:srgbClr val="000000"/>
              </a:solidFill>
              <a:effectLst/>
              <a:uFillTx/>
              <a:latin typeface="Arial"/>
            </a:endParaRPr>
          </a:p>
        </p:txBody>
      </p:sp>
      <p:sp>
        <p:nvSpPr>
          <p:cNvPr id="373" name="Text 8"/>
          <p:cNvSpPr/>
          <p:nvPr/>
        </p:nvSpPr>
        <p:spPr>
          <a:xfrm>
            <a:off x="3749040" y="279792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Nothing that runs code has a public address; the only entry point is the load balancer</a:t>
            </a:r>
            <a:endParaRPr lang="en-US" sz="1250" b="0" u="none" strike="noStrike">
              <a:solidFill>
                <a:srgbClr val="000000"/>
              </a:solidFill>
              <a:effectLst/>
              <a:uFillTx/>
              <a:latin typeface="Arial"/>
            </a:endParaRPr>
          </a:p>
        </p:txBody>
      </p:sp>
      <p:sp>
        <p:nvSpPr>
          <p:cNvPr id="374" name="Shape 9"/>
          <p:cNvSpPr/>
          <p:nvPr/>
        </p:nvSpPr>
        <p:spPr>
          <a:xfrm>
            <a:off x="640080" y="3273480"/>
            <a:ext cx="10880640" cy="547920"/>
          </a:xfrm>
          <a:prstGeom prst="roundRect">
            <a:avLst>
              <a:gd name="adj" fmla="val 15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375" name="Text 10"/>
          <p:cNvSpPr/>
          <p:nvPr/>
        </p:nvSpPr>
        <p:spPr>
          <a:xfrm>
            <a:off x="932760" y="3410640"/>
            <a:ext cx="26510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5042"/>
                </a:solidFill>
                <a:effectLst/>
                <a:uFillTx/>
                <a:latin typeface="Calibri"/>
                <a:ea typeface="Calibri"/>
              </a:rPr>
              <a:t>Cluster permissions</a:t>
            </a:r>
            <a:endParaRPr lang="en-US" sz="1300" b="0" u="none" strike="noStrike">
              <a:solidFill>
                <a:srgbClr val="000000"/>
              </a:solidFill>
              <a:effectLst/>
              <a:uFillTx/>
              <a:latin typeface="Arial"/>
            </a:endParaRPr>
          </a:p>
        </p:txBody>
      </p:sp>
      <p:sp>
        <p:nvSpPr>
          <p:cNvPr id="376" name="Text 11"/>
          <p:cNvSpPr/>
          <p:nvPr/>
        </p:nvSpPr>
        <p:spPr>
          <a:xfrm>
            <a:off x="3749040" y="34200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The delivery system can change the application and nothing else</a:t>
            </a:r>
            <a:endParaRPr lang="en-US" sz="1250" b="0" u="none" strike="noStrike">
              <a:solidFill>
                <a:srgbClr val="000000"/>
              </a:solidFill>
              <a:effectLst/>
              <a:uFillTx/>
              <a:latin typeface="Arial"/>
            </a:endParaRPr>
          </a:p>
        </p:txBody>
      </p:sp>
      <p:sp>
        <p:nvSpPr>
          <p:cNvPr id="377" name="Shape 12"/>
          <p:cNvSpPr/>
          <p:nvPr/>
        </p:nvSpPr>
        <p:spPr>
          <a:xfrm>
            <a:off x="640080" y="3895200"/>
            <a:ext cx="10880640" cy="547920"/>
          </a:xfrm>
          <a:prstGeom prst="roundRect">
            <a:avLst>
              <a:gd name="adj" fmla="val 15000"/>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378" name="Text 13"/>
          <p:cNvSpPr/>
          <p:nvPr/>
        </p:nvSpPr>
        <p:spPr>
          <a:xfrm>
            <a:off x="932760" y="4032360"/>
            <a:ext cx="26510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5042"/>
                </a:solidFill>
                <a:effectLst/>
                <a:uFillTx/>
                <a:latin typeface="Calibri"/>
                <a:ea typeface="Calibri"/>
              </a:rPr>
              <a:t>Workload identity</a:t>
            </a:r>
            <a:endParaRPr lang="en-US" sz="1300" b="0" u="none" strike="noStrike">
              <a:solidFill>
                <a:srgbClr val="000000"/>
              </a:solidFill>
              <a:effectLst/>
              <a:uFillTx/>
              <a:latin typeface="Arial"/>
            </a:endParaRPr>
          </a:p>
        </p:txBody>
      </p:sp>
      <p:sp>
        <p:nvSpPr>
          <p:cNvPr id="379" name="Text 14"/>
          <p:cNvSpPr/>
          <p:nvPr/>
        </p:nvSpPr>
        <p:spPr>
          <a:xfrm>
            <a:off x="3749040" y="404172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Each service has its own identity rather than sharing a default one</a:t>
            </a:r>
            <a:endParaRPr lang="en-US" sz="1250" b="0" u="none" strike="noStrike">
              <a:solidFill>
                <a:srgbClr val="000000"/>
              </a:solidFill>
              <a:effectLst/>
              <a:uFillTx/>
              <a:latin typeface="Arial"/>
            </a:endParaRPr>
          </a:p>
        </p:txBody>
      </p:sp>
      <p:sp>
        <p:nvSpPr>
          <p:cNvPr id="380" name="Shape 15"/>
          <p:cNvSpPr/>
          <p:nvPr/>
        </p:nvSpPr>
        <p:spPr>
          <a:xfrm>
            <a:off x="640080" y="4517280"/>
            <a:ext cx="10880640" cy="547920"/>
          </a:xfrm>
          <a:prstGeom prst="roundRect">
            <a:avLst>
              <a:gd name="adj" fmla="val 15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381" name="Text 16"/>
          <p:cNvSpPr/>
          <p:nvPr/>
        </p:nvSpPr>
        <p:spPr>
          <a:xfrm>
            <a:off x="932760" y="4654440"/>
            <a:ext cx="26510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5042"/>
                </a:solidFill>
                <a:effectLst/>
                <a:uFillTx/>
                <a:latin typeface="Calibri"/>
                <a:ea typeface="Calibri"/>
              </a:rPr>
              <a:t>Traffic policy</a:t>
            </a:r>
            <a:endParaRPr lang="en-US" sz="1300" b="0" u="none" strike="noStrike">
              <a:solidFill>
                <a:srgbClr val="000000"/>
              </a:solidFill>
              <a:effectLst/>
              <a:uFillTx/>
              <a:latin typeface="Arial"/>
            </a:endParaRPr>
          </a:p>
        </p:txBody>
      </p:sp>
      <p:sp>
        <p:nvSpPr>
          <p:cNvPr id="382" name="Text 17"/>
          <p:cNvSpPr/>
          <p:nvPr/>
        </p:nvSpPr>
        <p:spPr>
          <a:xfrm>
            <a:off x="3749040" y="466344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Communication between services is denied unless explicitly allowed</a:t>
            </a:r>
            <a:endParaRPr lang="en-US" sz="1250" b="0" u="none" strike="noStrike">
              <a:solidFill>
                <a:srgbClr val="000000"/>
              </a:solidFill>
              <a:effectLst/>
              <a:uFillTx/>
              <a:latin typeface="Arial"/>
            </a:endParaRPr>
          </a:p>
        </p:txBody>
      </p:sp>
      <p:sp>
        <p:nvSpPr>
          <p:cNvPr id="383" name="Shape 18"/>
          <p:cNvSpPr/>
          <p:nvPr/>
        </p:nvSpPr>
        <p:spPr>
          <a:xfrm>
            <a:off x="640080" y="5139000"/>
            <a:ext cx="10880640" cy="547920"/>
          </a:xfrm>
          <a:prstGeom prst="roundRect">
            <a:avLst>
              <a:gd name="adj" fmla="val 15000"/>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384" name="Text 19"/>
          <p:cNvSpPr/>
          <p:nvPr/>
        </p:nvSpPr>
        <p:spPr>
          <a:xfrm>
            <a:off x="932760" y="5276160"/>
            <a:ext cx="26510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5042"/>
                </a:solidFill>
                <a:effectLst/>
                <a:uFillTx/>
                <a:latin typeface="Calibri"/>
                <a:ea typeface="Calibri"/>
              </a:rPr>
              <a:t>Container limits</a:t>
            </a:r>
            <a:endParaRPr lang="en-US" sz="1300" b="0" u="none" strike="noStrike">
              <a:solidFill>
                <a:srgbClr val="000000"/>
              </a:solidFill>
              <a:effectLst/>
              <a:uFillTx/>
              <a:latin typeface="Arial"/>
            </a:endParaRPr>
          </a:p>
        </p:txBody>
      </p:sp>
      <p:sp>
        <p:nvSpPr>
          <p:cNvPr id="385" name="Text 20"/>
          <p:cNvSpPr/>
          <p:nvPr/>
        </p:nvSpPr>
        <p:spPr>
          <a:xfrm>
            <a:off x="3749040" y="528516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Containers run without escalation ability and with capabilities removed</a:t>
            </a:r>
            <a:endParaRPr lang="en-US" sz="1250" b="0" u="none" strike="noStrike">
              <a:solidFill>
                <a:srgbClr val="000000"/>
              </a:solidFill>
              <a:effectLst/>
              <a:uFillTx/>
              <a:latin typeface="Arial"/>
            </a:endParaRPr>
          </a:p>
        </p:txBody>
      </p:sp>
      <p:sp>
        <p:nvSpPr>
          <p:cNvPr id="386" name="Shape 21"/>
          <p:cNvSpPr/>
          <p:nvPr/>
        </p:nvSpPr>
        <p:spPr>
          <a:xfrm>
            <a:off x="640080" y="5760720"/>
            <a:ext cx="10880640" cy="547920"/>
          </a:xfrm>
          <a:prstGeom prst="roundRect">
            <a:avLst>
              <a:gd name="adj" fmla="val 15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387" name="Text 22"/>
          <p:cNvSpPr/>
          <p:nvPr/>
        </p:nvSpPr>
        <p:spPr>
          <a:xfrm>
            <a:off x="932760" y="5897880"/>
            <a:ext cx="26510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5042"/>
                </a:solidFill>
                <a:effectLst/>
                <a:uFillTx/>
                <a:latin typeface="Calibri"/>
                <a:ea typeface="Calibri"/>
              </a:rPr>
              <a:t>Secrets</a:t>
            </a:r>
            <a:endParaRPr lang="en-US" sz="1300" b="0" u="none" strike="noStrike">
              <a:solidFill>
                <a:srgbClr val="000000"/>
              </a:solidFill>
              <a:effectLst/>
              <a:uFillTx/>
              <a:latin typeface="Arial"/>
            </a:endParaRPr>
          </a:p>
        </p:txBody>
      </p:sp>
      <p:sp>
        <p:nvSpPr>
          <p:cNvPr id="388" name="Text 23"/>
          <p:cNvSpPr/>
          <p:nvPr/>
        </p:nvSpPr>
        <p:spPr>
          <a:xfrm>
            <a:off x="3749040" y="590688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Credentials are never stored in the repository and are encrypted at rest</a:t>
            </a:r>
            <a:endParaRPr lang="en-US" sz="1250" b="0" u="none" strike="noStrike">
              <a:solidFill>
                <a:srgbClr val="000000"/>
              </a:solidFill>
              <a:effectLst/>
              <a:uFillTx/>
              <a:latin typeface="Arial"/>
            </a:endParaRPr>
          </a:p>
        </p:txBody>
      </p:sp>
      <p:sp>
        <p:nvSpPr>
          <p:cNvPr id="389" name="Text 24"/>
          <p:cNvSpPr/>
          <p:nvPr/>
        </p:nvSpPr>
        <p:spPr>
          <a:xfrm>
            <a:off x="640080" y="6291000"/>
            <a:ext cx="10880640" cy="273600"/>
          </a:xfrm>
          <a:prstGeom prst="rect">
            <a:avLst/>
          </a:prstGeom>
          <a:noFill/>
          <a:ln w="0">
            <a:noFill/>
          </a:ln>
        </p:spPr>
        <p:style>
          <a:lnRef idx="0"/>
          <a:fillRef idx="0"/>
          <a:effectRef idx="0"/>
          <a:fontRef idx="minor"/>
        </p:style>
        <p:txBody>
          <a:bodyPr lIns="0" tIns="0" rIns="0" bIns="0" anchor="ctr">
            <a:noAutofit/>
          </a:bodyPr>
          <a:p>
            <a:endParaRPr lang="en-US" sz="18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390"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SECURITY · ARCHITECTURE</a:t>
            </a:r>
            <a:endParaRPr lang="en-US" sz="1400" b="0" u="none" strike="noStrike">
              <a:solidFill>
                <a:srgbClr val="000000"/>
              </a:solidFill>
              <a:effectLst/>
              <a:uFillTx/>
              <a:latin typeface="Arial"/>
            </a:endParaRPr>
          </a:p>
        </p:txBody>
      </p:sp>
      <p:sp>
        <p:nvSpPr>
          <p:cNvPr id="391"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Borrowed access, not standing access</a:t>
            </a:r>
            <a:endParaRPr lang="en-US" sz="3400" b="0" u="none" strike="noStrike">
              <a:solidFill>
                <a:srgbClr val="000000"/>
              </a:solidFill>
              <a:effectLst/>
              <a:uFillTx/>
              <a:latin typeface="Arial"/>
            </a:endParaRPr>
          </a:p>
        </p:txBody>
      </p:sp>
      <p:sp>
        <p:nvSpPr>
          <p:cNvPr id="392" name="Shape 2"/>
          <p:cNvSpPr/>
          <p:nvPr/>
        </p:nvSpPr>
        <p:spPr>
          <a:xfrm>
            <a:off x="640080" y="1691640"/>
            <a:ext cx="319968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393" name="Text 3"/>
          <p:cNvSpPr/>
          <p:nvPr/>
        </p:nvSpPr>
        <p:spPr>
          <a:xfrm>
            <a:off x="640080" y="1874520"/>
            <a:ext cx="319968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50" b="1" u="none" strike="noStrike">
                <a:solidFill>
                  <a:srgbClr val="2B2420"/>
                </a:solidFill>
                <a:effectLst/>
                <a:uFillTx/>
                <a:latin typeface="Calibri"/>
                <a:ea typeface="Calibri"/>
              </a:rPr>
              <a:t>Build server</a:t>
            </a:r>
            <a:endParaRPr lang="en-US" sz="1450" b="0" u="none" strike="noStrike">
              <a:solidFill>
                <a:srgbClr val="000000"/>
              </a:solidFill>
              <a:effectLst/>
              <a:uFillTx/>
              <a:latin typeface="Arial"/>
            </a:endParaRPr>
          </a:p>
        </p:txBody>
      </p:sp>
      <p:sp>
        <p:nvSpPr>
          <p:cNvPr id="394" name="Text 4"/>
          <p:cNvSpPr/>
          <p:nvPr/>
        </p:nvSpPr>
        <p:spPr>
          <a:xfrm>
            <a:off x="777240" y="2194560"/>
            <a:ext cx="2925360" cy="547920"/>
          </a:xfrm>
          <a:prstGeom prst="rect">
            <a:avLst/>
          </a:prstGeom>
          <a:noFill/>
          <a:ln w="0">
            <a:noFill/>
          </a:ln>
        </p:spPr>
        <p:style>
          <a:lnRef idx="0"/>
          <a:fillRef idx="0"/>
          <a:effectRef idx="0"/>
          <a:fontRef idx="minor"/>
        </p:style>
        <p:txBody>
          <a:bodyPr lIns="0" tIns="0" rIns="0" bIns="0" anchor="ctr">
            <a:noAutofit/>
          </a:bodyPr>
          <a:p>
            <a:pPr algn="ctr" defTabSz="914400">
              <a:lnSpc>
                <a:spcPts val="1500"/>
              </a:lnSpc>
              <a:tabLst>
                <a:tab pos="0" algn="l"/>
              </a:tabLst>
            </a:pPr>
            <a:r>
              <a:rPr lang="en-US" sz="1150" b="1" u="none" strike="noStrike">
                <a:solidFill>
                  <a:srgbClr val="5C5148"/>
                </a:solidFill>
                <a:effectLst/>
                <a:uFillTx/>
                <a:latin typeface="Calibri"/>
                <a:ea typeface="Calibri"/>
              </a:rPr>
              <a:t>Narrow permanent identity</a:t>
            </a:r>
            <a:endParaRPr lang="en-US" sz="1150" b="0" u="none" strike="noStrike">
              <a:solidFill>
                <a:srgbClr val="000000"/>
              </a:solidFill>
              <a:effectLst/>
              <a:uFillTx/>
              <a:latin typeface="Arial"/>
            </a:endParaRPr>
          </a:p>
          <a:p>
            <a:pPr algn="ctr" defTabSz="914400">
              <a:lnSpc>
                <a:spcPts val="1500"/>
              </a:lnSpc>
              <a:tabLst>
                <a:tab pos="0" algn="l"/>
              </a:tabLst>
            </a:pPr>
            <a:r>
              <a:rPr lang="en-US" sz="1150" b="1" u="none" strike="noStrike">
                <a:solidFill>
                  <a:srgbClr val="5C5148"/>
                </a:solidFill>
                <a:effectLst/>
                <a:uFillTx/>
                <a:latin typeface="Calibri"/>
                <a:ea typeface="Calibri"/>
              </a:rPr>
              <a:t>Application namespace only</a:t>
            </a:r>
            <a:endParaRPr lang="en-US" sz="1150" b="0" u="none" strike="noStrike">
              <a:solidFill>
                <a:srgbClr val="000000"/>
              </a:solidFill>
              <a:effectLst/>
              <a:uFillTx/>
              <a:latin typeface="Arial"/>
            </a:endParaRPr>
          </a:p>
        </p:txBody>
      </p:sp>
      <p:sp>
        <p:nvSpPr>
          <p:cNvPr id="395" name="Shape 5"/>
          <p:cNvSpPr/>
          <p:nvPr/>
        </p:nvSpPr>
        <p:spPr>
          <a:xfrm>
            <a:off x="3977640" y="2377440"/>
            <a:ext cx="1097280" cy="360"/>
          </a:xfrm>
          <a:prstGeom prst="line">
            <a:avLst/>
          </a:prstGeom>
          <a:ln w="19050">
            <a:solidFill>
              <a:srgbClr val="B85042"/>
            </a:solidFill>
            <a:round/>
            <a:tailEnd len="med" type="triangle" w="med"/>
          </a:ln>
        </p:spPr>
        <p:style>
          <a:lnRef idx="0"/>
          <a:fillRef idx="0"/>
          <a:effectRef idx="0"/>
          <a:fontRef idx="minor"/>
        </p:style>
        <p:txBody>
          <a:bodyPr lIns="90000" tIns="-44640" rIns="90000" bIns="-44640" anchor="t" anchorCtr="1">
            <a:noAutofit/>
          </a:bodyPr>
          <a:p>
            <a:endParaRPr lang="en-US" sz="1800" b="1" u="none" strike="noStrike">
              <a:solidFill>
                <a:srgbClr val="000000"/>
              </a:solidFill>
              <a:effectLst/>
              <a:uFillTx/>
              <a:latin typeface="Arial"/>
            </a:endParaRPr>
          </a:p>
        </p:txBody>
      </p:sp>
      <p:sp>
        <p:nvSpPr>
          <p:cNvPr id="396" name="Text 6"/>
          <p:cNvSpPr/>
          <p:nvPr/>
        </p:nvSpPr>
        <p:spPr>
          <a:xfrm>
            <a:off x="3858840" y="2450520"/>
            <a:ext cx="1242720" cy="456480"/>
          </a:xfrm>
          <a:prstGeom prst="rect">
            <a:avLst/>
          </a:prstGeom>
          <a:noFill/>
          <a:ln w="0">
            <a:noFill/>
          </a:ln>
        </p:spPr>
        <p:style>
          <a:lnRef idx="0"/>
          <a:fillRef idx="0"/>
          <a:effectRef idx="0"/>
          <a:fontRef idx="minor"/>
        </p:style>
        <p:txBody>
          <a:bodyPr lIns="0" tIns="0" rIns="0" bIns="0" anchor="ctr">
            <a:noAutofit/>
          </a:bodyPr>
          <a:p>
            <a:pPr algn="ctr" defTabSz="914400">
              <a:lnSpc>
                <a:spcPts val="1100"/>
              </a:lnSpc>
              <a:tabLst>
                <a:tab pos="0" algn="l"/>
              </a:tabLst>
            </a:pPr>
            <a:r>
              <a:rPr lang="en-US" sz="900" b="1" i="1" u="none" strike="noStrike">
                <a:solidFill>
                  <a:srgbClr val="B85042"/>
                </a:solidFill>
                <a:effectLst/>
                <a:uFillTx/>
                <a:latin typeface="Calibri"/>
                <a:ea typeface="Calibri"/>
              </a:rPr>
              <a:t>requests access</a:t>
            </a:r>
            <a:endParaRPr lang="en-US" sz="900" b="0" u="none" strike="noStrike">
              <a:solidFill>
                <a:srgbClr val="000000"/>
              </a:solidFill>
              <a:effectLst/>
              <a:uFillTx/>
              <a:latin typeface="Arial"/>
            </a:endParaRPr>
          </a:p>
          <a:p>
            <a:pPr algn="ctr" defTabSz="914400">
              <a:lnSpc>
                <a:spcPts val="1100"/>
              </a:lnSpc>
              <a:tabLst>
                <a:tab pos="0" algn="l"/>
              </a:tabLst>
            </a:pPr>
            <a:r>
              <a:rPr lang="en-US" sz="900" b="1" i="1" u="none" strike="noStrike">
                <a:solidFill>
                  <a:srgbClr val="B85042"/>
                </a:solidFill>
                <a:effectLst/>
                <a:uFillTx/>
                <a:latin typeface="Calibri"/>
                <a:ea typeface="Calibri"/>
              </a:rPr>
              <a:t>for one hour</a:t>
            </a:r>
            <a:endParaRPr lang="en-US" sz="900" b="0" u="none" strike="noStrike">
              <a:solidFill>
                <a:srgbClr val="000000"/>
              </a:solidFill>
              <a:effectLst/>
              <a:uFillTx/>
              <a:latin typeface="Arial"/>
            </a:endParaRPr>
          </a:p>
        </p:txBody>
      </p:sp>
      <p:sp>
        <p:nvSpPr>
          <p:cNvPr id="397" name="Shape 7"/>
          <p:cNvSpPr/>
          <p:nvPr/>
        </p:nvSpPr>
        <p:spPr>
          <a:xfrm>
            <a:off x="5120640" y="1691640"/>
            <a:ext cx="3199680" cy="1370880"/>
          </a:xfrm>
          <a:prstGeom prst="roundRect">
            <a:avLst>
              <a:gd name="adj" fmla="val 6000"/>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398" name="Text 8"/>
          <p:cNvSpPr/>
          <p:nvPr/>
        </p:nvSpPr>
        <p:spPr>
          <a:xfrm>
            <a:off x="5120640" y="1874520"/>
            <a:ext cx="319968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50" b="1" u="none" strike="noStrike">
                <a:solidFill>
                  <a:srgbClr val="B85042"/>
                </a:solidFill>
                <a:effectLst/>
                <a:uFillTx/>
                <a:latin typeface="Calibri"/>
                <a:ea typeface="Calibri"/>
              </a:rPr>
              <a:t>Platform identity</a:t>
            </a:r>
            <a:endParaRPr lang="en-US" sz="1450" b="0" u="none" strike="noStrike">
              <a:solidFill>
                <a:srgbClr val="000000"/>
              </a:solidFill>
              <a:effectLst/>
              <a:uFillTx/>
              <a:latin typeface="Arial"/>
            </a:endParaRPr>
          </a:p>
        </p:txBody>
      </p:sp>
      <p:sp>
        <p:nvSpPr>
          <p:cNvPr id="399" name="Text 9"/>
          <p:cNvSpPr/>
          <p:nvPr/>
        </p:nvSpPr>
        <p:spPr>
          <a:xfrm>
            <a:off x="5257800" y="2194560"/>
            <a:ext cx="2925360" cy="547920"/>
          </a:xfrm>
          <a:prstGeom prst="rect">
            <a:avLst/>
          </a:prstGeom>
          <a:noFill/>
          <a:ln w="0">
            <a:noFill/>
          </a:ln>
        </p:spPr>
        <p:style>
          <a:lnRef idx="0"/>
          <a:fillRef idx="0"/>
          <a:effectRef idx="0"/>
          <a:fontRef idx="minor"/>
        </p:style>
        <p:txBody>
          <a:bodyPr lIns="0" tIns="0" rIns="0" bIns="0" anchor="ctr">
            <a:noAutofit/>
          </a:bodyPr>
          <a:p>
            <a:pPr algn="ctr" defTabSz="914400">
              <a:lnSpc>
                <a:spcPts val="1500"/>
              </a:lnSpc>
              <a:tabLst>
                <a:tab pos="0" algn="l"/>
              </a:tabLst>
            </a:pPr>
            <a:r>
              <a:rPr lang="en-US" sz="1150" b="1" u="none" strike="noStrike">
                <a:solidFill>
                  <a:srgbClr val="5C5148"/>
                </a:solidFill>
                <a:effectLst/>
                <a:uFillTx/>
                <a:latin typeface="Calibri"/>
                <a:ea typeface="Calibri"/>
              </a:rPr>
              <a:t>Wide access, temporary</a:t>
            </a:r>
            <a:endParaRPr lang="en-US" sz="1150" b="0" u="none" strike="noStrike">
              <a:solidFill>
                <a:srgbClr val="000000"/>
              </a:solidFill>
              <a:effectLst/>
              <a:uFillTx/>
              <a:latin typeface="Arial"/>
            </a:endParaRPr>
          </a:p>
          <a:p>
            <a:pPr algn="ctr" defTabSz="914400">
              <a:lnSpc>
                <a:spcPts val="1500"/>
              </a:lnSpc>
              <a:tabLst>
                <a:tab pos="0" algn="l"/>
              </a:tabLst>
            </a:pPr>
            <a:r>
              <a:rPr lang="en-US" sz="1150" b="1" u="none" strike="noStrike">
                <a:solidFill>
                  <a:srgbClr val="5C5148"/>
                </a:solidFill>
                <a:effectLst/>
                <a:uFillTx/>
                <a:latin typeface="Calibri"/>
                <a:ea typeface="Calibri"/>
              </a:rPr>
              <a:t>Every use is logged</a:t>
            </a:r>
            <a:endParaRPr lang="en-US" sz="1150" b="0" u="none" strike="noStrike">
              <a:solidFill>
                <a:srgbClr val="000000"/>
              </a:solidFill>
              <a:effectLst/>
              <a:uFillTx/>
              <a:latin typeface="Arial"/>
            </a:endParaRPr>
          </a:p>
        </p:txBody>
      </p:sp>
      <p:sp>
        <p:nvSpPr>
          <p:cNvPr id="400" name="Shape 10"/>
          <p:cNvSpPr/>
          <p:nvPr/>
        </p:nvSpPr>
        <p:spPr>
          <a:xfrm>
            <a:off x="8366760" y="2377440"/>
            <a:ext cx="777240" cy="360"/>
          </a:xfrm>
          <a:prstGeom prst="line">
            <a:avLst/>
          </a:prstGeom>
          <a:ln w="19050">
            <a:solidFill>
              <a:srgbClr val="8C8078"/>
            </a:solidFill>
            <a:round/>
            <a:tailEnd len="med" type="triangle" w="med"/>
          </a:ln>
        </p:spPr>
        <p:style>
          <a:lnRef idx="0"/>
          <a:fillRef idx="0"/>
          <a:effectRef idx="0"/>
          <a:fontRef idx="minor"/>
        </p:style>
        <p:txBody>
          <a:bodyPr lIns="90000" tIns="-44640" rIns="90000" bIns="-44640" anchor="t" anchorCtr="1">
            <a:noAutofit/>
          </a:bodyPr>
          <a:p>
            <a:endParaRPr lang="en-US" sz="1800" b="1" u="none" strike="noStrike">
              <a:solidFill>
                <a:srgbClr val="000000"/>
              </a:solidFill>
              <a:effectLst/>
              <a:uFillTx/>
              <a:latin typeface="Arial"/>
            </a:endParaRPr>
          </a:p>
        </p:txBody>
      </p:sp>
      <p:sp>
        <p:nvSpPr>
          <p:cNvPr id="401" name="Shape 11"/>
          <p:cNvSpPr/>
          <p:nvPr/>
        </p:nvSpPr>
        <p:spPr>
          <a:xfrm>
            <a:off x="9189720" y="1691640"/>
            <a:ext cx="233100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02" name="Text 12"/>
          <p:cNvSpPr/>
          <p:nvPr/>
        </p:nvSpPr>
        <p:spPr>
          <a:xfrm>
            <a:off x="9189720" y="1874520"/>
            <a:ext cx="23310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50" b="1" u="none" strike="noStrike">
                <a:solidFill>
                  <a:srgbClr val="2B2420"/>
                </a:solidFill>
                <a:effectLst/>
                <a:uFillTx/>
                <a:latin typeface="Calibri"/>
                <a:ea typeface="Calibri"/>
              </a:rPr>
              <a:t>Cluster</a:t>
            </a:r>
            <a:endParaRPr lang="en-US" sz="1450" b="0" u="none" strike="noStrike">
              <a:solidFill>
                <a:srgbClr val="000000"/>
              </a:solidFill>
              <a:effectLst/>
              <a:uFillTx/>
              <a:latin typeface="Arial"/>
            </a:endParaRPr>
          </a:p>
        </p:txBody>
      </p:sp>
      <p:sp>
        <p:nvSpPr>
          <p:cNvPr id="403" name="Text 13"/>
          <p:cNvSpPr/>
          <p:nvPr/>
        </p:nvSpPr>
        <p:spPr>
          <a:xfrm>
            <a:off x="9326880" y="2194560"/>
            <a:ext cx="2056680" cy="547920"/>
          </a:xfrm>
          <a:prstGeom prst="rect">
            <a:avLst/>
          </a:prstGeom>
          <a:noFill/>
          <a:ln w="0">
            <a:noFill/>
          </a:ln>
        </p:spPr>
        <p:style>
          <a:lnRef idx="0"/>
          <a:fillRef idx="0"/>
          <a:effectRef idx="0"/>
          <a:fontRef idx="minor"/>
        </p:style>
        <p:txBody>
          <a:bodyPr lIns="0" tIns="0" rIns="0" bIns="0" anchor="ctr">
            <a:noAutofit/>
          </a:bodyPr>
          <a:p>
            <a:pPr algn="ctr" defTabSz="914400">
              <a:lnSpc>
                <a:spcPts val="1500"/>
              </a:lnSpc>
              <a:tabLst>
                <a:tab pos="0" algn="l"/>
              </a:tabLst>
            </a:pPr>
            <a:r>
              <a:rPr lang="en-US" sz="1150" b="1" u="none" strike="noStrike">
                <a:solidFill>
                  <a:srgbClr val="5C5148"/>
                </a:solidFill>
                <a:effectLst/>
                <a:uFillTx/>
                <a:latin typeface="Calibri"/>
                <a:ea typeface="Calibri"/>
              </a:rPr>
              <a:t>Platform components</a:t>
            </a:r>
            <a:endParaRPr lang="en-US" sz="1150" b="0" u="none" strike="noStrike">
              <a:solidFill>
                <a:srgbClr val="000000"/>
              </a:solidFill>
              <a:effectLst/>
              <a:uFillTx/>
              <a:latin typeface="Arial"/>
            </a:endParaRPr>
          </a:p>
          <a:p>
            <a:pPr algn="ctr" defTabSz="914400">
              <a:lnSpc>
                <a:spcPts val="1500"/>
              </a:lnSpc>
              <a:tabLst>
                <a:tab pos="0" algn="l"/>
              </a:tabLst>
            </a:pPr>
            <a:r>
              <a:rPr lang="en-US" sz="1150" b="1" u="none" strike="noStrike">
                <a:solidFill>
                  <a:srgbClr val="5C5148"/>
                </a:solidFill>
                <a:effectLst/>
                <a:uFillTx/>
                <a:latin typeface="Calibri"/>
                <a:ea typeface="Calibri"/>
              </a:rPr>
              <a:t>installed or updated</a:t>
            </a:r>
            <a:endParaRPr lang="en-US" sz="1150" b="0" u="none" strike="noStrike">
              <a:solidFill>
                <a:srgbClr val="000000"/>
              </a:solidFill>
              <a:effectLst/>
              <a:uFillTx/>
              <a:latin typeface="Arial"/>
            </a:endParaRPr>
          </a:p>
        </p:txBody>
      </p:sp>
      <p:sp>
        <p:nvSpPr>
          <p:cNvPr id="404" name="Shape 14"/>
          <p:cNvSpPr/>
          <p:nvPr/>
        </p:nvSpPr>
        <p:spPr>
          <a:xfrm>
            <a:off x="640080" y="3383280"/>
            <a:ext cx="10880640" cy="776520"/>
          </a:xfrm>
          <a:prstGeom prst="roundRect">
            <a:avLst>
              <a:gd name="adj" fmla="val 10588"/>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05" name="Text 15"/>
          <p:cNvSpPr/>
          <p:nvPr/>
        </p:nvSpPr>
        <p:spPr>
          <a:xfrm>
            <a:off x="932760" y="3502080"/>
            <a:ext cx="301680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5042"/>
                </a:solidFill>
                <a:effectLst/>
                <a:uFillTx/>
                <a:latin typeface="Calibri"/>
                <a:ea typeface="Calibri"/>
              </a:rPr>
              <a:t>What this prevents</a:t>
            </a:r>
            <a:endParaRPr lang="en-US" sz="1300" b="0" u="none" strike="noStrike">
              <a:solidFill>
                <a:srgbClr val="000000"/>
              </a:solidFill>
              <a:effectLst/>
              <a:uFillTx/>
              <a:latin typeface="Arial"/>
            </a:endParaRPr>
          </a:p>
        </p:txBody>
      </p:sp>
      <p:sp>
        <p:nvSpPr>
          <p:cNvPr id="406" name="Text 16"/>
          <p:cNvSpPr/>
          <p:nvPr/>
        </p:nvSpPr>
        <p:spPr>
          <a:xfrm>
            <a:off x="932760" y="3776400"/>
            <a:ext cx="102952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5C5148"/>
                </a:solidFill>
                <a:effectLst/>
                <a:uFillTx/>
                <a:latin typeface="Calibri"/>
                <a:ea typeface="Calibri"/>
              </a:rPr>
              <a:t>The everyday pipeline cannot read secrets belonging to the platform, even if its own definition is modified.</a:t>
            </a:r>
            <a:endParaRPr lang="en-US" sz="1200" b="0" u="none" strike="noStrike">
              <a:solidFill>
                <a:srgbClr val="000000"/>
              </a:solidFill>
              <a:effectLst/>
              <a:uFillTx/>
              <a:latin typeface="Arial"/>
            </a:endParaRPr>
          </a:p>
        </p:txBody>
      </p:sp>
      <p:sp>
        <p:nvSpPr>
          <p:cNvPr id="407" name="Shape 17"/>
          <p:cNvSpPr/>
          <p:nvPr/>
        </p:nvSpPr>
        <p:spPr>
          <a:xfrm>
            <a:off x="640080" y="4251960"/>
            <a:ext cx="10880640" cy="776520"/>
          </a:xfrm>
          <a:prstGeom prst="roundRect">
            <a:avLst>
              <a:gd name="adj" fmla="val 10588"/>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08" name="Text 18"/>
          <p:cNvSpPr/>
          <p:nvPr/>
        </p:nvSpPr>
        <p:spPr>
          <a:xfrm>
            <a:off x="932760" y="4370760"/>
            <a:ext cx="301680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5042"/>
                </a:solidFill>
                <a:effectLst/>
                <a:uFillTx/>
                <a:latin typeface="Calibri"/>
                <a:ea typeface="Calibri"/>
              </a:rPr>
              <a:t>What this provides</a:t>
            </a:r>
            <a:endParaRPr lang="en-US" sz="1300" b="0" u="none" strike="noStrike">
              <a:solidFill>
                <a:srgbClr val="000000"/>
              </a:solidFill>
              <a:effectLst/>
              <a:uFillTx/>
              <a:latin typeface="Arial"/>
            </a:endParaRPr>
          </a:p>
        </p:txBody>
      </p:sp>
      <p:sp>
        <p:nvSpPr>
          <p:cNvPr id="409" name="Text 19"/>
          <p:cNvSpPr/>
          <p:nvPr/>
        </p:nvSpPr>
        <p:spPr>
          <a:xfrm>
            <a:off x="932760" y="4645080"/>
            <a:ext cx="102952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5C5148"/>
                </a:solidFill>
                <a:effectLst/>
                <a:uFillTx/>
                <a:latin typeface="Calibri"/>
                <a:ea typeface="Calibri"/>
              </a:rPr>
              <a:t>Attribution — every use of the wider permission is recorded against a specific build number.</a:t>
            </a:r>
            <a:endParaRPr lang="en-US" sz="1200" b="0" u="none" strike="noStrike">
              <a:solidFill>
                <a:srgbClr val="000000"/>
              </a:solidFill>
              <a:effectLst/>
              <a:uFillTx/>
              <a:latin typeface="Arial"/>
            </a:endParaRPr>
          </a:p>
        </p:txBody>
      </p:sp>
      <p:sp>
        <p:nvSpPr>
          <p:cNvPr id="410" name="Shape 20"/>
          <p:cNvSpPr/>
          <p:nvPr/>
        </p:nvSpPr>
        <p:spPr>
          <a:xfrm>
            <a:off x="640080" y="5120640"/>
            <a:ext cx="10880640" cy="776520"/>
          </a:xfrm>
          <a:prstGeom prst="roundRect">
            <a:avLst>
              <a:gd name="adj" fmla="val 10588"/>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11" name="Text 21"/>
          <p:cNvSpPr/>
          <p:nvPr/>
        </p:nvSpPr>
        <p:spPr>
          <a:xfrm>
            <a:off x="932760" y="5239440"/>
            <a:ext cx="301680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894A"/>
                </a:solidFill>
                <a:effectLst/>
                <a:uFillTx/>
                <a:latin typeface="Calibri"/>
                <a:ea typeface="Calibri"/>
              </a:rPr>
              <a:t>What it does not prevent</a:t>
            </a:r>
            <a:endParaRPr lang="en-US" sz="1300" b="0" u="none" strike="noStrike">
              <a:solidFill>
                <a:srgbClr val="000000"/>
              </a:solidFill>
              <a:effectLst/>
              <a:uFillTx/>
              <a:latin typeface="Arial"/>
            </a:endParaRPr>
          </a:p>
        </p:txBody>
      </p:sp>
      <p:sp>
        <p:nvSpPr>
          <p:cNvPr id="412" name="Text 22"/>
          <p:cNvSpPr/>
          <p:nvPr/>
        </p:nvSpPr>
        <p:spPr>
          <a:xfrm>
            <a:off x="932760" y="5513760"/>
            <a:ext cx="1029528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5C5148"/>
                </a:solidFill>
                <a:effectLst/>
                <a:uFillTx/>
                <a:latin typeface="Calibri"/>
                <a:ea typeface="Calibri"/>
              </a:rPr>
              <a:t>Anyone able to modify the platform pipeline file can still request that access. Closing that requires review rules on the repository, which are not yet configured.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413"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SECURITY · CONCEPT</a:t>
            </a:r>
            <a:endParaRPr lang="en-US" sz="1400" b="0" u="none" strike="noStrike">
              <a:solidFill>
                <a:srgbClr val="000000"/>
              </a:solidFill>
              <a:effectLst/>
              <a:uFillTx/>
              <a:latin typeface="Arial"/>
            </a:endParaRPr>
          </a:p>
        </p:txBody>
      </p:sp>
      <p:sp>
        <p:nvSpPr>
          <p:cNvPr id="414"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Where should a password live?</a:t>
            </a:r>
            <a:endParaRPr lang="en-US" sz="3400" b="0" u="none" strike="noStrike">
              <a:solidFill>
                <a:srgbClr val="000000"/>
              </a:solidFill>
              <a:effectLst/>
              <a:uFillTx/>
              <a:latin typeface="Arial"/>
            </a:endParaRPr>
          </a:p>
        </p:txBody>
      </p:sp>
      <p:sp>
        <p:nvSpPr>
          <p:cNvPr id="415" name="Shape 2"/>
          <p:cNvSpPr/>
          <p:nvPr/>
        </p:nvSpPr>
        <p:spPr>
          <a:xfrm>
            <a:off x="640080" y="1645920"/>
            <a:ext cx="10880640" cy="1325160"/>
          </a:xfrm>
          <a:prstGeom prst="roundRect">
            <a:avLst>
              <a:gd name="adj" fmla="val 6207"/>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16" name="Text 3"/>
          <p:cNvSpPr/>
          <p:nvPr/>
        </p:nvSpPr>
        <p:spPr>
          <a:xfrm>
            <a:off x="960120" y="1828800"/>
            <a:ext cx="383976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2B2420"/>
                </a:solidFill>
                <a:effectLst/>
                <a:uFillTx/>
                <a:latin typeface="Calibri"/>
                <a:ea typeface="Calibri"/>
              </a:rPr>
              <a:t>In the source code</a:t>
            </a:r>
            <a:endParaRPr lang="en-US" sz="1550" b="0" u="none" strike="noStrike">
              <a:solidFill>
                <a:srgbClr val="000000"/>
              </a:solidFill>
              <a:effectLst/>
              <a:uFillTx/>
              <a:latin typeface="Arial"/>
            </a:endParaRPr>
          </a:p>
        </p:txBody>
      </p:sp>
      <p:sp>
        <p:nvSpPr>
          <p:cNvPr id="417" name="Text 4"/>
          <p:cNvSpPr/>
          <p:nvPr/>
        </p:nvSpPr>
        <p:spPr>
          <a:xfrm>
            <a:off x="9692640" y="1847160"/>
            <a:ext cx="146232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1" u="none" strike="noStrike">
                <a:solidFill>
                  <a:srgbClr val="B85042"/>
                </a:solidFill>
                <a:effectLst/>
                <a:uFillTx/>
                <a:latin typeface="Calibri"/>
                <a:ea typeface="Calibri"/>
              </a:rPr>
              <a:t>Unacceptable</a:t>
            </a:r>
            <a:endParaRPr lang="en-US" sz="1200" b="0" u="none" strike="noStrike">
              <a:solidFill>
                <a:srgbClr val="000000"/>
              </a:solidFill>
              <a:effectLst/>
              <a:uFillTx/>
              <a:latin typeface="Arial"/>
            </a:endParaRPr>
          </a:p>
        </p:txBody>
      </p:sp>
      <p:sp>
        <p:nvSpPr>
          <p:cNvPr id="418" name="Text 5"/>
          <p:cNvSpPr/>
          <p:nvPr/>
        </p:nvSpPr>
        <p:spPr>
          <a:xfrm>
            <a:off x="960120" y="2176200"/>
            <a:ext cx="9966240" cy="657720"/>
          </a:xfrm>
          <a:prstGeom prst="rect">
            <a:avLst/>
          </a:prstGeom>
          <a:noFill/>
          <a:ln w="0">
            <a:noFill/>
          </a:ln>
        </p:spPr>
        <p:style>
          <a:lnRef idx="0"/>
          <a:fillRef idx="0"/>
          <a:effectRef idx="0"/>
          <a:fontRef idx="minor"/>
        </p:style>
        <p:txBody>
          <a:bodyPr lIns="0" tIns="0" rIns="0" bIns="0" anchor="ctr">
            <a:noAutofit/>
          </a:bodyPr>
          <a:p>
            <a:pPr defTabSz="914400">
              <a:lnSpc>
                <a:spcPts val="1800"/>
              </a:lnSpc>
              <a:tabLst>
                <a:tab pos="0" algn="l"/>
              </a:tabLst>
            </a:pPr>
            <a:r>
              <a:rPr lang="en-US" sz="1250" b="1" u="none" strike="noStrike">
                <a:solidFill>
                  <a:srgbClr val="5C5148"/>
                </a:solidFill>
                <a:effectLst/>
                <a:uFillTx/>
                <a:latin typeface="Calibri"/>
                <a:ea typeface="Calibri"/>
              </a:rPr>
              <a:t>Every person with repository access has the password. Rotating it means a code change and a release. History keeps it forever, even after deletion.</a:t>
            </a:r>
            <a:endParaRPr lang="en-US" sz="1250" b="0" u="none" strike="noStrike">
              <a:solidFill>
                <a:srgbClr val="000000"/>
              </a:solidFill>
              <a:effectLst/>
              <a:uFillTx/>
              <a:latin typeface="Arial"/>
            </a:endParaRPr>
          </a:p>
        </p:txBody>
      </p:sp>
      <p:sp>
        <p:nvSpPr>
          <p:cNvPr id="419" name="Shape 6"/>
          <p:cNvSpPr/>
          <p:nvPr/>
        </p:nvSpPr>
        <p:spPr>
          <a:xfrm>
            <a:off x="640080" y="3108960"/>
            <a:ext cx="10880640" cy="1325160"/>
          </a:xfrm>
          <a:prstGeom prst="roundRect">
            <a:avLst>
              <a:gd name="adj" fmla="val 6207"/>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20" name="Text 7"/>
          <p:cNvSpPr/>
          <p:nvPr/>
        </p:nvSpPr>
        <p:spPr>
          <a:xfrm>
            <a:off x="960120" y="3291840"/>
            <a:ext cx="383976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2B2420"/>
                </a:solidFill>
                <a:effectLst/>
                <a:uFillTx/>
                <a:latin typeface="Calibri"/>
                <a:ea typeface="Calibri"/>
              </a:rPr>
              <a:t>In the cluster</a:t>
            </a:r>
            <a:endParaRPr lang="en-US" sz="1550" b="0" u="none" strike="noStrike">
              <a:solidFill>
                <a:srgbClr val="000000"/>
              </a:solidFill>
              <a:effectLst/>
              <a:uFillTx/>
              <a:latin typeface="Arial"/>
            </a:endParaRPr>
          </a:p>
        </p:txBody>
      </p:sp>
      <p:sp>
        <p:nvSpPr>
          <p:cNvPr id="421" name="Text 8"/>
          <p:cNvSpPr/>
          <p:nvPr/>
        </p:nvSpPr>
        <p:spPr>
          <a:xfrm>
            <a:off x="9692640" y="3310200"/>
            <a:ext cx="146232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1" u="none" strike="noStrike">
                <a:solidFill>
                  <a:srgbClr val="B8894A"/>
                </a:solidFill>
                <a:effectLst/>
                <a:uFillTx/>
                <a:latin typeface="Calibri"/>
                <a:ea typeface="Calibri"/>
              </a:rPr>
              <a:t>Better</a:t>
            </a:r>
            <a:endParaRPr lang="en-US" sz="1200" b="0" u="none" strike="noStrike">
              <a:solidFill>
                <a:srgbClr val="000000"/>
              </a:solidFill>
              <a:effectLst/>
              <a:uFillTx/>
              <a:latin typeface="Arial"/>
            </a:endParaRPr>
          </a:p>
        </p:txBody>
      </p:sp>
      <p:sp>
        <p:nvSpPr>
          <p:cNvPr id="422" name="Text 9"/>
          <p:cNvSpPr/>
          <p:nvPr/>
        </p:nvSpPr>
        <p:spPr>
          <a:xfrm>
            <a:off x="960120" y="3639240"/>
            <a:ext cx="10240920" cy="657720"/>
          </a:xfrm>
          <a:prstGeom prst="rect">
            <a:avLst/>
          </a:prstGeom>
          <a:noFill/>
          <a:ln w="0">
            <a:noFill/>
          </a:ln>
        </p:spPr>
        <p:style>
          <a:lnRef idx="0"/>
          <a:fillRef idx="0"/>
          <a:effectRef idx="0"/>
          <a:fontRef idx="minor"/>
        </p:style>
        <p:txBody>
          <a:bodyPr lIns="0" tIns="0" rIns="0" bIns="0" anchor="ctr">
            <a:noAutofit/>
          </a:bodyPr>
          <a:p>
            <a:pPr defTabSz="914400">
              <a:lnSpc>
                <a:spcPts val="1800"/>
              </a:lnSpc>
              <a:tabLst>
                <a:tab pos="0" algn="l"/>
              </a:tabLst>
            </a:pPr>
            <a:r>
              <a:rPr lang="en-US" sz="1250" b="1" u="none" strike="noStrike">
                <a:solidFill>
                  <a:srgbClr val="5C5148"/>
                </a:solidFill>
                <a:effectLst/>
                <a:uFillTx/>
                <a:latin typeface="Calibri"/>
                <a:ea typeface="Calibri"/>
              </a:rPr>
              <a:t>Stored separately from code and encrypted at rest. But it is readable by anyone with broad cluster access, never expires, and nothing records who read it.</a:t>
            </a:r>
            <a:endParaRPr lang="en-US" sz="1250" b="0" u="none" strike="noStrike">
              <a:solidFill>
                <a:srgbClr val="000000"/>
              </a:solidFill>
              <a:effectLst/>
              <a:uFillTx/>
              <a:latin typeface="Arial"/>
            </a:endParaRPr>
          </a:p>
        </p:txBody>
      </p:sp>
      <p:sp>
        <p:nvSpPr>
          <p:cNvPr id="423" name="Shape 10"/>
          <p:cNvSpPr/>
          <p:nvPr/>
        </p:nvSpPr>
        <p:spPr>
          <a:xfrm>
            <a:off x="640080" y="4572000"/>
            <a:ext cx="10880640" cy="1325160"/>
          </a:xfrm>
          <a:prstGeom prst="roundRect">
            <a:avLst>
              <a:gd name="adj" fmla="val 6207"/>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24" name="Text 11"/>
          <p:cNvSpPr/>
          <p:nvPr/>
        </p:nvSpPr>
        <p:spPr>
          <a:xfrm>
            <a:off x="960120" y="4754880"/>
            <a:ext cx="383976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2B2420"/>
                </a:solidFill>
                <a:effectLst/>
                <a:uFillTx/>
                <a:latin typeface="Calibri"/>
                <a:ea typeface="Calibri"/>
              </a:rPr>
              <a:t>In a secrets service</a:t>
            </a:r>
            <a:endParaRPr lang="en-US" sz="1550" b="0" u="none" strike="noStrike">
              <a:solidFill>
                <a:srgbClr val="000000"/>
              </a:solidFill>
              <a:effectLst/>
              <a:uFillTx/>
              <a:latin typeface="Arial"/>
            </a:endParaRPr>
          </a:p>
        </p:txBody>
      </p:sp>
      <p:sp>
        <p:nvSpPr>
          <p:cNvPr id="425" name="Text 12"/>
          <p:cNvSpPr/>
          <p:nvPr/>
        </p:nvSpPr>
        <p:spPr>
          <a:xfrm>
            <a:off x="9692640" y="4773240"/>
            <a:ext cx="146232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1" u="none" strike="noStrike">
                <a:solidFill>
                  <a:srgbClr val="6B7F5E"/>
                </a:solidFill>
                <a:effectLst/>
                <a:uFillTx/>
                <a:latin typeface="Calibri"/>
                <a:ea typeface="Calibri"/>
              </a:rPr>
              <a:t>Best</a:t>
            </a:r>
            <a:endParaRPr lang="en-US" sz="1200" b="0" u="none" strike="noStrike">
              <a:solidFill>
                <a:srgbClr val="000000"/>
              </a:solidFill>
              <a:effectLst/>
              <a:uFillTx/>
              <a:latin typeface="Arial"/>
            </a:endParaRPr>
          </a:p>
        </p:txBody>
      </p:sp>
      <p:sp>
        <p:nvSpPr>
          <p:cNvPr id="426" name="Text 13"/>
          <p:cNvSpPr/>
          <p:nvPr/>
        </p:nvSpPr>
        <p:spPr>
          <a:xfrm>
            <a:off x="960120" y="5102280"/>
            <a:ext cx="9966240" cy="657720"/>
          </a:xfrm>
          <a:prstGeom prst="rect">
            <a:avLst/>
          </a:prstGeom>
          <a:noFill/>
          <a:ln w="0">
            <a:noFill/>
          </a:ln>
        </p:spPr>
        <p:style>
          <a:lnRef idx="0"/>
          <a:fillRef idx="0"/>
          <a:effectRef idx="0"/>
          <a:fontRef idx="minor"/>
        </p:style>
        <p:txBody>
          <a:bodyPr lIns="0" tIns="0" rIns="0" bIns="0" anchor="ctr">
            <a:noAutofit/>
          </a:bodyPr>
          <a:p>
            <a:pPr defTabSz="914400">
              <a:lnSpc>
                <a:spcPts val="1800"/>
              </a:lnSpc>
              <a:tabLst>
                <a:tab pos="0" algn="l"/>
              </a:tabLst>
            </a:pPr>
            <a:r>
              <a:rPr lang="en-US" sz="1250" b="1" u="none" strike="noStrike">
                <a:solidFill>
                  <a:srgbClr val="5C5148"/>
                </a:solidFill>
                <a:effectLst/>
                <a:uFillTx/>
                <a:latin typeface="Calibri"/>
                <a:ea typeface="Calibri"/>
              </a:rPr>
              <a:t>Issued on demand to a verified identity, valid for a limited time, scoped to a single path, and every access is recorded.</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427"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SECURITY · IMPLEMENTATION</a:t>
            </a:r>
            <a:endParaRPr lang="en-US" sz="1400" b="0" u="none" strike="noStrike">
              <a:solidFill>
                <a:srgbClr val="000000"/>
              </a:solidFill>
              <a:effectLst/>
              <a:uFillTx/>
              <a:latin typeface="Arial"/>
            </a:endParaRPr>
          </a:p>
        </p:txBody>
      </p:sp>
      <p:sp>
        <p:nvSpPr>
          <p:cNvPr id="428"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Secrets service — what works, and what is unfinished</a:t>
            </a:r>
            <a:endParaRPr lang="en-US" sz="3400" b="0" u="none" strike="noStrike">
              <a:solidFill>
                <a:srgbClr val="000000"/>
              </a:solidFill>
              <a:effectLst/>
              <a:uFillTx/>
              <a:latin typeface="Arial"/>
            </a:endParaRPr>
          </a:p>
        </p:txBody>
      </p:sp>
      <p:sp>
        <p:nvSpPr>
          <p:cNvPr id="429" name="Shape 2"/>
          <p:cNvSpPr/>
          <p:nvPr/>
        </p:nvSpPr>
        <p:spPr>
          <a:xfrm>
            <a:off x="640080" y="1627560"/>
            <a:ext cx="6765840" cy="2148120"/>
          </a:xfrm>
          <a:prstGeom prst="roundRect">
            <a:avLst>
              <a:gd name="adj" fmla="val 3830"/>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0" name="Text 3"/>
          <p:cNvSpPr/>
          <p:nvPr/>
        </p:nvSpPr>
        <p:spPr>
          <a:xfrm>
            <a:off x="914400" y="1783080"/>
            <a:ext cx="45712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2B2420"/>
                </a:solidFill>
                <a:effectLst/>
                <a:uFillTx/>
                <a:latin typeface="Calibri"/>
                <a:ea typeface="Calibri"/>
              </a:rPr>
              <a:t>The identity chain — verified working</a:t>
            </a:r>
            <a:endParaRPr lang="en-US" sz="1400" b="0" u="none" strike="noStrike">
              <a:solidFill>
                <a:srgbClr val="000000"/>
              </a:solidFill>
              <a:effectLst/>
              <a:uFillTx/>
              <a:latin typeface="Arial"/>
            </a:endParaRPr>
          </a:p>
        </p:txBody>
      </p:sp>
      <p:sp>
        <p:nvSpPr>
          <p:cNvPr id="431" name="Shape 4"/>
          <p:cNvSpPr/>
          <p:nvPr/>
        </p:nvSpPr>
        <p:spPr>
          <a:xfrm>
            <a:off x="932760" y="2219040"/>
            <a:ext cx="295200" cy="2952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2" name="Text 5"/>
          <p:cNvSpPr/>
          <p:nvPr/>
        </p:nvSpPr>
        <p:spPr>
          <a:xfrm>
            <a:off x="932760" y="2219040"/>
            <a:ext cx="295200" cy="295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433" name="Text 6"/>
          <p:cNvSpPr/>
          <p:nvPr/>
        </p:nvSpPr>
        <p:spPr>
          <a:xfrm>
            <a:off x="1446480" y="2200680"/>
            <a:ext cx="566856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Service presents its own identity</a:t>
            </a:r>
            <a:endParaRPr lang="en-US" sz="1250" b="0" u="none" strike="noStrike">
              <a:solidFill>
                <a:srgbClr val="000000"/>
              </a:solidFill>
              <a:effectLst/>
              <a:uFillTx/>
              <a:latin typeface="Arial"/>
            </a:endParaRPr>
          </a:p>
        </p:txBody>
      </p:sp>
      <p:sp>
        <p:nvSpPr>
          <p:cNvPr id="434" name="Shape 7"/>
          <p:cNvSpPr/>
          <p:nvPr/>
        </p:nvSpPr>
        <p:spPr>
          <a:xfrm>
            <a:off x="939240" y="2636640"/>
            <a:ext cx="295200" cy="2952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5" name="Text 8"/>
          <p:cNvSpPr/>
          <p:nvPr/>
        </p:nvSpPr>
        <p:spPr>
          <a:xfrm>
            <a:off x="939240" y="2636640"/>
            <a:ext cx="295200" cy="295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436" name="Text 9"/>
          <p:cNvSpPr/>
          <p:nvPr/>
        </p:nvSpPr>
        <p:spPr>
          <a:xfrm>
            <a:off x="1446480" y="2603160"/>
            <a:ext cx="566856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Cluster confirms the identity is genuine</a:t>
            </a:r>
            <a:endParaRPr lang="en-US" sz="1250" b="0" u="none" strike="noStrike">
              <a:solidFill>
                <a:srgbClr val="000000"/>
              </a:solidFill>
              <a:effectLst/>
              <a:uFillTx/>
              <a:latin typeface="Arial"/>
            </a:endParaRPr>
          </a:p>
        </p:txBody>
      </p:sp>
      <p:sp>
        <p:nvSpPr>
          <p:cNvPr id="437" name="Shape 10"/>
          <p:cNvSpPr/>
          <p:nvPr/>
        </p:nvSpPr>
        <p:spPr>
          <a:xfrm>
            <a:off x="951840" y="3014640"/>
            <a:ext cx="295200" cy="2952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8" name="Text 11"/>
          <p:cNvSpPr/>
          <p:nvPr/>
        </p:nvSpPr>
        <p:spPr>
          <a:xfrm>
            <a:off x="951840" y="3014640"/>
            <a:ext cx="295200" cy="295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439" name="Text 12"/>
          <p:cNvSpPr/>
          <p:nvPr/>
        </p:nvSpPr>
        <p:spPr>
          <a:xfrm>
            <a:off x="1446480" y="3005280"/>
            <a:ext cx="566856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Secrets service maps it to one policy</a:t>
            </a:r>
            <a:endParaRPr lang="en-US" sz="1250" b="0" u="none" strike="noStrike">
              <a:solidFill>
                <a:srgbClr val="000000"/>
              </a:solidFill>
              <a:effectLst/>
              <a:uFillTx/>
              <a:latin typeface="Arial"/>
            </a:endParaRPr>
          </a:p>
        </p:txBody>
      </p:sp>
      <p:sp>
        <p:nvSpPr>
          <p:cNvPr id="440" name="Shape 13"/>
          <p:cNvSpPr/>
          <p:nvPr/>
        </p:nvSpPr>
        <p:spPr>
          <a:xfrm>
            <a:off x="951840" y="3393000"/>
            <a:ext cx="295200" cy="2952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1" name="Text 14"/>
          <p:cNvSpPr/>
          <p:nvPr/>
        </p:nvSpPr>
        <p:spPr>
          <a:xfrm>
            <a:off x="951840" y="3393000"/>
            <a:ext cx="295200" cy="295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000000"/>
              </a:solidFill>
              <a:effectLst/>
              <a:uFillTx/>
              <a:latin typeface="Arial"/>
            </a:endParaRPr>
          </a:p>
        </p:txBody>
      </p:sp>
      <p:sp>
        <p:nvSpPr>
          <p:cNvPr id="442" name="Text 15"/>
          <p:cNvSpPr/>
          <p:nvPr/>
        </p:nvSpPr>
        <p:spPr>
          <a:xfrm>
            <a:off x="1446480" y="3407760"/>
            <a:ext cx="566856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Access granted to a single path, for one hour</a:t>
            </a:r>
            <a:endParaRPr lang="en-US" sz="1250" b="0" u="none" strike="noStrike">
              <a:solidFill>
                <a:srgbClr val="000000"/>
              </a:solidFill>
              <a:effectLst/>
              <a:uFillTx/>
              <a:latin typeface="Arial"/>
            </a:endParaRPr>
          </a:p>
        </p:txBody>
      </p:sp>
      <p:sp>
        <p:nvSpPr>
          <p:cNvPr id="443" name="Shape 16"/>
          <p:cNvSpPr/>
          <p:nvPr/>
        </p:nvSpPr>
        <p:spPr>
          <a:xfrm>
            <a:off x="7680960" y="1627560"/>
            <a:ext cx="3839760" cy="2148120"/>
          </a:xfrm>
          <a:prstGeom prst="roundRect">
            <a:avLst>
              <a:gd name="adj" fmla="val 383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4" name="Text 17"/>
          <p:cNvSpPr/>
          <p:nvPr/>
        </p:nvSpPr>
        <p:spPr>
          <a:xfrm>
            <a:off x="7955280" y="1783080"/>
            <a:ext cx="32911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85042"/>
                </a:solidFill>
                <a:effectLst/>
                <a:uFillTx/>
                <a:latin typeface="Calibri"/>
                <a:ea typeface="Calibri"/>
              </a:rPr>
              <a:t>The policy, in full</a:t>
            </a:r>
            <a:endParaRPr lang="en-US" sz="1400" b="0" u="none" strike="noStrike">
              <a:solidFill>
                <a:srgbClr val="000000"/>
              </a:solidFill>
              <a:effectLst/>
              <a:uFillTx/>
              <a:latin typeface="Arial"/>
            </a:endParaRPr>
          </a:p>
        </p:txBody>
      </p:sp>
      <p:sp>
        <p:nvSpPr>
          <p:cNvPr id="445" name="Text 18"/>
          <p:cNvSpPr/>
          <p:nvPr/>
        </p:nvSpPr>
        <p:spPr>
          <a:xfrm>
            <a:off x="7955280" y="2148840"/>
            <a:ext cx="3291120" cy="1096560"/>
          </a:xfrm>
          <a:prstGeom prst="rect">
            <a:avLst/>
          </a:prstGeom>
          <a:noFill/>
          <a:ln w="0">
            <a:noFill/>
          </a:ln>
        </p:spPr>
        <p:style>
          <a:lnRef idx="0"/>
          <a:fillRef idx="0"/>
          <a:effectRef idx="0"/>
          <a:fontRef idx="minor"/>
        </p:style>
        <p:txBody>
          <a:bodyPr lIns="0" tIns="0" rIns="0" bIns="0" anchor="ctr">
            <a:noAutofit/>
          </a:bodyPr>
          <a:p>
            <a:pPr defTabSz="914400">
              <a:lnSpc>
                <a:spcPts val="2200"/>
              </a:lnSpc>
              <a:tabLst>
                <a:tab pos="0" algn="l"/>
              </a:tabLst>
            </a:pPr>
            <a:r>
              <a:rPr lang="en-US" sz="1300" b="1" u="none" strike="noStrike">
                <a:solidFill>
                  <a:srgbClr val="5C5148"/>
                </a:solidFill>
                <a:effectLst/>
                <a:uFillTx/>
                <a:latin typeface="Calibri"/>
                <a:ea typeface="Calibri"/>
              </a:rPr>
              <a:t>Read access</a:t>
            </a:r>
            <a:endParaRPr lang="en-US" sz="1300" b="0" u="none" strike="noStrike">
              <a:solidFill>
                <a:srgbClr val="000000"/>
              </a:solidFill>
              <a:effectLst/>
              <a:uFillTx/>
              <a:latin typeface="Arial"/>
            </a:endParaRPr>
          </a:p>
          <a:p>
            <a:pPr defTabSz="914400">
              <a:lnSpc>
                <a:spcPts val="2200"/>
              </a:lnSpc>
              <a:tabLst>
                <a:tab pos="0" algn="l"/>
              </a:tabLst>
            </a:pPr>
            <a:r>
              <a:rPr lang="en-US" sz="1300" b="1" u="none" strike="noStrike">
                <a:solidFill>
                  <a:srgbClr val="5C5148"/>
                </a:solidFill>
                <a:effectLst/>
                <a:uFillTx/>
                <a:latin typeface="Calibri"/>
                <a:ea typeface="Calibri"/>
              </a:rPr>
              <a:t>One path only</a:t>
            </a:r>
            <a:endParaRPr lang="en-US" sz="1300" b="0" u="none" strike="noStrike">
              <a:solidFill>
                <a:srgbClr val="000000"/>
              </a:solidFill>
              <a:effectLst/>
              <a:uFillTx/>
              <a:latin typeface="Arial"/>
            </a:endParaRPr>
          </a:p>
          <a:p>
            <a:pPr defTabSz="914400">
              <a:lnSpc>
                <a:spcPts val="2200"/>
              </a:lnSpc>
              <a:tabLst>
                <a:tab pos="0" algn="l"/>
              </a:tabLst>
            </a:pPr>
            <a:r>
              <a:rPr lang="en-US" sz="1300" b="1" u="none" strike="noStrike">
                <a:solidFill>
                  <a:srgbClr val="5C5148"/>
                </a:solidFill>
                <a:effectLst/>
                <a:uFillTx/>
                <a:latin typeface="Calibri"/>
                <a:ea typeface="Calibri"/>
              </a:rPr>
              <a:t>No ability to list</a:t>
            </a:r>
            <a:endParaRPr lang="en-US" sz="1300" b="0" u="none" strike="noStrike">
              <a:solidFill>
                <a:srgbClr val="000000"/>
              </a:solidFill>
              <a:effectLst/>
              <a:uFillTx/>
              <a:latin typeface="Arial"/>
            </a:endParaRPr>
          </a:p>
          <a:p>
            <a:pPr defTabSz="914400">
              <a:lnSpc>
                <a:spcPts val="2200"/>
              </a:lnSpc>
              <a:tabLst>
                <a:tab pos="0" algn="l"/>
              </a:tabLst>
            </a:pPr>
            <a:r>
              <a:rPr lang="en-US" sz="1300" b="1" u="none" strike="noStrike">
                <a:solidFill>
                  <a:srgbClr val="5C5148"/>
                </a:solidFill>
                <a:effectLst/>
                <a:uFillTx/>
                <a:latin typeface="Calibri"/>
                <a:ea typeface="Calibri"/>
              </a:rPr>
              <a:t>No write, no delete</a:t>
            </a:r>
            <a:endParaRPr lang="en-US" sz="1300" b="0" u="none" strike="noStrike">
              <a:solidFill>
                <a:srgbClr val="000000"/>
              </a:solidFill>
              <a:effectLst/>
              <a:uFillTx/>
              <a:latin typeface="Arial"/>
            </a:endParaRPr>
          </a:p>
        </p:txBody>
      </p:sp>
      <p:sp>
        <p:nvSpPr>
          <p:cNvPr id="446" name="Text 19"/>
          <p:cNvSpPr/>
          <p:nvPr/>
        </p:nvSpPr>
        <p:spPr>
          <a:xfrm>
            <a:off x="7955280" y="3310200"/>
            <a:ext cx="3291120" cy="310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i="1" u="none" strike="noStrike">
                <a:solidFill>
                  <a:srgbClr val="8C8078"/>
                </a:solidFill>
                <a:effectLst/>
                <a:uFillTx/>
                <a:latin typeface="Calibri"/>
                <a:ea typeface="Calibri"/>
              </a:rPr>
              <a:t>Least privilege you can verify by reading it</a:t>
            </a:r>
            <a:endParaRPr lang="en-US" sz="1050" b="0" u="none" strike="noStrike">
              <a:solidFill>
                <a:srgbClr val="000000"/>
              </a:solidFill>
              <a:effectLst/>
              <a:uFillTx/>
              <a:latin typeface="Arial"/>
            </a:endParaRPr>
          </a:p>
        </p:txBody>
      </p:sp>
      <p:sp>
        <p:nvSpPr>
          <p:cNvPr id="447" name="Shape 20"/>
          <p:cNvSpPr/>
          <p:nvPr/>
        </p:nvSpPr>
        <p:spPr>
          <a:xfrm>
            <a:off x="640080" y="3977640"/>
            <a:ext cx="10880640" cy="1736640"/>
          </a:xfrm>
          <a:prstGeom prst="roundRect">
            <a:avLst>
              <a:gd name="adj" fmla="val 4737"/>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8" name="Text 21"/>
          <p:cNvSpPr/>
          <p:nvPr/>
        </p:nvSpPr>
        <p:spPr>
          <a:xfrm>
            <a:off x="960120" y="4160520"/>
            <a:ext cx="45712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8894A"/>
                </a:solidFill>
                <a:effectLst/>
                <a:uFillTx/>
                <a:latin typeface="Calibri"/>
                <a:ea typeface="Calibri"/>
              </a:rPr>
              <a:t>The honest status</a:t>
            </a:r>
            <a:endParaRPr lang="en-US" sz="1500" b="0" u="none" strike="noStrike">
              <a:solidFill>
                <a:srgbClr val="000000"/>
              </a:solidFill>
              <a:effectLst/>
              <a:uFillTx/>
              <a:latin typeface="Arial"/>
            </a:endParaRPr>
          </a:p>
        </p:txBody>
      </p:sp>
      <p:sp>
        <p:nvSpPr>
          <p:cNvPr id="449" name="Text 22"/>
          <p:cNvSpPr/>
          <p:nvPr/>
        </p:nvSpPr>
        <p:spPr>
          <a:xfrm>
            <a:off x="960120" y="4480560"/>
            <a:ext cx="10240560" cy="1142280"/>
          </a:xfrm>
          <a:prstGeom prst="rect">
            <a:avLst/>
          </a:prstGeom>
          <a:noFill/>
          <a:ln w="0">
            <a:noFill/>
          </a:ln>
        </p:spPr>
        <p:style>
          <a:lnRef idx="0"/>
          <a:fillRef idx="0"/>
          <a:effectRef idx="0"/>
          <a:fontRef idx="minor"/>
        </p:style>
        <p:txBody>
          <a:bodyPr lIns="0" tIns="0" rIns="0" bIns="0" anchor="ctr">
            <a:noAutofit/>
          </a:bodyPr>
          <a:p>
            <a:pPr defTabSz="914400">
              <a:lnSpc>
                <a:spcPts val="1800"/>
              </a:lnSpc>
              <a:tabLst>
                <a:tab pos="0" algn="l"/>
              </a:tabLst>
            </a:pPr>
            <a:r>
              <a:rPr lang="en-US" sz="1250" b="0" u="none" strike="noStrike">
                <a:solidFill>
                  <a:srgbClr val="5C5148"/>
                </a:solidFill>
                <a:effectLst/>
                <a:uFillTx/>
                <a:latin typeface="Calibri"/>
                <a:ea typeface="Calibri"/>
              </a:rPr>
              <a:t>The service is deployed, the secrets are stored, and the identity chain above was tested end to end — a real request returned a token carrying exactly the expected policy.</a:t>
            </a:r>
            <a:endParaRPr lang="en-US" sz="1250" b="0" u="none" strike="noStrike">
              <a:solidFill>
                <a:srgbClr val="000000"/>
              </a:solidFill>
              <a:effectLst/>
              <a:uFillTx/>
              <a:latin typeface="Arial"/>
            </a:endParaRPr>
          </a:p>
          <a:p>
            <a:pPr defTabSz="914400">
              <a:lnSpc>
                <a:spcPts val="1800"/>
              </a:lnSpc>
              <a:tabLst>
                <a:tab pos="0" algn="l"/>
              </a:tabLst>
            </a:pPr>
            <a:endParaRPr lang="en-US" sz="1250" b="0" u="none" strike="noStrike">
              <a:solidFill>
                <a:srgbClr val="000000"/>
              </a:solidFill>
              <a:effectLst/>
              <a:uFillTx/>
              <a:latin typeface="Arial"/>
            </a:endParaRPr>
          </a:p>
          <a:p>
            <a:pPr defTabSz="914400">
              <a:lnSpc>
                <a:spcPts val="1800"/>
              </a:lnSpc>
              <a:tabLst>
                <a:tab pos="0" algn="l"/>
              </a:tabLst>
            </a:pPr>
            <a:r>
              <a:rPr lang="en-US" sz="1250" b="0" u="none" strike="noStrike">
                <a:solidFill>
                  <a:srgbClr val="5C5148"/>
                </a:solidFill>
                <a:effectLst/>
                <a:uFillTx/>
                <a:latin typeface="Calibri"/>
                <a:ea typeface="Calibri"/>
              </a:rPr>
              <a:t>The application, however, still reads its credentials from the cluster's own secret store. Completing the link needs two things: injection settings on the application, and a traffic rule permitting it to reach the secrets service — which the default-deny policy currently blocks.</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450"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SECURITY · IMPLEMENTATION</a:t>
            </a:r>
            <a:endParaRPr lang="en-US" sz="1400" b="0" u="none" strike="noStrike">
              <a:solidFill>
                <a:srgbClr val="000000"/>
              </a:solidFill>
              <a:effectLst/>
              <a:uFillTx/>
              <a:latin typeface="Arial"/>
            </a:endParaRPr>
          </a:p>
        </p:txBody>
      </p:sp>
      <p:sp>
        <p:nvSpPr>
          <p:cNvPr id="451"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Inside the cluster, nothing talks by default</a:t>
            </a:r>
            <a:endParaRPr lang="en-US" sz="3400" b="0" u="none" strike="noStrike">
              <a:solidFill>
                <a:srgbClr val="000000"/>
              </a:solidFill>
              <a:effectLst/>
              <a:uFillTx/>
              <a:latin typeface="Arial"/>
            </a:endParaRPr>
          </a:p>
        </p:txBody>
      </p:sp>
      <p:sp>
        <p:nvSpPr>
          <p:cNvPr id="452" name="Text 2"/>
          <p:cNvSpPr/>
          <p:nvPr/>
        </p:nvSpPr>
        <p:spPr>
          <a:xfrm>
            <a:off x="640080" y="1353240"/>
            <a:ext cx="1088064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C5148"/>
                </a:solidFill>
                <a:effectLst/>
                <a:uFillTx/>
                <a:latin typeface="Calibri"/>
                <a:ea typeface="Calibri"/>
              </a:rPr>
              <a:t>Six rules replace an open internal network with an explicit list of permitted paths.</a:t>
            </a:r>
            <a:endParaRPr lang="en-US" sz="1500" b="0" u="none" strike="noStrike">
              <a:solidFill>
                <a:srgbClr val="000000"/>
              </a:solidFill>
              <a:effectLst/>
              <a:uFillTx/>
              <a:latin typeface="Arial"/>
            </a:endParaRPr>
          </a:p>
        </p:txBody>
      </p:sp>
      <p:sp>
        <p:nvSpPr>
          <p:cNvPr id="453" name="Shape 3"/>
          <p:cNvSpPr/>
          <p:nvPr/>
        </p:nvSpPr>
        <p:spPr>
          <a:xfrm>
            <a:off x="640080" y="2011680"/>
            <a:ext cx="4937040" cy="2879640"/>
          </a:xfrm>
          <a:prstGeom prst="roundRect">
            <a:avLst>
              <a:gd name="adj" fmla="val 2857"/>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54" name="Text 4"/>
          <p:cNvSpPr/>
          <p:nvPr/>
        </p:nvSpPr>
        <p:spPr>
          <a:xfrm>
            <a:off x="914400" y="2194560"/>
            <a:ext cx="36568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2420"/>
                </a:solidFill>
                <a:effectLst/>
                <a:uFillTx/>
                <a:latin typeface="Calibri"/>
                <a:ea typeface="Calibri"/>
              </a:rPr>
              <a:t>Default position</a:t>
            </a:r>
            <a:endParaRPr lang="en-US" sz="1500" b="0" u="none" strike="noStrike">
              <a:solidFill>
                <a:srgbClr val="000000"/>
              </a:solidFill>
              <a:effectLst/>
              <a:uFillTx/>
              <a:latin typeface="Arial"/>
            </a:endParaRPr>
          </a:p>
        </p:txBody>
      </p:sp>
      <p:sp>
        <p:nvSpPr>
          <p:cNvPr id="455" name="Text 5"/>
          <p:cNvSpPr/>
          <p:nvPr/>
        </p:nvSpPr>
        <p:spPr>
          <a:xfrm>
            <a:off x="914400" y="2514600"/>
            <a:ext cx="4388400" cy="913680"/>
          </a:xfrm>
          <a:prstGeom prst="rect">
            <a:avLst/>
          </a:prstGeom>
          <a:noFill/>
          <a:ln w="0">
            <a:noFill/>
          </a:ln>
        </p:spPr>
        <p:style>
          <a:lnRef idx="0"/>
          <a:fillRef idx="0"/>
          <a:effectRef idx="0"/>
          <a:fontRef idx="minor"/>
        </p:style>
        <p:txBody>
          <a:bodyPr lIns="0" tIns="0" rIns="0" bIns="0" anchor="ctr">
            <a:noAutofit/>
          </a:bodyPr>
          <a:p>
            <a:pPr defTabSz="914400">
              <a:lnSpc>
                <a:spcPts val="1800"/>
              </a:lnSpc>
              <a:tabLst>
                <a:tab pos="0" algn="l"/>
              </a:tabLst>
            </a:pPr>
            <a:r>
              <a:rPr lang="en-US" sz="1250" b="1" u="none" strike="noStrike">
                <a:solidFill>
                  <a:srgbClr val="5C5148"/>
                </a:solidFill>
                <a:effectLst/>
                <a:uFillTx/>
                <a:latin typeface="Calibri"/>
                <a:ea typeface="Calibri"/>
              </a:rPr>
              <a:t>Every service is blocked from sending and receiving. Nothing is permitted until it is named. A rule is then added for each connection the application genuinely needs.</a:t>
            </a:r>
            <a:endParaRPr lang="en-US" sz="1250" b="0" u="none" strike="noStrike">
              <a:solidFill>
                <a:srgbClr val="000000"/>
              </a:solidFill>
              <a:effectLst/>
              <a:uFillTx/>
              <a:latin typeface="Arial"/>
            </a:endParaRPr>
          </a:p>
        </p:txBody>
      </p:sp>
      <p:sp>
        <p:nvSpPr>
          <p:cNvPr id="456" name="Text 6"/>
          <p:cNvSpPr/>
          <p:nvPr/>
        </p:nvSpPr>
        <p:spPr>
          <a:xfrm>
            <a:off x="914400" y="3520440"/>
            <a:ext cx="36568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5042"/>
                </a:solidFill>
                <a:effectLst/>
                <a:uFillTx/>
                <a:latin typeface="Calibri"/>
                <a:ea typeface="Calibri"/>
              </a:rPr>
              <a:t>Permitted paths</a:t>
            </a:r>
            <a:endParaRPr lang="en-US" sz="1300" b="0" u="none" strike="noStrike">
              <a:solidFill>
                <a:srgbClr val="000000"/>
              </a:solidFill>
              <a:effectLst/>
              <a:uFillTx/>
              <a:latin typeface="Arial"/>
            </a:endParaRPr>
          </a:p>
        </p:txBody>
      </p:sp>
      <p:sp>
        <p:nvSpPr>
          <p:cNvPr id="457" name="Text 7"/>
          <p:cNvSpPr/>
          <p:nvPr/>
        </p:nvSpPr>
        <p:spPr>
          <a:xfrm>
            <a:off x="914400" y="3840480"/>
            <a:ext cx="4388400" cy="91368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400"/>
              </a:spcAft>
              <a:buClr>
                <a:srgbClr val="5C5148"/>
              </a:buClr>
              <a:buFont typeface="Symbol" charset="2"/>
              <a:buChar char=""/>
            </a:pPr>
            <a:r>
              <a:rPr lang="en-US" sz="1200" b="1" u="none" strike="noStrike">
                <a:solidFill>
                  <a:srgbClr val="5C5148"/>
                </a:solidFill>
                <a:effectLst/>
                <a:uFillTx/>
                <a:latin typeface="Calibri"/>
                <a:ea typeface="Calibri"/>
              </a:rPr>
              <a:t>Load balancer → web tier</a:t>
            </a:r>
            <a:endParaRPr lang="en-US" sz="1200" b="0" u="none" strike="noStrike">
              <a:solidFill>
                <a:srgbClr val="000000"/>
              </a:solidFill>
              <a:effectLst/>
              <a:uFillTx/>
              <a:latin typeface="Arial"/>
            </a:endParaRPr>
          </a:p>
          <a:p>
            <a:pPr marL="343080" indent="-343080" defTabSz="914400">
              <a:lnSpc>
                <a:spcPct val="100000"/>
              </a:lnSpc>
              <a:spcAft>
                <a:spcPts val="400"/>
              </a:spcAft>
              <a:buClr>
                <a:srgbClr val="5C5148"/>
              </a:buClr>
              <a:buFont typeface="Symbol" charset="2"/>
              <a:buChar char=""/>
            </a:pPr>
            <a:r>
              <a:rPr lang="en-US" sz="1200" b="1" u="none" strike="noStrike">
                <a:solidFill>
                  <a:srgbClr val="5C5148"/>
                </a:solidFill>
                <a:effectLst/>
                <a:uFillTx/>
                <a:latin typeface="Calibri"/>
                <a:ea typeface="Calibri"/>
              </a:rPr>
              <a:t>Web tier → application tier</a:t>
            </a:r>
            <a:endParaRPr lang="en-US" sz="1200" b="0" u="none" strike="noStrike">
              <a:solidFill>
                <a:srgbClr val="000000"/>
              </a:solidFill>
              <a:effectLst/>
              <a:uFillTx/>
              <a:latin typeface="Arial"/>
            </a:endParaRPr>
          </a:p>
          <a:p>
            <a:pPr marL="343080" indent="-343080" defTabSz="914400">
              <a:lnSpc>
                <a:spcPct val="100000"/>
              </a:lnSpc>
              <a:spcAft>
                <a:spcPts val="400"/>
              </a:spcAft>
              <a:buClr>
                <a:srgbClr val="5C5148"/>
              </a:buClr>
              <a:buFont typeface="Symbol" charset="2"/>
              <a:buChar char=""/>
            </a:pPr>
            <a:r>
              <a:rPr lang="en-US" sz="1200" b="1" u="none" strike="noStrike">
                <a:solidFill>
                  <a:srgbClr val="5C5148"/>
                </a:solidFill>
                <a:effectLst/>
                <a:uFillTx/>
                <a:latin typeface="Calibri"/>
                <a:ea typeface="Calibri"/>
              </a:rPr>
              <a:t>Application → database, cache, broker</a:t>
            </a:r>
            <a:endParaRPr lang="en-US" sz="1200" b="0" u="none" strike="noStrike">
              <a:solidFill>
                <a:srgbClr val="000000"/>
              </a:solidFill>
              <a:effectLst/>
              <a:uFillTx/>
              <a:latin typeface="Arial"/>
            </a:endParaRPr>
          </a:p>
          <a:p>
            <a:pPr marL="343080" indent="-343080" defTabSz="914400">
              <a:lnSpc>
                <a:spcPct val="100000"/>
              </a:lnSpc>
              <a:spcAft>
                <a:spcPts val="400"/>
              </a:spcAft>
              <a:buClr>
                <a:srgbClr val="5C5148"/>
              </a:buClr>
              <a:buFont typeface="Symbol" charset="2"/>
              <a:buChar char=""/>
            </a:pPr>
            <a:r>
              <a:rPr lang="en-US" sz="1200" b="1" u="none" strike="noStrike">
                <a:solidFill>
                  <a:srgbClr val="5C5148"/>
                </a:solidFill>
                <a:effectLst/>
                <a:uFillTx/>
                <a:latin typeface="Calibri"/>
                <a:ea typeface="Calibri"/>
              </a:rPr>
              <a:t>Everything → name resolution</a:t>
            </a:r>
            <a:endParaRPr lang="en-US" sz="1200" b="0" u="none" strike="noStrike">
              <a:solidFill>
                <a:srgbClr val="000000"/>
              </a:solidFill>
              <a:effectLst/>
              <a:uFillTx/>
              <a:latin typeface="Arial"/>
            </a:endParaRPr>
          </a:p>
        </p:txBody>
      </p:sp>
      <p:sp>
        <p:nvSpPr>
          <p:cNvPr id="458" name="Shape 8"/>
          <p:cNvSpPr/>
          <p:nvPr/>
        </p:nvSpPr>
        <p:spPr>
          <a:xfrm>
            <a:off x="5852160" y="2011680"/>
            <a:ext cx="566856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59" name="Text 9"/>
          <p:cNvSpPr/>
          <p:nvPr/>
        </p:nvSpPr>
        <p:spPr>
          <a:xfrm>
            <a:off x="6126480" y="2194560"/>
            <a:ext cx="45712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85042"/>
                </a:solidFill>
                <a:effectLst/>
                <a:uFillTx/>
                <a:latin typeface="Calibri"/>
                <a:ea typeface="Calibri"/>
              </a:rPr>
              <a:t>The trap worth knowing</a:t>
            </a:r>
            <a:endParaRPr lang="en-US" sz="1400" b="0" u="none" strike="noStrike">
              <a:solidFill>
                <a:srgbClr val="000000"/>
              </a:solidFill>
              <a:effectLst/>
              <a:uFillTx/>
              <a:latin typeface="Arial"/>
            </a:endParaRPr>
          </a:p>
        </p:txBody>
      </p:sp>
      <p:sp>
        <p:nvSpPr>
          <p:cNvPr id="460" name="Text 10"/>
          <p:cNvSpPr/>
          <p:nvPr/>
        </p:nvSpPr>
        <p:spPr>
          <a:xfrm>
            <a:off x="6126480" y="2505600"/>
            <a:ext cx="5119920" cy="776520"/>
          </a:xfrm>
          <a:prstGeom prst="rect">
            <a:avLst/>
          </a:prstGeom>
          <a:noFill/>
          <a:ln w="0">
            <a:noFill/>
          </a:ln>
        </p:spPr>
        <p:style>
          <a:lnRef idx="0"/>
          <a:fillRef idx="0"/>
          <a:effectRef idx="0"/>
          <a:fontRef idx="minor"/>
        </p:style>
        <p:txBody>
          <a:bodyPr lIns="0" tIns="0" rIns="0" bIns="0" anchor="ctr">
            <a:noAutofit/>
          </a:bodyPr>
          <a:p>
            <a:pPr defTabSz="914400">
              <a:lnSpc>
                <a:spcPts val="1599"/>
              </a:lnSpc>
              <a:tabLst>
                <a:tab pos="0" algn="l"/>
              </a:tabLst>
            </a:pPr>
            <a:r>
              <a:rPr lang="en-US" sz="1150" b="1" u="none" strike="noStrike">
                <a:solidFill>
                  <a:srgbClr val="5C5148"/>
                </a:solidFill>
                <a:effectLst/>
                <a:uFillTx/>
                <a:latin typeface="Calibri"/>
                <a:ea typeface="Calibri"/>
              </a:rPr>
              <a:t>On this platform, traffic policy is not enforced unless it is explicitly switched on at the network layer. Left off, the rules are accepted and displayed — and quietly ignored. That is worse than having none, because the protection appears to exist.</a:t>
            </a:r>
            <a:endParaRPr lang="en-US" sz="1150" b="0" u="none" strike="noStrike">
              <a:solidFill>
                <a:srgbClr val="000000"/>
              </a:solidFill>
              <a:effectLst/>
              <a:uFillTx/>
              <a:latin typeface="Arial"/>
            </a:endParaRPr>
          </a:p>
        </p:txBody>
      </p:sp>
      <p:sp>
        <p:nvSpPr>
          <p:cNvPr id="461" name="Shape 11"/>
          <p:cNvSpPr/>
          <p:nvPr/>
        </p:nvSpPr>
        <p:spPr>
          <a:xfrm>
            <a:off x="5852160" y="3520440"/>
            <a:ext cx="566856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62" name="Text 12"/>
          <p:cNvSpPr/>
          <p:nvPr/>
        </p:nvSpPr>
        <p:spPr>
          <a:xfrm>
            <a:off x="6126480" y="3703320"/>
            <a:ext cx="45712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85042"/>
                </a:solidFill>
                <a:effectLst/>
                <a:uFillTx/>
                <a:latin typeface="Calibri"/>
                <a:ea typeface="Calibri"/>
              </a:rPr>
              <a:t>The detail that cost time</a:t>
            </a:r>
            <a:endParaRPr lang="en-US" sz="1400" b="0" u="none" strike="noStrike">
              <a:solidFill>
                <a:srgbClr val="000000"/>
              </a:solidFill>
              <a:effectLst/>
              <a:uFillTx/>
              <a:latin typeface="Arial"/>
            </a:endParaRPr>
          </a:p>
        </p:txBody>
      </p:sp>
      <p:sp>
        <p:nvSpPr>
          <p:cNvPr id="463" name="Text 13"/>
          <p:cNvSpPr/>
          <p:nvPr/>
        </p:nvSpPr>
        <p:spPr>
          <a:xfrm>
            <a:off x="6126480" y="4014360"/>
            <a:ext cx="5303160" cy="776520"/>
          </a:xfrm>
          <a:prstGeom prst="rect">
            <a:avLst/>
          </a:prstGeom>
          <a:noFill/>
          <a:ln w="0">
            <a:noFill/>
          </a:ln>
        </p:spPr>
        <p:style>
          <a:lnRef idx="0"/>
          <a:fillRef idx="0"/>
          <a:effectRef idx="0"/>
          <a:fontRef idx="minor"/>
        </p:style>
        <p:txBody>
          <a:bodyPr lIns="0" tIns="0" rIns="0" bIns="0" anchor="ctr">
            <a:noAutofit/>
          </a:bodyPr>
          <a:p>
            <a:pPr defTabSz="914400">
              <a:lnSpc>
                <a:spcPts val="1599"/>
              </a:lnSpc>
              <a:tabLst>
                <a:tab pos="0" algn="l"/>
              </a:tabLst>
            </a:pPr>
            <a:r>
              <a:rPr lang="en-US" sz="1150" b="1" u="none" strike="noStrike">
                <a:solidFill>
                  <a:srgbClr val="5C5148"/>
                </a:solidFill>
                <a:effectLst/>
                <a:uFillTx/>
                <a:latin typeface="Calibri"/>
                <a:ea typeface="Calibri"/>
              </a:rPr>
              <a:t>The load balancer does not reach services the way other services do — it connects from its own network interfaces. A rule written to allow "the load balancer" by name matches nothing and blocks all traffic. It has to be expressed as an address range.</a:t>
            </a:r>
            <a:endParaRPr lang="en-US" sz="1150" b="0" u="none" strike="noStrike">
              <a:solidFill>
                <a:srgbClr val="000000"/>
              </a:solidFill>
              <a:effectLst/>
              <a:uFillTx/>
              <a:latin typeface="Arial"/>
            </a:endParaRPr>
          </a:p>
        </p:txBody>
      </p:sp>
      <p:sp>
        <p:nvSpPr>
          <p:cNvPr id="464" name="Text 14"/>
          <p:cNvSpPr/>
          <p:nvPr/>
        </p:nvSpPr>
        <p:spPr>
          <a:xfrm>
            <a:off x="640080" y="6291000"/>
            <a:ext cx="108806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i="1" u="none" strike="noStrike">
                <a:solidFill>
                  <a:srgbClr val="8C8078"/>
                </a:solidFill>
                <a:effectLst/>
                <a:uFillTx/>
                <a:latin typeface="Calibri"/>
                <a:ea typeface="Calibri"/>
              </a:rPr>
              <a:t>A default-deny rule without an exception for name resolution breaks everything — the most common way a first rollout fails.</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465"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OPERATIONS · CONCEPT</a:t>
            </a:r>
            <a:endParaRPr lang="en-US" sz="1400" b="0" u="none" strike="noStrike">
              <a:solidFill>
                <a:srgbClr val="000000"/>
              </a:solidFill>
              <a:effectLst/>
              <a:uFillTx/>
              <a:latin typeface="Arial"/>
            </a:endParaRPr>
          </a:p>
        </p:txBody>
      </p:sp>
      <p:sp>
        <p:nvSpPr>
          <p:cNvPr id="466"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Monitoring answers what you thought to ask</a:t>
            </a:r>
            <a:endParaRPr lang="en-US" sz="3400" b="0" u="none" strike="noStrike">
              <a:solidFill>
                <a:srgbClr val="000000"/>
              </a:solidFill>
              <a:effectLst/>
              <a:uFillTx/>
              <a:latin typeface="Arial"/>
            </a:endParaRPr>
          </a:p>
        </p:txBody>
      </p:sp>
      <p:sp>
        <p:nvSpPr>
          <p:cNvPr id="467" name="Text 2"/>
          <p:cNvSpPr/>
          <p:nvPr/>
        </p:nvSpPr>
        <p:spPr>
          <a:xfrm>
            <a:off x="640080" y="1353240"/>
            <a:ext cx="1088064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C5148"/>
                </a:solidFill>
                <a:effectLst/>
                <a:uFillTx/>
                <a:latin typeface="Calibri"/>
                <a:ea typeface="Calibri"/>
              </a:rPr>
              <a:t>Observability answers what you did not. The difference matters when something unexpected breaks.</a:t>
            </a:r>
            <a:endParaRPr lang="en-US" sz="1500" b="0" u="none" strike="noStrike">
              <a:solidFill>
                <a:srgbClr val="000000"/>
              </a:solidFill>
              <a:effectLst/>
              <a:uFillTx/>
              <a:latin typeface="Arial"/>
            </a:endParaRPr>
          </a:p>
        </p:txBody>
      </p:sp>
      <p:sp>
        <p:nvSpPr>
          <p:cNvPr id="468" name="Shape 3"/>
          <p:cNvSpPr/>
          <p:nvPr/>
        </p:nvSpPr>
        <p:spPr>
          <a:xfrm>
            <a:off x="640080" y="2057400"/>
            <a:ext cx="3492360" cy="2285280"/>
          </a:xfrm>
          <a:prstGeom prst="roundRect">
            <a:avLst>
              <a:gd name="adj" fmla="val 36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69" name="Text 4"/>
          <p:cNvSpPr/>
          <p:nvPr/>
        </p:nvSpPr>
        <p:spPr>
          <a:xfrm>
            <a:off x="896040" y="2267640"/>
            <a:ext cx="292536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B85042"/>
                </a:solidFill>
                <a:effectLst/>
                <a:uFillTx/>
                <a:latin typeface="Calibri"/>
                <a:ea typeface="Calibri"/>
              </a:rPr>
              <a:t>Metrics</a:t>
            </a:r>
            <a:endParaRPr lang="en-US" sz="1600" b="0" u="none" strike="noStrike">
              <a:solidFill>
                <a:srgbClr val="000000"/>
              </a:solidFill>
              <a:effectLst/>
              <a:uFillTx/>
              <a:latin typeface="Arial"/>
            </a:endParaRPr>
          </a:p>
        </p:txBody>
      </p:sp>
      <p:sp>
        <p:nvSpPr>
          <p:cNvPr id="470" name="Text 5"/>
          <p:cNvSpPr/>
          <p:nvPr/>
        </p:nvSpPr>
        <p:spPr>
          <a:xfrm>
            <a:off x="896040" y="2606040"/>
            <a:ext cx="2980080" cy="1462320"/>
          </a:xfrm>
          <a:prstGeom prst="rect">
            <a:avLst/>
          </a:prstGeom>
          <a:noFill/>
          <a:ln w="0">
            <a:noFill/>
          </a:ln>
        </p:spPr>
        <p:style>
          <a:lnRef idx="0"/>
          <a:fillRef idx="0"/>
          <a:effectRef idx="0"/>
          <a:fontRef idx="minor"/>
        </p:style>
        <p:txBody>
          <a:bodyPr lIns="0" tIns="0" rIns="0" bIns="0" anchor="ctr">
            <a:noAutofit/>
          </a:bodyPr>
          <a:p>
            <a:pPr defTabSz="914400">
              <a:lnSpc>
                <a:spcPts val="1800"/>
              </a:lnSpc>
              <a:tabLst>
                <a:tab pos="0" algn="l"/>
              </a:tabLst>
            </a:pPr>
            <a:r>
              <a:rPr lang="en-US" sz="1250" b="1" u="none" strike="noStrike">
                <a:solidFill>
                  <a:srgbClr val="5C5148"/>
                </a:solidFill>
                <a:effectLst/>
                <a:uFillTx/>
                <a:latin typeface="Calibri"/>
                <a:ea typeface="Calibri"/>
              </a:rPr>
              <a:t>Numbers over time — how much memory, how many copies running, how busy a machine is.</a:t>
            </a:r>
            <a:endParaRPr lang="en-US" sz="1250" b="0" u="none" strike="noStrike">
              <a:solidFill>
                <a:srgbClr val="000000"/>
              </a:solidFill>
              <a:effectLst/>
              <a:uFillTx/>
              <a:latin typeface="Arial"/>
            </a:endParaRPr>
          </a:p>
          <a:p>
            <a:pPr defTabSz="914400">
              <a:lnSpc>
                <a:spcPts val="1800"/>
              </a:lnSpc>
              <a:tabLst>
                <a:tab pos="0" algn="l"/>
              </a:tabLst>
            </a:pPr>
            <a:endParaRPr lang="en-US" sz="1250" b="0" u="none" strike="noStrike">
              <a:solidFill>
                <a:srgbClr val="000000"/>
              </a:solidFill>
              <a:effectLst/>
              <a:uFillTx/>
              <a:latin typeface="Arial"/>
            </a:endParaRPr>
          </a:p>
          <a:p>
            <a:pPr defTabSz="914400">
              <a:lnSpc>
                <a:spcPts val="1800"/>
              </a:lnSpc>
              <a:tabLst>
                <a:tab pos="0" algn="l"/>
              </a:tabLst>
            </a:pPr>
            <a:r>
              <a:rPr lang="en-US" sz="1250" b="1" u="none" strike="noStrike">
                <a:solidFill>
                  <a:srgbClr val="5C5148"/>
                </a:solidFill>
                <a:effectLst/>
                <a:uFillTx/>
                <a:latin typeface="Calibri"/>
                <a:ea typeface="Calibri"/>
              </a:rPr>
              <a:t>Answers: is it healthy right now?</a:t>
            </a:r>
            <a:endParaRPr lang="en-US" sz="1250" b="0" u="none" strike="noStrike">
              <a:solidFill>
                <a:srgbClr val="000000"/>
              </a:solidFill>
              <a:effectLst/>
              <a:uFillTx/>
              <a:latin typeface="Arial"/>
            </a:endParaRPr>
          </a:p>
        </p:txBody>
      </p:sp>
      <p:sp>
        <p:nvSpPr>
          <p:cNvPr id="471" name="Text 6"/>
          <p:cNvSpPr/>
          <p:nvPr/>
        </p:nvSpPr>
        <p:spPr>
          <a:xfrm>
            <a:off x="896040" y="3977640"/>
            <a:ext cx="2980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6B7F5E"/>
                </a:solidFill>
                <a:effectLst/>
                <a:uFillTx/>
                <a:latin typeface="Calibri"/>
                <a:ea typeface="Calibri"/>
              </a:rPr>
              <a:t>Implemented</a:t>
            </a:r>
            <a:endParaRPr lang="en-US" sz="1200" b="0" u="none" strike="noStrike">
              <a:solidFill>
                <a:srgbClr val="000000"/>
              </a:solidFill>
              <a:effectLst/>
              <a:uFillTx/>
              <a:latin typeface="Arial"/>
            </a:endParaRPr>
          </a:p>
        </p:txBody>
      </p:sp>
      <p:sp>
        <p:nvSpPr>
          <p:cNvPr id="472" name="Shape 7"/>
          <p:cNvSpPr/>
          <p:nvPr/>
        </p:nvSpPr>
        <p:spPr>
          <a:xfrm>
            <a:off x="4352400" y="2057400"/>
            <a:ext cx="3492360" cy="2285280"/>
          </a:xfrm>
          <a:prstGeom prst="roundRect">
            <a:avLst>
              <a:gd name="adj" fmla="val 3600"/>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73" name="Text 8"/>
          <p:cNvSpPr/>
          <p:nvPr/>
        </p:nvSpPr>
        <p:spPr>
          <a:xfrm>
            <a:off x="4608720" y="2267640"/>
            <a:ext cx="292536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5C5148"/>
                </a:solidFill>
                <a:effectLst/>
                <a:uFillTx/>
                <a:latin typeface="Calibri"/>
                <a:ea typeface="Calibri"/>
              </a:rPr>
              <a:t>Logs</a:t>
            </a:r>
            <a:endParaRPr lang="en-US" sz="1600" b="0" u="none" strike="noStrike">
              <a:solidFill>
                <a:srgbClr val="000000"/>
              </a:solidFill>
              <a:effectLst/>
              <a:uFillTx/>
              <a:latin typeface="Arial"/>
            </a:endParaRPr>
          </a:p>
        </p:txBody>
      </p:sp>
      <p:sp>
        <p:nvSpPr>
          <p:cNvPr id="474" name="Text 9"/>
          <p:cNvSpPr/>
          <p:nvPr/>
        </p:nvSpPr>
        <p:spPr>
          <a:xfrm>
            <a:off x="4608720" y="2606040"/>
            <a:ext cx="2980080" cy="1462320"/>
          </a:xfrm>
          <a:prstGeom prst="rect">
            <a:avLst/>
          </a:prstGeom>
          <a:noFill/>
          <a:ln w="0">
            <a:noFill/>
          </a:ln>
        </p:spPr>
        <p:style>
          <a:lnRef idx="0"/>
          <a:fillRef idx="0"/>
          <a:effectRef idx="0"/>
          <a:fontRef idx="minor"/>
        </p:style>
        <p:txBody>
          <a:bodyPr lIns="0" tIns="0" rIns="0" bIns="0" anchor="ctr">
            <a:noAutofit/>
          </a:bodyPr>
          <a:p>
            <a:pPr defTabSz="914400">
              <a:lnSpc>
                <a:spcPts val="1800"/>
              </a:lnSpc>
              <a:tabLst>
                <a:tab pos="0" algn="l"/>
              </a:tabLst>
            </a:pPr>
            <a:r>
              <a:rPr lang="en-US" sz="1250" b="1" u="none" strike="noStrike">
                <a:solidFill>
                  <a:srgbClr val="5C5148"/>
                </a:solidFill>
                <a:effectLst/>
                <a:uFillTx/>
                <a:latin typeface="Calibri"/>
                <a:ea typeface="Calibri"/>
              </a:rPr>
              <a:t>What each component recorded as it ran, in sequence.</a:t>
            </a:r>
            <a:endParaRPr lang="en-US" sz="1250" b="0" u="none" strike="noStrike">
              <a:solidFill>
                <a:srgbClr val="000000"/>
              </a:solidFill>
              <a:effectLst/>
              <a:uFillTx/>
              <a:latin typeface="Arial"/>
            </a:endParaRPr>
          </a:p>
          <a:p>
            <a:pPr defTabSz="914400">
              <a:lnSpc>
                <a:spcPts val="1800"/>
              </a:lnSpc>
              <a:tabLst>
                <a:tab pos="0" algn="l"/>
              </a:tabLst>
            </a:pPr>
            <a:endParaRPr lang="en-US" sz="1250" b="0" u="none" strike="noStrike">
              <a:solidFill>
                <a:srgbClr val="000000"/>
              </a:solidFill>
              <a:effectLst/>
              <a:uFillTx/>
              <a:latin typeface="Arial"/>
            </a:endParaRPr>
          </a:p>
          <a:p>
            <a:pPr defTabSz="914400">
              <a:lnSpc>
                <a:spcPts val="1800"/>
              </a:lnSpc>
              <a:tabLst>
                <a:tab pos="0" algn="l"/>
              </a:tabLst>
            </a:pPr>
            <a:r>
              <a:rPr lang="en-US" sz="1250" b="1" u="none" strike="noStrike">
                <a:solidFill>
                  <a:srgbClr val="5C5148"/>
                </a:solidFill>
                <a:effectLst/>
                <a:uFillTx/>
                <a:latin typeface="Calibri"/>
                <a:ea typeface="Calibri"/>
              </a:rPr>
              <a:t>Answers: what exactly happened, and in what order?</a:t>
            </a:r>
            <a:endParaRPr lang="en-US" sz="1250" b="0" u="none" strike="noStrike">
              <a:solidFill>
                <a:srgbClr val="000000"/>
              </a:solidFill>
              <a:effectLst/>
              <a:uFillTx/>
              <a:latin typeface="Arial"/>
            </a:endParaRPr>
          </a:p>
        </p:txBody>
      </p:sp>
      <p:sp>
        <p:nvSpPr>
          <p:cNvPr id="475" name="Text 10"/>
          <p:cNvSpPr/>
          <p:nvPr/>
        </p:nvSpPr>
        <p:spPr>
          <a:xfrm>
            <a:off x="4608720" y="3977640"/>
            <a:ext cx="2980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B8894A"/>
                </a:solidFill>
                <a:effectLst/>
                <a:uFillTx/>
                <a:latin typeface="Calibri"/>
                <a:ea typeface="Calibri"/>
              </a:rPr>
              <a:t>Not implemented</a:t>
            </a:r>
            <a:endParaRPr lang="en-US" sz="1200" b="0" u="none" strike="noStrike">
              <a:solidFill>
                <a:srgbClr val="000000"/>
              </a:solidFill>
              <a:effectLst/>
              <a:uFillTx/>
              <a:latin typeface="Arial"/>
            </a:endParaRPr>
          </a:p>
        </p:txBody>
      </p:sp>
      <p:sp>
        <p:nvSpPr>
          <p:cNvPr id="476" name="Shape 11"/>
          <p:cNvSpPr/>
          <p:nvPr/>
        </p:nvSpPr>
        <p:spPr>
          <a:xfrm>
            <a:off x="8028360" y="2057400"/>
            <a:ext cx="3492360" cy="2285280"/>
          </a:xfrm>
          <a:prstGeom prst="roundRect">
            <a:avLst>
              <a:gd name="adj" fmla="val 3600"/>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77" name="Text 12"/>
          <p:cNvSpPr/>
          <p:nvPr/>
        </p:nvSpPr>
        <p:spPr>
          <a:xfrm>
            <a:off x="8284320" y="2267640"/>
            <a:ext cx="292536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5C5148"/>
                </a:solidFill>
                <a:effectLst/>
                <a:uFillTx/>
                <a:latin typeface="Calibri"/>
                <a:ea typeface="Calibri"/>
              </a:rPr>
              <a:t>Traces</a:t>
            </a:r>
            <a:endParaRPr lang="en-US" sz="1600" b="0" u="none" strike="noStrike">
              <a:solidFill>
                <a:srgbClr val="000000"/>
              </a:solidFill>
              <a:effectLst/>
              <a:uFillTx/>
              <a:latin typeface="Arial"/>
            </a:endParaRPr>
          </a:p>
        </p:txBody>
      </p:sp>
      <p:sp>
        <p:nvSpPr>
          <p:cNvPr id="478" name="Text 13"/>
          <p:cNvSpPr/>
          <p:nvPr/>
        </p:nvSpPr>
        <p:spPr>
          <a:xfrm>
            <a:off x="8284320" y="2606040"/>
            <a:ext cx="2980080" cy="1462320"/>
          </a:xfrm>
          <a:prstGeom prst="rect">
            <a:avLst/>
          </a:prstGeom>
          <a:noFill/>
          <a:ln w="0">
            <a:noFill/>
          </a:ln>
        </p:spPr>
        <p:style>
          <a:lnRef idx="0"/>
          <a:fillRef idx="0"/>
          <a:effectRef idx="0"/>
          <a:fontRef idx="minor"/>
        </p:style>
        <p:txBody>
          <a:bodyPr lIns="0" tIns="0" rIns="0" bIns="0" anchor="ctr">
            <a:noAutofit/>
          </a:bodyPr>
          <a:p>
            <a:pPr defTabSz="914400">
              <a:lnSpc>
                <a:spcPts val="1800"/>
              </a:lnSpc>
              <a:tabLst>
                <a:tab pos="0" algn="l"/>
              </a:tabLst>
            </a:pPr>
            <a:r>
              <a:rPr lang="en-US" sz="1250" b="1" u="none" strike="noStrike">
                <a:solidFill>
                  <a:srgbClr val="5C5148"/>
                </a:solidFill>
                <a:effectLst/>
                <a:uFillTx/>
                <a:latin typeface="Calibri"/>
                <a:ea typeface="Calibri"/>
              </a:rPr>
              <a:t>One request followed across every service it touched.</a:t>
            </a:r>
            <a:endParaRPr lang="en-US" sz="1250" b="0" u="none" strike="noStrike">
              <a:solidFill>
                <a:srgbClr val="000000"/>
              </a:solidFill>
              <a:effectLst/>
              <a:uFillTx/>
              <a:latin typeface="Arial"/>
            </a:endParaRPr>
          </a:p>
          <a:p>
            <a:pPr defTabSz="914400">
              <a:lnSpc>
                <a:spcPts val="1800"/>
              </a:lnSpc>
              <a:tabLst>
                <a:tab pos="0" algn="l"/>
              </a:tabLst>
            </a:pPr>
            <a:endParaRPr lang="en-US" sz="1250" b="0" u="none" strike="noStrike">
              <a:solidFill>
                <a:srgbClr val="000000"/>
              </a:solidFill>
              <a:effectLst/>
              <a:uFillTx/>
              <a:latin typeface="Arial"/>
            </a:endParaRPr>
          </a:p>
          <a:p>
            <a:pPr defTabSz="914400">
              <a:lnSpc>
                <a:spcPts val="1800"/>
              </a:lnSpc>
              <a:tabLst>
                <a:tab pos="0" algn="l"/>
              </a:tabLst>
            </a:pPr>
            <a:r>
              <a:rPr lang="en-US" sz="1250" b="1" u="none" strike="noStrike">
                <a:solidFill>
                  <a:srgbClr val="5C5148"/>
                </a:solidFill>
                <a:effectLst/>
                <a:uFillTx/>
                <a:latin typeface="Calibri"/>
                <a:ea typeface="Calibri"/>
              </a:rPr>
              <a:t>Answers: which step was slow, and why?</a:t>
            </a:r>
            <a:endParaRPr lang="en-US" sz="1250" b="0" u="none" strike="noStrike">
              <a:solidFill>
                <a:srgbClr val="000000"/>
              </a:solidFill>
              <a:effectLst/>
              <a:uFillTx/>
              <a:latin typeface="Arial"/>
            </a:endParaRPr>
          </a:p>
        </p:txBody>
      </p:sp>
      <p:sp>
        <p:nvSpPr>
          <p:cNvPr id="479" name="Text 14"/>
          <p:cNvSpPr/>
          <p:nvPr/>
        </p:nvSpPr>
        <p:spPr>
          <a:xfrm>
            <a:off x="8284320" y="3977640"/>
            <a:ext cx="2980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B8894A"/>
                </a:solidFill>
                <a:effectLst/>
                <a:uFillTx/>
                <a:latin typeface="Calibri"/>
                <a:ea typeface="Calibri"/>
              </a:rPr>
              <a:t>Not implemented</a:t>
            </a:r>
            <a:endParaRPr lang="en-US" sz="1200" b="0" u="none" strike="noStrike">
              <a:solidFill>
                <a:srgbClr val="000000"/>
              </a:solidFill>
              <a:effectLst/>
              <a:uFillTx/>
              <a:latin typeface="Arial"/>
            </a:endParaRPr>
          </a:p>
        </p:txBody>
      </p:sp>
      <p:sp>
        <p:nvSpPr>
          <p:cNvPr id="480" name="Shape 15"/>
          <p:cNvSpPr/>
          <p:nvPr/>
        </p:nvSpPr>
        <p:spPr>
          <a:xfrm>
            <a:off x="640080" y="4617720"/>
            <a:ext cx="10880640" cy="1096560"/>
          </a:xfrm>
          <a:prstGeom prst="roundRect">
            <a:avLst>
              <a:gd name="adj" fmla="val 75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81" name="Text 16"/>
          <p:cNvSpPr/>
          <p:nvPr/>
        </p:nvSpPr>
        <p:spPr>
          <a:xfrm>
            <a:off x="960120" y="4864680"/>
            <a:ext cx="10240560" cy="62100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300" b="1" u="none" strike="noStrike">
                <a:solidFill>
                  <a:srgbClr val="5C5148"/>
                </a:solidFill>
                <a:effectLst/>
                <a:uFillTx/>
                <a:latin typeface="Calibri"/>
                <a:ea typeface="Calibri"/>
              </a:rPr>
              <a:t>One of three is implemented. That is solid infrastructure monitoring, and calling it observability would overstate it — a distinction worth keeping, because the two are not interchangeable when an unfamiliar problem appears.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482"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OPERATIONS · IMPLEMENTATION</a:t>
            </a:r>
            <a:endParaRPr lang="en-US" sz="1400" b="0" u="none" strike="noStrike">
              <a:solidFill>
                <a:srgbClr val="000000"/>
              </a:solidFill>
              <a:effectLst/>
              <a:uFillTx/>
              <a:latin typeface="Arial"/>
            </a:endParaRPr>
          </a:p>
        </p:txBody>
      </p:sp>
      <p:sp>
        <p:nvSpPr>
          <p:cNvPr id="483"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How a measurement becomes a dashboard</a:t>
            </a:r>
            <a:endParaRPr lang="en-US" sz="3400" b="0" u="none" strike="noStrike">
              <a:solidFill>
                <a:srgbClr val="000000"/>
              </a:solidFill>
              <a:effectLst/>
              <a:uFillTx/>
              <a:latin typeface="Arial"/>
            </a:endParaRPr>
          </a:p>
        </p:txBody>
      </p:sp>
      <p:sp>
        <p:nvSpPr>
          <p:cNvPr id="484" name="Shape 2"/>
          <p:cNvSpPr/>
          <p:nvPr/>
        </p:nvSpPr>
        <p:spPr>
          <a:xfrm>
            <a:off x="640080" y="1691640"/>
            <a:ext cx="329112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85" name="Text 3"/>
          <p:cNvSpPr/>
          <p:nvPr/>
        </p:nvSpPr>
        <p:spPr>
          <a:xfrm>
            <a:off x="777240" y="1874520"/>
            <a:ext cx="3016800" cy="291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B85042"/>
                </a:solidFill>
                <a:effectLst/>
                <a:uFillTx/>
                <a:latin typeface="Calibri"/>
                <a:ea typeface="Calibri"/>
              </a:rPr>
              <a:t>Sources</a:t>
            </a:r>
            <a:endParaRPr lang="en-US" sz="1500" b="0" u="none" strike="noStrike">
              <a:solidFill>
                <a:srgbClr val="000000"/>
              </a:solidFill>
              <a:effectLst/>
              <a:uFillTx/>
              <a:latin typeface="Arial"/>
            </a:endParaRPr>
          </a:p>
        </p:txBody>
      </p:sp>
      <p:sp>
        <p:nvSpPr>
          <p:cNvPr id="486" name="Text 4"/>
          <p:cNvSpPr/>
          <p:nvPr/>
        </p:nvSpPr>
        <p:spPr>
          <a:xfrm>
            <a:off x="822960" y="2212920"/>
            <a:ext cx="2925360" cy="685080"/>
          </a:xfrm>
          <a:prstGeom prst="rect">
            <a:avLst/>
          </a:prstGeom>
          <a:noFill/>
          <a:ln w="0">
            <a:noFill/>
          </a:ln>
        </p:spPr>
        <p:style>
          <a:lnRef idx="0"/>
          <a:fillRef idx="0"/>
          <a:effectRef idx="0"/>
          <a:fontRef idx="minor"/>
        </p:style>
        <p:txBody>
          <a:bodyPr lIns="0" tIns="0" rIns="0" bIns="0" anchor="ctr">
            <a:noAutofit/>
          </a:bodyPr>
          <a:p>
            <a:pPr algn="ctr" defTabSz="914400">
              <a:lnSpc>
                <a:spcPts val="1599"/>
              </a:lnSpc>
              <a:tabLst>
                <a:tab pos="0" algn="l"/>
              </a:tabLst>
            </a:pPr>
            <a:r>
              <a:rPr lang="en-US" sz="1300" b="1" u="none" strike="noStrike">
                <a:solidFill>
                  <a:srgbClr val="5C5148"/>
                </a:solidFill>
                <a:effectLst/>
                <a:uFillTx/>
                <a:latin typeface="Calibri"/>
                <a:ea typeface="Calibri"/>
              </a:rPr>
              <a:t>Each machine and the cluster itself expose current readings</a:t>
            </a:r>
            <a:endParaRPr lang="en-US" sz="1300" b="0" u="none" strike="noStrike">
              <a:solidFill>
                <a:srgbClr val="000000"/>
              </a:solidFill>
              <a:effectLst/>
              <a:uFillTx/>
              <a:latin typeface="Arial"/>
            </a:endParaRPr>
          </a:p>
        </p:txBody>
      </p:sp>
      <p:sp>
        <p:nvSpPr>
          <p:cNvPr id="487" name="Shape 5"/>
          <p:cNvSpPr/>
          <p:nvPr/>
        </p:nvSpPr>
        <p:spPr>
          <a:xfrm>
            <a:off x="4005000" y="2377440"/>
            <a:ext cx="511920" cy="360"/>
          </a:xfrm>
          <a:prstGeom prst="line">
            <a:avLst/>
          </a:prstGeom>
          <a:ln w="19050">
            <a:solidFill>
              <a:srgbClr val="8C8078"/>
            </a:solidFill>
            <a:round/>
            <a:tailEnd len="med" type="triangle" w="med"/>
          </a:ln>
        </p:spPr>
        <p:style>
          <a:lnRef idx="0"/>
          <a:fillRef idx="0"/>
          <a:effectRef idx="0"/>
          <a:fontRef idx="minor"/>
        </p:style>
        <p:txBody>
          <a:bodyPr lIns="90000" tIns="-44640" rIns="90000" bIns="-44640" anchor="t" anchorCtr="1">
            <a:noAutofit/>
          </a:bodyPr>
          <a:p>
            <a:endParaRPr lang="en-US" sz="1800" b="1" u="none" strike="noStrike">
              <a:solidFill>
                <a:srgbClr val="000000"/>
              </a:solidFill>
              <a:effectLst/>
              <a:uFillTx/>
              <a:latin typeface="Arial"/>
            </a:endParaRPr>
          </a:p>
        </p:txBody>
      </p:sp>
      <p:sp>
        <p:nvSpPr>
          <p:cNvPr id="488" name="Shape 6"/>
          <p:cNvSpPr/>
          <p:nvPr/>
        </p:nvSpPr>
        <p:spPr>
          <a:xfrm>
            <a:off x="4590360" y="1691640"/>
            <a:ext cx="329112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89" name="Text 7"/>
          <p:cNvSpPr/>
          <p:nvPr/>
        </p:nvSpPr>
        <p:spPr>
          <a:xfrm>
            <a:off x="4727520" y="1874520"/>
            <a:ext cx="3016800" cy="291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B85042"/>
                </a:solidFill>
                <a:effectLst/>
                <a:uFillTx/>
                <a:latin typeface="Calibri"/>
                <a:ea typeface="Calibri"/>
              </a:rPr>
              <a:t>Collector</a:t>
            </a:r>
            <a:endParaRPr lang="en-US" sz="1500" b="0" u="none" strike="noStrike">
              <a:solidFill>
                <a:srgbClr val="000000"/>
              </a:solidFill>
              <a:effectLst/>
              <a:uFillTx/>
              <a:latin typeface="Arial"/>
            </a:endParaRPr>
          </a:p>
        </p:txBody>
      </p:sp>
      <p:sp>
        <p:nvSpPr>
          <p:cNvPr id="490" name="Text 8"/>
          <p:cNvSpPr/>
          <p:nvPr/>
        </p:nvSpPr>
        <p:spPr>
          <a:xfrm>
            <a:off x="4773240" y="2212920"/>
            <a:ext cx="2925360" cy="685080"/>
          </a:xfrm>
          <a:prstGeom prst="rect">
            <a:avLst/>
          </a:prstGeom>
          <a:noFill/>
          <a:ln w="0">
            <a:noFill/>
          </a:ln>
        </p:spPr>
        <p:style>
          <a:lnRef idx="0"/>
          <a:fillRef idx="0"/>
          <a:effectRef idx="0"/>
          <a:fontRef idx="minor"/>
        </p:style>
        <p:txBody>
          <a:bodyPr lIns="0" tIns="0" rIns="0" bIns="0" anchor="ctr">
            <a:noAutofit/>
          </a:bodyPr>
          <a:p>
            <a:pPr algn="ctr" defTabSz="914400">
              <a:lnSpc>
                <a:spcPts val="1599"/>
              </a:lnSpc>
              <a:tabLst>
                <a:tab pos="0" algn="l"/>
              </a:tabLst>
            </a:pPr>
            <a:r>
              <a:rPr lang="en-US" sz="1300" b="1" u="none" strike="noStrike">
                <a:solidFill>
                  <a:srgbClr val="5C5148"/>
                </a:solidFill>
                <a:effectLst/>
                <a:uFillTx/>
                <a:latin typeface="Calibri"/>
                <a:ea typeface="Calibri"/>
              </a:rPr>
              <a:t>Reads every source on a schedule and stores the history</a:t>
            </a:r>
            <a:endParaRPr lang="en-US" sz="1300" b="0" u="none" strike="noStrike">
              <a:solidFill>
                <a:srgbClr val="000000"/>
              </a:solidFill>
              <a:effectLst/>
              <a:uFillTx/>
              <a:latin typeface="Arial"/>
            </a:endParaRPr>
          </a:p>
        </p:txBody>
      </p:sp>
      <p:sp>
        <p:nvSpPr>
          <p:cNvPr id="491" name="Shape 9"/>
          <p:cNvSpPr/>
          <p:nvPr/>
        </p:nvSpPr>
        <p:spPr>
          <a:xfrm>
            <a:off x="7955280" y="2377440"/>
            <a:ext cx="511920" cy="360"/>
          </a:xfrm>
          <a:prstGeom prst="line">
            <a:avLst/>
          </a:prstGeom>
          <a:ln w="19050">
            <a:solidFill>
              <a:srgbClr val="8C8078"/>
            </a:solidFill>
            <a:round/>
            <a:tailEnd len="med" type="triangle" w="med"/>
          </a:ln>
        </p:spPr>
        <p:style>
          <a:lnRef idx="0"/>
          <a:fillRef idx="0"/>
          <a:effectRef idx="0"/>
          <a:fontRef idx="minor"/>
        </p:style>
        <p:txBody>
          <a:bodyPr lIns="90000" tIns="-44640" rIns="90000" bIns="-44640" anchor="t" anchorCtr="1">
            <a:noAutofit/>
          </a:bodyPr>
          <a:p>
            <a:endParaRPr lang="en-US" sz="1800" b="1" u="none" strike="noStrike">
              <a:solidFill>
                <a:srgbClr val="000000"/>
              </a:solidFill>
              <a:effectLst/>
              <a:uFillTx/>
              <a:latin typeface="Arial"/>
            </a:endParaRPr>
          </a:p>
        </p:txBody>
      </p:sp>
      <p:sp>
        <p:nvSpPr>
          <p:cNvPr id="492" name="Shape 10"/>
          <p:cNvSpPr/>
          <p:nvPr/>
        </p:nvSpPr>
        <p:spPr>
          <a:xfrm>
            <a:off x="8540640" y="1691640"/>
            <a:ext cx="3412080" cy="1370880"/>
          </a:xfrm>
          <a:prstGeom prst="roundRect">
            <a:avLst>
              <a:gd name="adj" fmla="val 6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93" name="Text 11"/>
          <p:cNvSpPr/>
          <p:nvPr/>
        </p:nvSpPr>
        <p:spPr>
          <a:xfrm>
            <a:off x="8677800" y="1874520"/>
            <a:ext cx="3016800" cy="291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B85042"/>
                </a:solidFill>
                <a:effectLst/>
                <a:uFillTx/>
                <a:latin typeface="Calibri"/>
                <a:ea typeface="Calibri"/>
              </a:rPr>
              <a:t>Dashboards</a:t>
            </a:r>
            <a:endParaRPr lang="en-US" sz="1500" b="0" u="none" strike="noStrike">
              <a:solidFill>
                <a:srgbClr val="000000"/>
              </a:solidFill>
              <a:effectLst/>
              <a:uFillTx/>
              <a:latin typeface="Arial"/>
            </a:endParaRPr>
          </a:p>
        </p:txBody>
      </p:sp>
      <p:sp>
        <p:nvSpPr>
          <p:cNvPr id="494" name="Text 12"/>
          <p:cNvSpPr/>
          <p:nvPr/>
        </p:nvSpPr>
        <p:spPr>
          <a:xfrm>
            <a:off x="8723520" y="2212920"/>
            <a:ext cx="3108240" cy="685080"/>
          </a:xfrm>
          <a:prstGeom prst="rect">
            <a:avLst/>
          </a:prstGeom>
          <a:noFill/>
          <a:ln w="0">
            <a:noFill/>
          </a:ln>
        </p:spPr>
        <p:style>
          <a:lnRef idx="0"/>
          <a:fillRef idx="0"/>
          <a:effectRef idx="0"/>
          <a:fontRef idx="minor"/>
        </p:style>
        <p:txBody>
          <a:bodyPr lIns="0" tIns="0" rIns="0" bIns="0" anchor="ctr">
            <a:noAutofit/>
          </a:bodyPr>
          <a:p>
            <a:pPr algn="ctr" defTabSz="914400">
              <a:lnSpc>
                <a:spcPts val="1599"/>
              </a:lnSpc>
              <a:tabLst>
                <a:tab pos="0" algn="l"/>
              </a:tabLst>
            </a:pPr>
            <a:r>
              <a:rPr lang="en-US" sz="1300" b="1" u="none" strike="noStrike">
                <a:solidFill>
                  <a:srgbClr val="5C5148"/>
                </a:solidFill>
                <a:effectLst/>
                <a:uFillTx/>
                <a:latin typeface="Calibri"/>
                <a:ea typeface="Calibri"/>
              </a:rPr>
              <a:t>Query that history and render it for a human</a:t>
            </a:r>
            <a:endParaRPr lang="en-US" sz="1300" b="0" u="none" strike="noStrike">
              <a:solidFill>
                <a:srgbClr val="000000"/>
              </a:solidFill>
              <a:effectLst/>
              <a:uFillTx/>
              <a:latin typeface="Arial"/>
            </a:endParaRPr>
          </a:p>
        </p:txBody>
      </p:sp>
      <p:sp>
        <p:nvSpPr>
          <p:cNvPr id="495" name="Shape 13"/>
          <p:cNvSpPr/>
          <p:nvPr/>
        </p:nvSpPr>
        <p:spPr>
          <a:xfrm>
            <a:off x="640080" y="3337560"/>
            <a:ext cx="5348520" cy="1965240"/>
          </a:xfrm>
          <a:prstGeom prst="roundRect">
            <a:avLst>
              <a:gd name="adj" fmla="val 418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96" name="Text 14"/>
          <p:cNvSpPr/>
          <p:nvPr/>
        </p:nvSpPr>
        <p:spPr>
          <a:xfrm>
            <a:off x="914400" y="3520440"/>
            <a:ext cx="45712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2B2420"/>
                </a:solidFill>
                <a:effectLst/>
                <a:uFillTx/>
                <a:latin typeface="Calibri"/>
                <a:ea typeface="Calibri"/>
              </a:rPr>
              <a:t>What is visible today</a:t>
            </a:r>
            <a:endParaRPr lang="en-US" sz="1400" b="0" u="none" strike="noStrike">
              <a:solidFill>
                <a:srgbClr val="000000"/>
              </a:solidFill>
              <a:effectLst/>
              <a:uFillTx/>
              <a:latin typeface="Arial"/>
            </a:endParaRPr>
          </a:p>
        </p:txBody>
      </p:sp>
      <p:sp>
        <p:nvSpPr>
          <p:cNvPr id="497" name="Text 15"/>
          <p:cNvSpPr/>
          <p:nvPr/>
        </p:nvSpPr>
        <p:spPr>
          <a:xfrm>
            <a:off x="914400" y="3858840"/>
            <a:ext cx="4799880" cy="127944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601"/>
              </a:spcAft>
              <a:buClr>
                <a:srgbClr val="5C5148"/>
              </a:buClr>
              <a:buFont typeface="Symbol" charset="2"/>
              <a:buChar char=""/>
            </a:pPr>
            <a:r>
              <a:rPr lang="en-US" sz="1200" b="1" u="none" strike="noStrike">
                <a:solidFill>
                  <a:srgbClr val="5C5148"/>
                </a:solidFill>
                <a:effectLst/>
                <a:uFillTx/>
                <a:latin typeface="Calibri"/>
                <a:ea typeface="Calibri"/>
              </a:rPr>
              <a:t>Every namespace reporting, including the application</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5C5148"/>
              </a:buClr>
              <a:buFont typeface="Symbol" charset="2"/>
              <a:buChar char=""/>
            </a:pPr>
            <a:r>
              <a:rPr lang="en-US" sz="1200" b="1" u="none" strike="noStrike">
                <a:solidFill>
                  <a:srgbClr val="5C5148"/>
                </a:solidFill>
                <a:effectLst/>
                <a:uFillTx/>
                <a:latin typeface="Calibri"/>
                <a:ea typeface="Calibri"/>
              </a:rPr>
              <a:t>Resource use per service against what it reserved</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5C5148"/>
              </a:buClr>
              <a:buFont typeface="Symbol" charset="2"/>
              <a:buChar char=""/>
            </a:pPr>
            <a:r>
              <a:rPr lang="en-US" sz="1200" b="1" u="none" strike="noStrike">
                <a:solidFill>
                  <a:srgbClr val="5C5148"/>
                </a:solidFill>
                <a:effectLst/>
                <a:uFillTx/>
                <a:latin typeface="Calibri"/>
                <a:ea typeface="Calibri"/>
              </a:rPr>
              <a:t>Machine capacity and headroom over time</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5C5148"/>
              </a:buClr>
              <a:buFont typeface="Symbol" charset="2"/>
              <a:buChar char=""/>
            </a:pPr>
            <a:r>
              <a:rPr lang="en-US" sz="1200" b="1" u="none" strike="noStrike">
                <a:solidFill>
                  <a:srgbClr val="5C5148"/>
                </a:solidFill>
                <a:effectLst/>
                <a:uFillTx/>
                <a:latin typeface="Calibri"/>
                <a:ea typeface="Calibri"/>
              </a:rPr>
              <a:t>Two dozen dashboards, provisioned automatically</a:t>
            </a:r>
            <a:endParaRPr lang="en-US" sz="1200" b="0" u="none" strike="noStrike">
              <a:solidFill>
                <a:srgbClr val="000000"/>
              </a:solidFill>
              <a:effectLst/>
              <a:uFillTx/>
              <a:latin typeface="Arial"/>
            </a:endParaRPr>
          </a:p>
        </p:txBody>
      </p:sp>
      <p:sp>
        <p:nvSpPr>
          <p:cNvPr id="498" name="Shape 16"/>
          <p:cNvSpPr/>
          <p:nvPr/>
        </p:nvSpPr>
        <p:spPr>
          <a:xfrm>
            <a:off x="6263640" y="3337560"/>
            <a:ext cx="5257080" cy="1965240"/>
          </a:xfrm>
          <a:prstGeom prst="roundRect">
            <a:avLst>
              <a:gd name="adj" fmla="val 4186"/>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499" name="Text 17"/>
          <p:cNvSpPr/>
          <p:nvPr/>
        </p:nvSpPr>
        <p:spPr>
          <a:xfrm>
            <a:off x="6583680" y="3520440"/>
            <a:ext cx="45712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8894A"/>
                </a:solidFill>
                <a:effectLst/>
                <a:uFillTx/>
                <a:latin typeface="Calibri"/>
                <a:ea typeface="Calibri"/>
              </a:rPr>
              <a:t>Two honest gaps</a:t>
            </a:r>
            <a:endParaRPr lang="en-US" sz="1400" b="0" u="none" strike="noStrike">
              <a:solidFill>
                <a:srgbClr val="000000"/>
              </a:solidFill>
              <a:effectLst/>
              <a:uFillTx/>
              <a:latin typeface="Arial"/>
            </a:endParaRPr>
          </a:p>
        </p:txBody>
      </p:sp>
      <p:sp>
        <p:nvSpPr>
          <p:cNvPr id="500" name="Text 18"/>
          <p:cNvSpPr/>
          <p:nvPr/>
        </p:nvSpPr>
        <p:spPr>
          <a:xfrm>
            <a:off x="6583680" y="3858840"/>
            <a:ext cx="4662720" cy="127944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00" b="1" u="none" strike="noStrike">
                <a:solidFill>
                  <a:srgbClr val="5C5148"/>
                </a:solidFill>
                <a:effectLst/>
                <a:uFillTx/>
                <a:latin typeface="Calibri"/>
                <a:ea typeface="Calibri"/>
              </a:rPr>
              <a:t>Alerts are evaluated but delivered nowhere — no destination is configured. This is monitoring, not alerting.</a:t>
            </a:r>
            <a:endParaRPr lang="en-US" sz="1200" b="0" u="none" strike="noStrike">
              <a:solidFill>
                <a:srgbClr val="000000"/>
              </a:solidFill>
              <a:effectLst/>
              <a:uFillTx/>
              <a:latin typeface="Arial"/>
            </a:endParaRPr>
          </a:p>
          <a:p>
            <a:pPr defTabSz="914400">
              <a:lnSpc>
                <a:spcPts val="1701"/>
              </a:lnSpc>
              <a:tabLst>
                <a:tab pos="0" algn="l"/>
              </a:tabLst>
            </a:pPr>
            <a:endParaRPr lang="en-US" sz="1200" b="0" u="none" strike="noStrike">
              <a:solidFill>
                <a:srgbClr val="000000"/>
              </a:solidFill>
              <a:effectLst/>
              <a:uFillTx/>
              <a:latin typeface="Arial"/>
            </a:endParaRPr>
          </a:p>
          <a:p>
            <a:pPr defTabSz="914400">
              <a:lnSpc>
                <a:spcPts val="1701"/>
              </a:lnSpc>
              <a:tabLst>
                <a:tab pos="0" algn="l"/>
              </a:tabLst>
            </a:pPr>
            <a:r>
              <a:rPr lang="en-US" sz="1200" b="1" u="none" strike="noStrike">
                <a:solidFill>
                  <a:srgbClr val="5C5148"/>
                </a:solidFill>
                <a:effectLst/>
                <a:uFillTx/>
                <a:latin typeface="Calibri"/>
                <a:ea typeface="Calibri"/>
              </a:rPr>
              <a:t>The measurements are infrastructure-level. A service can use memory normally while failing every request, and these dashboards would not show it.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501"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OPERATIONS · CONCEPT</a:t>
            </a:r>
            <a:endParaRPr lang="en-US" sz="1400" b="0" u="none" strike="noStrike">
              <a:solidFill>
                <a:srgbClr val="000000"/>
              </a:solidFill>
              <a:effectLst/>
              <a:uFillTx/>
              <a:latin typeface="Arial"/>
            </a:endParaRPr>
          </a:p>
        </p:txBody>
      </p:sp>
      <p:sp>
        <p:nvSpPr>
          <p:cNvPr id="502"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Four claims that are not the same claim</a:t>
            </a:r>
            <a:endParaRPr lang="en-US" sz="3400" b="0" u="none" strike="noStrike">
              <a:solidFill>
                <a:srgbClr val="000000"/>
              </a:solidFill>
              <a:effectLst/>
              <a:uFillTx/>
              <a:latin typeface="Arial"/>
            </a:endParaRPr>
          </a:p>
        </p:txBody>
      </p:sp>
      <p:sp>
        <p:nvSpPr>
          <p:cNvPr id="503" name="Text 2"/>
          <p:cNvSpPr/>
          <p:nvPr/>
        </p:nvSpPr>
        <p:spPr>
          <a:xfrm>
            <a:off x="640080" y="1353240"/>
            <a:ext cx="1088064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C5148"/>
                </a:solidFill>
                <a:effectLst/>
                <a:uFillTx/>
                <a:latin typeface="Calibri"/>
                <a:ea typeface="Calibri"/>
              </a:rPr>
              <a:t>Most teams say "we have backups" and mean the first. The gap between the first and the last is where data is lost.</a:t>
            </a:r>
            <a:endParaRPr lang="en-US" sz="1500" b="0" u="none" strike="noStrike">
              <a:solidFill>
                <a:srgbClr val="000000"/>
              </a:solidFill>
              <a:effectLst/>
              <a:uFillTx/>
              <a:latin typeface="Arial"/>
            </a:endParaRPr>
          </a:p>
        </p:txBody>
      </p:sp>
      <p:sp>
        <p:nvSpPr>
          <p:cNvPr id="504" name="Shape 3"/>
          <p:cNvSpPr/>
          <p:nvPr/>
        </p:nvSpPr>
        <p:spPr>
          <a:xfrm>
            <a:off x="640080" y="2103120"/>
            <a:ext cx="10880640" cy="822240"/>
          </a:xfrm>
          <a:prstGeom prst="roundRect">
            <a:avLst>
              <a:gd name="adj" fmla="val 10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05" name="Shape 4"/>
          <p:cNvSpPr/>
          <p:nvPr/>
        </p:nvSpPr>
        <p:spPr>
          <a:xfrm>
            <a:off x="914400" y="2331720"/>
            <a:ext cx="383400" cy="383400"/>
          </a:xfrm>
          <a:prstGeom prst="ellipse">
            <a:avLst/>
          </a:prstGeom>
          <a:solidFill>
            <a:srgbClr val="6B7F5E"/>
          </a:solidFill>
          <a:ln w="12700">
            <a:solidFill>
              <a:srgbClr val="6B7F5E"/>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506" name="Text 5"/>
          <p:cNvSpPr/>
          <p:nvPr/>
        </p:nvSpPr>
        <p:spPr>
          <a:xfrm>
            <a:off x="914400" y="233172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507" name="Text 6"/>
          <p:cNvSpPr/>
          <p:nvPr/>
        </p:nvSpPr>
        <p:spPr>
          <a:xfrm>
            <a:off x="1508760" y="2249280"/>
            <a:ext cx="32911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2420"/>
                </a:solidFill>
                <a:effectLst/>
                <a:uFillTx/>
                <a:latin typeface="Calibri"/>
                <a:ea typeface="Calibri"/>
              </a:rPr>
              <a:t>Backup configured</a:t>
            </a:r>
            <a:endParaRPr lang="en-US" sz="1500" b="0" u="none" strike="noStrike">
              <a:solidFill>
                <a:srgbClr val="000000"/>
              </a:solidFill>
              <a:effectLst/>
              <a:uFillTx/>
              <a:latin typeface="Arial"/>
            </a:endParaRPr>
          </a:p>
        </p:txBody>
      </p:sp>
      <p:sp>
        <p:nvSpPr>
          <p:cNvPr id="508" name="Text 7"/>
          <p:cNvSpPr/>
          <p:nvPr/>
        </p:nvSpPr>
        <p:spPr>
          <a:xfrm>
            <a:off x="1508760" y="2541960"/>
            <a:ext cx="60343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A schedule exists and points somewhere</a:t>
            </a:r>
            <a:endParaRPr lang="en-US" sz="1250" b="0" u="none" strike="noStrike">
              <a:solidFill>
                <a:srgbClr val="000000"/>
              </a:solidFill>
              <a:effectLst/>
              <a:uFillTx/>
              <a:latin typeface="Arial"/>
            </a:endParaRPr>
          </a:p>
        </p:txBody>
      </p:sp>
      <p:sp>
        <p:nvSpPr>
          <p:cNvPr id="509" name="Text 8"/>
          <p:cNvSpPr/>
          <p:nvPr/>
        </p:nvSpPr>
        <p:spPr>
          <a:xfrm>
            <a:off x="9509760" y="2359080"/>
            <a:ext cx="1736640" cy="291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300" b="1" u="none" strike="noStrike">
                <a:solidFill>
                  <a:srgbClr val="6B7F5E"/>
                </a:solidFill>
                <a:effectLst/>
                <a:uFillTx/>
                <a:latin typeface="Calibri"/>
                <a:ea typeface="Calibri"/>
              </a:rPr>
              <a:t>Achieved</a:t>
            </a:r>
            <a:endParaRPr lang="en-US" sz="1300" b="0" u="none" strike="noStrike">
              <a:solidFill>
                <a:srgbClr val="000000"/>
              </a:solidFill>
              <a:effectLst/>
              <a:uFillTx/>
              <a:latin typeface="Arial"/>
            </a:endParaRPr>
          </a:p>
        </p:txBody>
      </p:sp>
      <p:sp>
        <p:nvSpPr>
          <p:cNvPr id="510" name="Shape 9"/>
          <p:cNvSpPr/>
          <p:nvPr/>
        </p:nvSpPr>
        <p:spPr>
          <a:xfrm>
            <a:off x="640080" y="3017520"/>
            <a:ext cx="10880640" cy="822240"/>
          </a:xfrm>
          <a:prstGeom prst="roundRect">
            <a:avLst>
              <a:gd name="adj" fmla="val 1000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11" name="Shape 10"/>
          <p:cNvSpPr/>
          <p:nvPr/>
        </p:nvSpPr>
        <p:spPr>
          <a:xfrm>
            <a:off x="914400" y="3246120"/>
            <a:ext cx="383400" cy="383400"/>
          </a:xfrm>
          <a:prstGeom prst="ellipse">
            <a:avLst/>
          </a:prstGeom>
          <a:solidFill>
            <a:srgbClr val="6B7F5E"/>
          </a:solidFill>
          <a:ln w="12700">
            <a:solidFill>
              <a:srgbClr val="6B7F5E"/>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512" name="Text 11"/>
          <p:cNvSpPr/>
          <p:nvPr/>
        </p:nvSpPr>
        <p:spPr>
          <a:xfrm>
            <a:off x="914400" y="324612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513" name="Text 12"/>
          <p:cNvSpPr/>
          <p:nvPr/>
        </p:nvSpPr>
        <p:spPr>
          <a:xfrm>
            <a:off x="1508760" y="3163680"/>
            <a:ext cx="32911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2420"/>
                </a:solidFill>
                <a:effectLst/>
                <a:uFillTx/>
                <a:latin typeface="Calibri"/>
                <a:ea typeface="Calibri"/>
              </a:rPr>
              <a:t>Backup succeeding</a:t>
            </a:r>
            <a:endParaRPr lang="en-US" sz="1500" b="0" u="none" strike="noStrike">
              <a:solidFill>
                <a:srgbClr val="000000"/>
              </a:solidFill>
              <a:effectLst/>
              <a:uFillTx/>
              <a:latin typeface="Arial"/>
            </a:endParaRPr>
          </a:p>
        </p:txBody>
      </p:sp>
      <p:sp>
        <p:nvSpPr>
          <p:cNvPr id="514" name="Text 13"/>
          <p:cNvSpPr/>
          <p:nvPr/>
        </p:nvSpPr>
        <p:spPr>
          <a:xfrm>
            <a:off x="1508760" y="3456360"/>
            <a:ext cx="60343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It runs, completes, and writes real data</a:t>
            </a:r>
            <a:endParaRPr lang="en-US" sz="1250" b="0" u="none" strike="noStrike">
              <a:solidFill>
                <a:srgbClr val="000000"/>
              </a:solidFill>
              <a:effectLst/>
              <a:uFillTx/>
              <a:latin typeface="Arial"/>
            </a:endParaRPr>
          </a:p>
        </p:txBody>
      </p:sp>
      <p:sp>
        <p:nvSpPr>
          <p:cNvPr id="515" name="Text 14"/>
          <p:cNvSpPr/>
          <p:nvPr/>
        </p:nvSpPr>
        <p:spPr>
          <a:xfrm>
            <a:off x="9509760" y="3273480"/>
            <a:ext cx="1736640" cy="291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300" b="1" u="none" strike="noStrike">
                <a:solidFill>
                  <a:srgbClr val="6B7F5E"/>
                </a:solidFill>
                <a:effectLst/>
                <a:uFillTx/>
                <a:latin typeface="Calibri"/>
                <a:ea typeface="Calibri"/>
              </a:rPr>
              <a:t>Achieved</a:t>
            </a:r>
            <a:endParaRPr lang="en-US" sz="1300" b="0" u="none" strike="noStrike">
              <a:solidFill>
                <a:srgbClr val="000000"/>
              </a:solidFill>
              <a:effectLst/>
              <a:uFillTx/>
              <a:latin typeface="Arial"/>
            </a:endParaRPr>
          </a:p>
        </p:txBody>
      </p:sp>
      <p:sp>
        <p:nvSpPr>
          <p:cNvPr id="516" name="Shape 15"/>
          <p:cNvSpPr/>
          <p:nvPr/>
        </p:nvSpPr>
        <p:spPr>
          <a:xfrm>
            <a:off x="640080" y="3931920"/>
            <a:ext cx="10880640" cy="822240"/>
          </a:xfrm>
          <a:prstGeom prst="roundRect">
            <a:avLst>
              <a:gd name="adj" fmla="val 10000"/>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17" name="Shape 16"/>
          <p:cNvSpPr/>
          <p:nvPr/>
        </p:nvSpPr>
        <p:spPr>
          <a:xfrm>
            <a:off x="914400" y="4160520"/>
            <a:ext cx="383400" cy="383400"/>
          </a:xfrm>
          <a:prstGeom prst="ellipse">
            <a:avLst/>
          </a:prstGeom>
          <a:solidFill>
            <a:srgbClr val="B8894A"/>
          </a:solidFill>
          <a:ln w="12700">
            <a:solidFill>
              <a:srgbClr val="B8894A"/>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518" name="Text 17"/>
          <p:cNvSpPr/>
          <p:nvPr/>
        </p:nvSpPr>
        <p:spPr>
          <a:xfrm>
            <a:off x="914400" y="416052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519" name="Text 18"/>
          <p:cNvSpPr/>
          <p:nvPr/>
        </p:nvSpPr>
        <p:spPr>
          <a:xfrm>
            <a:off x="1508760" y="4078080"/>
            <a:ext cx="32911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2420"/>
                </a:solidFill>
                <a:effectLst/>
                <a:uFillTx/>
                <a:latin typeface="Calibri"/>
                <a:ea typeface="Calibri"/>
              </a:rPr>
              <a:t>Restore tested</a:t>
            </a:r>
            <a:endParaRPr lang="en-US" sz="1500" b="0" u="none" strike="noStrike">
              <a:solidFill>
                <a:srgbClr val="000000"/>
              </a:solidFill>
              <a:effectLst/>
              <a:uFillTx/>
              <a:latin typeface="Arial"/>
            </a:endParaRPr>
          </a:p>
        </p:txBody>
      </p:sp>
      <p:sp>
        <p:nvSpPr>
          <p:cNvPr id="520" name="Text 19"/>
          <p:cNvSpPr/>
          <p:nvPr/>
        </p:nvSpPr>
        <p:spPr>
          <a:xfrm>
            <a:off x="1508760" y="4370760"/>
            <a:ext cx="60343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Someone has actually put the data back</a:t>
            </a:r>
            <a:endParaRPr lang="en-US" sz="1250" b="0" u="none" strike="noStrike">
              <a:solidFill>
                <a:srgbClr val="000000"/>
              </a:solidFill>
              <a:effectLst/>
              <a:uFillTx/>
              <a:latin typeface="Arial"/>
            </a:endParaRPr>
          </a:p>
        </p:txBody>
      </p:sp>
      <p:sp>
        <p:nvSpPr>
          <p:cNvPr id="521" name="Text 20"/>
          <p:cNvSpPr/>
          <p:nvPr/>
        </p:nvSpPr>
        <p:spPr>
          <a:xfrm>
            <a:off x="9509760" y="4187880"/>
            <a:ext cx="1736640" cy="291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300" b="1" u="none" strike="noStrike">
                <a:solidFill>
                  <a:srgbClr val="B8894A"/>
                </a:solidFill>
                <a:effectLst/>
                <a:uFillTx/>
                <a:latin typeface="Calibri"/>
                <a:ea typeface="Calibri"/>
              </a:rPr>
              <a:t>Attempted</a:t>
            </a:r>
            <a:endParaRPr lang="en-US" sz="1300" b="0" u="none" strike="noStrike">
              <a:solidFill>
                <a:srgbClr val="000000"/>
              </a:solidFill>
              <a:effectLst/>
              <a:uFillTx/>
              <a:latin typeface="Arial"/>
            </a:endParaRPr>
          </a:p>
        </p:txBody>
      </p:sp>
      <p:sp>
        <p:nvSpPr>
          <p:cNvPr id="522" name="Shape 21"/>
          <p:cNvSpPr/>
          <p:nvPr/>
        </p:nvSpPr>
        <p:spPr>
          <a:xfrm>
            <a:off x="640080" y="4846320"/>
            <a:ext cx="10880640" cy="822240"/>
          </a:xfrm>
          <a:prstGeom prst="roundRect">
            <a:avLst>
              <a:gd name="adj" fmla="val 10000"/>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23" name="Shape 22"/>
          <p:cNvSpPr/>
          <p:nvPr/>
        </p:nvSpPr>
        <p:spPr>
          <a:xfrm>
            <a:off x="914400" y="507492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524" name="Text 23"/>
          <p:cNvSpPr/>
          <p:nvPr/>
        </p:nvSpPr>
        <p:spPr>
          <a:xfrm>
            <a:off x="914400" y="507492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000000"/>
              </a:solidFill>
              <a:effectLst/>
              <a:uFillTx/>
              <a:latin typeface="Arial"/>
            </a:endParaRPr>
          </a:p>
        </p:txBody>
      </p:sp>
      <p:sp>
        <p:nvSpPr>
          <p:cNvPr id="525" name="Text 24"/>
          <p:cNvSpPr/>
          <p:nvPr/>
        </p:nvSpPr>
        <p:spPr>
          <a:xfrm>
            <a:off x="1508760" y="4992480"/>
            <a:ext cx="32911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2420"/>
                </a:solidFill>
                <a:effectLst/>
                <a:uFillTx/>
                <a:latin typeface="Calibri"/>
                <a:ea typeface="Calibri"/>
              </a:rPr>
              <a:t>Recovery validated</a:t>
            </a:r>
            <a:endParaRPr lang="en-US" sz="1500" b="0" u="none" strike="noStrike">
              <a:solidFill>
                <a:srgbClr val="000000"/>
              </a:solidFill>
              <a:effectLst/>
              <a:uFillTx/>
              <a:latin typeface="Arial"/>
            </a:endParaRPr>
          </a:p>
        </p:txBody>
      </p:sp>
      <p:sp>
        <p:nvSpPr>
          <p:cNvPr id="526" name="Text 25"/>
          <p:cNvSpPr/>
          <p:nvPr/>
        </p:nvSpPr>
        <p:spPr>
          <a:xfrm>
            <a:off x="1508760" y="5285160"/>
            <a:ext cx="60343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5C5148"/>
                </a:solidFill>
                <a:effectLst/>
                <a:uFillTx/>
                <a:latin typeface="Calibri"/>
                <a:ea typeface="Calibri"/>
              </a:rPr>
              <a:t>The restored system was verified to work</a:t>
            </a:r>
            <a:endParaRPr lang="en-US" sz="1250" b="0" u="none" strike="noStrike">
              <a:solidFill>
                <a:srgbClr val="000000"/>
              </a:solidFill>
              <a:effectLst/>
              <a:uFillTx/>
              <a:latin typeface="Arial"/>
            </a:endParaRPr>
          </a:p>
        </p:txBody>
      </p:sp>
      <p:sp>
        <p:nvSpPr>
          <p:cNvPr id="527" name="Text 26"/>
          <p:cNvSpPr/>
          <p:nvPr/>
        </p:nvSpPr>
        <p:spPr>
          <a:xfrm>
            <a:off x="9509760" y="5102280"/>
            <a:ext cx="1736640" cy="291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300" b="1" u="none" strike="noStrike">
                <a:solidFill>
                  <a:srgbClr val="B85042"/>
                </a:solidFill>
                <a:effectLst/>
                <a:uFillTx/>
                <a:latin typeface="Calibri"/>
                <a:ea typeface="Calibri"/>
              </a:rPr>
              <a:t>Not achieved</a:t>
            </a:r>
            <a:endParaRPr lang="en-US" sz="1300" b="0" u="none" strike="noStrike">
              <a:solidFill>
                <a:srgbClr val="000000"/>
              </a:solidFill>
              <a:effectLst/>
              <a:uFillTx/>
              <a:latin typeface="Arial"/>
            </a:endParaRPr>
          </a:p>
        </p:txBody>
      </p:sp>
      <p:sp>
        <p:nvSpPr>
          <p:cNvPr id="528" name="Text 27"/>
          <p:cNvSpPr/>
          <p:nvPr/>
        </p:nvSpPr>
        <p:spPr>
          <a:xfrm>
            <a:off x="640080" y="6291000"/>
            <a:ext cx="10880640" cy="273600"/>
          </a:xfrm>
          <a:prstGeom prst="rect">
            <a:avLst/>
          </a:prstGeom>
          <a:noFill/>
          <a:ln w="0">
            <a:noFill/>
          </a:ln>
        </p:spPr>
        <p:style>
          <a:lnRef idx="0"/>
          <a:fillRef idx="0"/>
          <a:effectRef idx="0"/>
          <a:fontRef idx="minor"/>
        </p:style>
        <p:txBody>
          <a:bodyPr lIns="0" tIns="0" rIns="0" bIns="0" anchor="ctr">
            <a:noAutofit/>
          </a:bodyPr>
          <a:p>
            <a:endParaRPr lang="en-US" sz="18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529"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OPERATIONS · IMPLEMENTATION</a:t>
            </a:r>
            <a:endParaRPr lang="en-US" sz="1400" b="0" u="none" strike="noStrike">
              <a:solidFill>
                <a:srgbClr val="000000"/>
              </a:solidFill>
              <a:effectLst/>
              <a:uFillTx/>
              <a:latin typeface="Arial"/>
            </a:endParaRPr>
          </a:p>
        </p:txBody>
      </p:sp>
      <p:sp>
        <p:nvSpPr>
          <p:cNvPr id="530"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What is protected, and what the test showed</a:t>
            </a:r>
            <a:endParaRPr lang="en-US" sz="3400" b="0" u="none" strike="noStrike">
              <a:solidFill>
                <a:srgbClr val="000000"/>
              </a:solidFill>
              <a:effectLst/>
              <a:uFillTx/>
              <a:latin typeface="Arial"/>
            </a:endParaRPr>
          </a:p>
        </p:txBody>
      </p:sp>
      <p:sp>
        <p:nvSpPr>
          <p:cNvPr id="531" name="Shape 2"/>
          <p:cNvSpPr/>
          <p:nvPr/>
        </p:nvSpPr>
        <p:spPr>
          <a:xfrm>
            <a:off x="640080" y="1645920"/>
            <a:ext cx="5348520" cy="2193840"/>
          </a:xfrm>
          <a:prstGeom prst="roundRect">
            <a:avLst>
              <a:gd name="adj" fmla="val 3750"/>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32" name="Text 3"/>
          <p:cNvSpPr/>
          <p:nvPr/>
        </p:nvSpPr>
        <p:spPr>
          <a:xfrm>
            <a:off x="914400" y="1828800"/>
            <a:ext cx="45712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B85042"/>
                </a:solidFill>
                <a:effectLst/>
                <a:uFillTx/>
                <a:latin typeface="Calibri"/>
                <a:ea typeface="Calibri"/>
              </a:rPr>
              <a:t>What is captured</a:t>
            </a:r>
            <a:endParaRPr lang="en-US" sz="1450" b="0" u="none" strike="noStrike">
              <a:solidFill>
                <a:srgbClr val="000000"/>
              </a:solidFill>
              <a:effectLst/>
              <a:uFillTx/>
              <a:latin typeface="Arial"/>
            </a:endParaRPr>
          </a:p>
        </p:txBody>
      </p:sp>
      <p:sp>
        <p:nvSpPr>
          <p:cNvPr id="533" name="Text 4"/>
          <p:cNvSpPr/>
          <p:nvPr/>
        </p:nvSpPr>
        <p:spPr>
          <a:xfrm>
            <a:off x="914400" y="2176200"/>
            <a:ext cx="4799880" cy="150804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601"/>
              </a:spcAft>
              <a:buClr>
                <a:srgbClr val="5C5148"/>
              </a:buClr>
              <a:buFont typeface="Symbol" charset="2"/>
              <a:buChar char=""/>
            </a:pPr>
            <a:r>
              <a:rPr lang="en-US" sz="1300" b="1" u="none" strike="noStrike">
                <a:solidFill>
                  <a:srgbClr val="5C5148"/>
                </a:solidFill>
                <a:effectLst/>
                <a:uFillTx/>
                <a:latin typeface="Calibri"/>
                <a:ea typeface="Calibri"/>
              </a:rPr>
              <a:t>Every definition in the application namespace</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5C5148"/>
              </a:buClr>
              <a:buFont typeface="Symbol" charset="2"/>
              <a:buChar char=""/>
            </a:pPr>
            <a:r>
              <a:rPr lang="en-US" sz="1300" b="1" u="none" strike="noStrike">
                <a:solidFill>
                  <a:srgbClr val="5C5148"/>
                </a:solidFill>
                <a:effectLst/>
                <a:uFillTx/>
                <a:latin typeface="Calibri"/>
                <a:ea typeface="Calibri"/>
              </a:rPr>
              <a:t>The database disk, as a point-in-time copy</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5C5148"/>
              </a:buClr>
              <a:buFont typeface="Symbol" charset="2"/>
              <a:buChar char=""/>
            </a:pPr>
            <a:r>
              <a:rPr lang="en-US" sz="1300" b="1" u="none" strike="noStrike">
                <a:solidFill>
                  <a:srgbClr val="5C5148"/>
                </a:solidFill>
                <a:effectLst/>
                <a:uFillTx/>
                <a:latin typeface="Calibri"/>
                <a:ea typeface="Calibri"/>
              </a:rPr>
              <a:t>A consistent export taken before the copy, so the database is not captured mid-write</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5C5148"/>
              </a:buClr>
              <a:buFont typeface="Symbol" charset="2"/>
              <a:buChar char=""/>
            </a:pPr>
            <a:r>
              <a:rPr lang="en-US" sz="1300" b="1" u="none" strike="noStrike">
                <a:solidFill>
                  <a:srgbClr val="5C5148"/>
                </a:solidFill>
                <a:effectLst/>
                <a:uFillTx/>
                <a:latin typeface="Calibri"/>
                <a:ea typeface="Calibri"/>
              </a:rPr>
              <a:t>Daily, retained a month, stored off-cluster</a:t>
            </a:r>
            <a:endParaRPr lang="en-US" sz="1300" b="0" u="none" strike="noStrike">
              <a:solidFill>
                <a:srgbClr val="000000"/>
              </a:solidFill>
              <a:effectLst/>
              <a:uFillTx/>
              <a:latin typeface="Arial"/>
            </a:endParaRPr>
          </a:p>
        </p:txBody>
      </p:sp>
      <p:sp>
        <p:nvSpPr>
          <p:cNvPr id="534" name="Shape 5"/>
          <p:cNvSpPr/>
          <p:nvPr/>
        </p:nvSpPr>
        <p:spPr>
          <a:xfrm>
            <a:off x="6263640" y="1645920"/>
            <a:ext cx="5257080" cy="2193840"/>
          </a:xfrm>
          <a:prstGeom prst="roundRect">
            <a:avLst>
              <a:gd name="adj" fmla="val 3750"/>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35" name="Text 6"/>
          <p:cNvSpPr/>
          <p:nvPr/>
        </p:nvSpPr>
        <p:spPr>
          <a:xfrm>
            <a:off x="6583680" y="1828800"/>
            <a:ext cx="45712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B8894A"/>
                </a:solidFill>
                <a:effectLst/>
                <a:uFillTx/>
                <a:latin typeface="Calibri"/>
                <a:ea typeface="Calibri"/>
              </a:rPr>
              <a:t>The restore test</a:t>
            </a:r>
            <a:endParaRPr lang="en-US" sz="1450" b="0" u="none" strike="noStrike">
              <a:solidFill>
                <a:srgbClr val="000000"/>
              </a:solidFill>
              <a:effectLst/>
              <a:uFillTx/>
              <a:latin typeface="Arial"/>
            </a:endParaRPr>
          </a:p>
        </p:txBody>
      </p:sp>
      <p:sp>
        <p:nvSpPr>
          <p:cNvPr id="536" name="Text 7"/>
          <p:cNvSpPr/>
          <p:nvPr/>
        </p:nvSpPr>
        <p:spPr>
          <a:xfrm>
            <a:off x="6583680" y="2176200"/>
            <a:ext cx="4845960" cy="150804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300" b="1" u="none" strike="noStrike">
                <a:solidFill>
                  <a:srgbClr val="5C5148"/>
                </a:solidFill>
                <a:effectLst/>
                <a:uFillTx/>
                <a:latin typeface="Calibri"/>
                <a:ea typeface="Calibri"/>
              </a:rPr>
              <a:t>The application namespace was deleted deliberately and restored from a backup.</a:t>
            </a:r>
            <a:endParaRPr lang="en-US" sz="1300" b="0" u="none" strike="noStrike">
              <a:solidFill>
                <a:srgbClr val="000000"/>
              </a:solidFill>
              <a:effectLst/>
              <a:uFillTx/>
              <a:latin typeface="Arial"/>
            </a:endParaRPr>
          </a:p>
          <a:p>
            <a:pPr defTabSz="914400">
              <a:lnSpc>
                <a:spcPts val="1701"/>
              </a:lnSpc>
              <a:tabLst>
                <a:tab pos="0" algn="l"/>
              </a:tabLst>
            </a:pPr>
            <a:endParaRPr lang="en-US" sz="1300" b="0" u="none" strike="noStrike">
              <a:solidFill>
                <a:srgbClr val="000000"/>
              </a:solidFill>
              <a:effectLst/>
              <a:uFillTx/>
              <a:latin typeface="Arial"/>
            </a:endParaRPr>
          </a:p>
          <a:p>
            <a:pPr defTabSz="914400">
              <a:lnSpc>
                <a:spcPts val="1701"/>
              </a:lnSpc>
              <a:tabLst>
                <a:tab pos="0" algn="l"/>
              </a:tabLst>
            </a:pPr>
            <a:r>
              <a:rPr lang="en-US" sz="1300" b="1" u="none" strike="noStrike">
                <a:solidFill>
                  <a:srgbClr val="5C5148"/>
                </a:solidFill>
                <a:effectLst/>
                <a:uFillTx/>
                <a:latin typeface="Calibri"/>
                <a:ea typeface="Calibri"/>
              </a:rPr>
              <a:t>Result: partially failed — one error, four warnings.</a:t>
            </a:r>
            <a:endParaRPr lang="en-US" sz="1300" b="0" u="none" strike="noStrike">
              <a:solidFill>
                <a:srgbClr val="000000"/>
              </a:solidFill>
              <a:effectLst/>
              <a:uFillTx/>
              <a:latin typeface="Arial"/>
            </a:endParaRPr>
          </a:p>
          <a:p>
            <a:pPr defTabSz="914400">
              <a:lnSpc>
                <a:spcPts val="1701"/>
              </a:lnSpc>
              <a:tabLst>
                <a:tab pos="0" algn="l"/>
              </a:tabLst>
            </a:pPr>
            <a:endParaRPr lang="en-US" sz="1300" b="0" u="none" strike="noStrike">
              <a:solidFill>
                <a:srgbClr val="000000"/>
              </a:solidFill>
              <a:effectLst/>
              <a:uFillTx/>
              <a:latin typeface="Arial"/>
            </a:endParaRPr>
          </a:p>
          <a:p>
            <a:pPr defTabSz="914400">
              <a:lnSpc>
                <a:spcPts val="1701"/>
              </a:lnSpc>
              <a:tabLst>
                <a:tab pos="0" algn="l"/>
              </a:tabLst>
            </a:pPr>
            <a:r>
              <a:rPr lang="en-US" sz="1300" b="1" u="none" strike="noStrike">
                <a:solidFill>
                  <a:srgbClr val="5C5148"/>
                </a:solidFill>
                <a:effectLst/>
                <a:uFillTx/>
                <a:latin typeface="Calibri"/>
                <a:ea typeface="Calibri"/>
              </a:rPr>
              <a:t>The database disk did come back: it was recreated, reattached, and carried the marker the backup system applies only to items it restored.</a:t>
            </a:r>
            <a:endParaRPr lang="en-US" sz="1300" b="0" u="none" strike="noStrike">
              <a:solidFill>
                <a:srgbClr val="000000"/>
              </a:solidFill>
              <a:effectLst/>
              <a:uFillTx/>
              <a:latin typeface="Arial"/>
            </a:endParaRPr>
          </a:p>
        </p:txBody>
      </p:sp>
      <p:sp>
        <p:nvSpPr>
          <p:cNvPr id="537" name="Shape 8"/>
          <p:cNvSpPr/>
          <p:nvPr/>
        </p:nvSpPr>
        <p:spPr>
          <a:xfrm>
            <a:off x="640080" y="4069080"/>
            <a:ext cx="10880640" cy="1690920"/>
          </a:xfrm>
          <a:prstGeom prst="roundRect">
            <a:avLst>
              <a:gd name="adj" fmla="val 4865"/>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38" name="Text 9"/>
          <p:cNvSpPr/>
          <p:nvPr/>
        </p:nvSpPr>
        <p:spPr>
          <a:xfrm>
            <a:off x="960120" y="4251960"/>
            <a:ext cx="54856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2420"/>
                </a:solidFill>
                <a:effectLst/>
                <a:uFillTx/>
                <a:latin typeface="Calibri"/>
                <a:ea typeface="Calibri"/>
              </a:rPr>
              <a:t>Why this is presented rather than omitted</a:t>
            </a:r>
            <a:endParaRPr lang="en-US" sz="1500" b="0" u="none" strike="noStrike">
              <a:solidFill>
                <a:srgbClr val="000000"/>
              </a:solidFill>
              <a:effectLst/>
              <a:uFillTx/>
              <a:latin typeface="Arial"/>
            </a:endParaRPr>
          </a:p>
        </p:txBody>
      </p:sp>
      <p:sp>
        <p:nvSpPr>
          <p:cNvPr id="539" name="Text 10"/>
          <p:cNvSpPr/>
          <p:nvPr/>
        </p:nvSpPr>
        <p:spPr>
          <a:xfrm>
            <a:off x="960120" y="4572000"/>
            <a:ext cx="10240560" cy="1096560"/>
          </a:xfrm>
          <a:prstGeom prst="rect">
            <a:avLst/>
          </a:prstGeom>
          <a:noFill/>
          <a:ln w="0">
            <a:noFill/>
          </a:ln>
        </p:spPr>
        <p:style>
          <a:lnRef idx="0"/>
          <a:fillRef idx="0"/>
          <a:effectRef idx="0"/>
          <a:fontRef idx="minor"/>
        </p:style>
        <p:txBody>
          <a:bodyPr lIns="0" tIns="0" rIns="0" bIns="0" anchor="ctr">
            <a:noAutofit/>
          </a:bodyPr>
          <a:p>
            <a:pPr defTabSz="914400">
              <a:lnSpc>
                <a:spcPts val="1800"/>
              </a:lnSpc>
              <a:tabLst>
                <a:tab pos="0" algn="l"/>
              </a:tabLst>
            </a:pPr>
            <a:r>
              <a:rPr lang="en-US" sz="1250" b="1" u="none" strike="noStrike">
                <a:solidFill>
                  <a:srgbClr val="5C5148"/>
                </a:solidFill>
                <a:effectLst/>
                <a:uFillTx/>
                <a:latin typeface="Calibri"/>
                <a:ea typeface="Calibri"/>
              </a:rPr>
              <a:t>Showing only the successful backup would misrepresent the state of the system. The test was run, it did not fully succeed, and the cause was not captured — so recovery is not validated, and I would not claim it is.</a:t>
            </a:r>
            <a:endParaRPr lang="en-US" sz="1250" b="0" u="none" strike="noStrike">
              <a:solidFill>
                <a:srgbClr val="000000"/>
              </a:solidFill>
              <a:effectLst/>
              <a:uFillTx/>
              <a:latin typeface="Arial"/>
            </a:endParaRPr>
          </a:p>
          <a:p>
            <a:pPr defTabSz="914400">
              <a:lnSpc>
                <a:spcPts val="1800"/>
              </a:lnSpc>
              <a:tabLst>
                <a:tab pos="0" algn="l"/>
              </a:tabLst>
            </a:pPr>
            <a:endParaRPr lang="en-US" sz="1250" b="0" u="none" strike="noStrike">
              <a:solidFill>
                <a:srgbClr val="000000"/>
              </a:solidFill>
              <a:effectLst/>
              <a:uFillTx/>
              <a:latin typeface="Arial"/>
            </a:endParaRPr>
          </a:p>
          <a:p>
            <a:pPr defTabSz="914400">
              <a:lnSpc>
                <a:spcPts val="1800"/>
              </a:lnSpc>
              <a:tabLst>
                <a:tab pos="0" algn="l"/>
              </a:tabLst>
            </a:pPr>
            <a:r>
              <a:rPr lang="en-US" sz="1250" b="1" u="none" strike="noStrike">
                <a:solidFill>
                  <a:srgbClr val="5C5148"/>
                </a:solidFill>
                <a:effectLst/>
                <a:uFillTx/>
                <a:latin typeface="Calibri"/>
                <a:ea typeface="Calibri"/>
              </a:rPr>
              <a:t>What that leaves is a known risk rather than an assumed safety, and a specific next step: read the restore log, then verify the recovered data by counting records before and after.</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540" name="Text 0"/>
          <p:cNvSpPr/>
          <p:nvPr/>
        </p:nvSpPr>
        <p:spPr>
          <a:xfrm>
            <a:off x="640080" y="331560"/>
            <a:ext cx="7314480" cy="305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ENGINEERING</a:t>
            </a:r>
            <a:endParaRPr lang="en-US" sz="1400" b="0" u="none" strike="noStrike">
              <a:solidFill>
                <a:srgbClr val="000000"/>
              </a:solidFill>
              <a:effectLst/>
              <a:uFillTx/>
              <a:latin typeface="Arial"/>
            </a:endParaRPr>
          </a:p>
        </p:txBody>
      </p:sp>
      <p:sp>
        <p:nvSpPr>
          <p:cNvPr id="541" name="Text 1"/>
          <p:cNvSpPr/>
          <p:nvPr/>
        </p:nvSpPr>
        <p:spPr>
          <a:xfrm>
            <a:off x="640080" y="672840"/>
            <a:ext cx="10880640" cy="586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Three problems worth remembering</a:t>
            </a:r>
            <a:endParaRPr lang="en-US" sz="3400" b="0" u="none" strike="noStrike">
              <a:solidFill>
                <a:srgbClr val="000000"/>
              </a:solidFill>
              <a:effectLst/>
              <a:uFillTx/>
              <a:latin typeface="Arial"/>
            </a:endParaRPr>
          </a:p>
        </p:txBody>
      </p:sp>
      <p:sp>
        <p:nvSpPr>
          <p:cNvPr id="542" name="Shape 2"/>
          <p:cNvSpPr/>
          <p:nvPr/>
        </p:nvSpPr>
        <p:spPr>
          <a:xfrm>
            <a:off x="640080" y="1572840"/>
            <a:ext cx="10880640" cy="1480680"/>
          </a:xfrm>
          <a:prstGeom prst="roundRect">
            <a:avLst>
              <a:gd name="adj" fmla="val 555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43" name="Shape 3"/>
          <p:cNvSpPr/>
          <p:nvPr/>
        </p:nvSpPr>
        <p:spPr>
          <a:xfrm>
            <a:off x="914400" y="179208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544" name="Text 4"/>
          <p:cNvSpPr/>
          <p:nvPr/>
        </p:nvSpPr>
        <p:spPr>
          <a:xfrm>
            <a:off x="914400" y="1828800"/>
            <a:ext cx="38340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545" name="Text 5"/>
          <p:cNvSpPr/>
          <p:nvPr/>
        </p:nvSpPr>
        <p:spPr>
          <a:xfrm>
            <a:off x="1508760" y="1744920"/>
            <a:ext cx="9600480" cy="313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2B2420"/>
                </a:solidFill>
                <a:effectLst/>
                <a:uFillTx/>
                <a:latin typeface="Calibri"/>
                <a:ea typeface="Calibri"/>
              </a:rPr>
              <a:t>Registration failed with a permission error</a:t>
            </a:r>
            <a:endParaRPr lang="en-US" sz="1450" b="0" u="none" strike="noStrike">
              <a:solidFill>
                <a:srgbClr val="000000"/>
              </a:solidFill>
              <a:effectLst/>
              <a:uFillTx/>
              <a:latin typeface="Arial"/>
            </a:endParaRPr>
          </a:p>
        </p:txBody>
      </p:sp>
      <p:sp>
        <p:nvSpPr>
          <p:cNvPr id="546" name="Text 6"/>
          <p:cNvSpPr/>
          <p:nvPr/>
        </p:nvSpPr>
        <p:spPr>
          <a:xfrm>
            <a:off x="1508760" y="2009880"/>
            <a:ext cx="9691920" cy="66060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50" b="1" u="none" strike="noStrike">
                <a:solidFill>
                  <a:srgbClr val="5C5148"/>
                </a:solidFill>
                <a:effectLst/>
                <a:uFillTx/>
                <a:latin typeface="Calibri"/>
                <a:ea typeface="Calibri"/>
              </a:rPr>
              <a:t>Three faults stacked. Sessions were held in memory across two copies, so a security token issued by one was rejected by the other. Beneath that, a library upgrade changed how records were numbered. And the test used to investigate went through the load balancer, reproducing the first fault while trying to isolate the second.</a:t>
            </a:r>
            <a:endParaRPr lang="en-US" sz="1150" b="0" u="none" strike="noStrike">
              <a:solidFill>
                <a:srgbClr val="000000"/>
              </a:solidFill>
              <a:effectLst/>
              <a:uFillTx/>
              <a:latin typeface="Arial"/>
            </a:endParaRPr>
          </a:p>
        </p:txBody>
      </p:sp>
      <p:sp>
        <p:nvSpPr>
          <p:cNvPr id="547" name="Text 7"/>
          <p:cNvSpPr/>
          <p:nvPr/>
        </p:nvSpPr>
        <p:spPr>
          <a:xfrm>
            <a:off x="1508760" y="2682360"/>
            <a:ext cx="9691920" cy="267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i="1" u="none" strike="noStrike">
                <a:solidFill>
                  <a:srgbClr val="B85042"/>
                </a:solidFill>
                <a:effectLst/>
                <a:uFillTx/>
                <a:latin typeface="Calibri"/>
                <a:ea typeface="Calibri"/>
              </a:rPr>
              <a:t>Lesson  ·  When faults stack, fixing one changes the symptom without solving the problem. Isolate each layer with a test that can only fail for one reason.</a:t>
            </a:r>
            <a:endParaRPr lang="en-US" sz="1150" b="0" u="none" strike="noStrike">
              <a:solidFill>
                <a:srgbClr val="000000"/>
              </a:solidFill>
              <a:effectLst/>
              <a:uFillTx/>
              <a:latin typeface="Arial"/>
            </a:endParaRPr>
          </a:p>
        </p:txBody>
      </p:sp>
      <p:sp>
        <p:nvSpPr>
          <p:cNvPr id="548" name="Shape 8"/>
          <p:cNvSpPr/>
          <p:nvPr/>
        </p:nvSpPr>
        <p:spPr>
          <a:xfrm>
            <a:off x="640080" y="3173040"/>
            <a:ext cx="10880640" cy="1480680"/>
          </a:xfrm>
          <a:prstGeom prst="roundRect">
            <a:avLst>
              <a:gd name="adj" fmla="val 555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49" name="Shape 9"/>
          <p:cNvSpPr/>
          <p:nvPr/>
        </p:nvSpPr>
        <p:spPr>
          <a:xfrm>
            <a:off x="914400" y="339228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550" name="Text 10"/>
          <p:cNvSpPr/>
          <p:nvPr/>
        </p:nvSpPr>
        <p:spPr>
          <a:xfrm>
            <a:off x="914400" y="3429000"/>
            <a:ext cx="38340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551" name="Text 11"/>
          <p:cNvSpPr/>
          <p:nvPr/>
        </p:nvSpPr>
        <p:spPr>
          <a:xfrm>
            <a:off x="1508760" y="3345120"/>
            <a:ext cx="9600480" cy="313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2B2420"/>
                </a:solidFill>
                <a:effectLst/>
                <a:uFillTx/>
                <a:latin typeface="Calibri"/>
                <a:ea typeface="Calibri"/>
              </a:rPr>
              <a:t>A failing check reported success</a:t>
            </a:r>
            <a:endParaRPr lang="en-US" sz="1450" b="0" u="none" strike="noStrike">
              <a:solidFill>
                <a:srgbClr val="000000"/>
              </a:solidFill>
              <a:effectLst/>
              <a:uFillTx/>
              <a:latin typeface="Arial"/>
            </a:endParaRPr>
          </a:p>
        </p:txBody>
      </p:sp>
      <p:sp>
        <p:nvSpPr>
          <p:cNvPr id="552" name="Text 12"/>
          <p:cNvSpPr/>
          <p:nvPr/>
        </p:nvSpPr>
        <p:spPr>
          <a:xfrm>
            <a:off x="1508760" y="3704400"/>
            <a:ext cx="9691920" cy="47016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50" b="1" u="none" strike="noStrike">
                <a:solidFill>
                  <a:srgbClr val="5C5148"/>
                </a:solidFill>
                <a:effectLst/>
                <a:uFillTx/>
                <a:latin typeface="Calibri"/>
                <a:ea typeface="Calibri"/>
              </a:rPr>
              <a:t>A connectivity check piped one command into another. The shell reports the exit status of the last command only, so the real failure was discarded and the build carried on as though the cluster were reachable.</a:t>
            </a:r>
            <a:endParaRPr lang="en-US" sz="1150" b="0" u="none" strike="noStrike">
              <a:solidFill>
                <a:srgbClr val="000000"/>
              </a:solidFill>
              <a:effectLst/>
              <a:uFillTx/>
              <a:latin typeface="Arial"/>
            </a:endParaRPr>
          </a:p>
        </p:txBody>
      </p:sp>
      <p:sp>
        <p:nvSpPr>
          <p:cNvPr id="553" name="Text 13"/>
          <p:cNvSpPr/>
          <p:nvPr/>
        </p:nvSpPr>
        <p:spPr>
          <a:xfrm>
            <a:off x="1508760" y="4282560"/>
            <a:ext cx="9691920" cy="267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i="1" u="none" strike="noStrike">
                <a:solidFill>
                  <a:srgbClr val="B85042"/>
                </a:solidFill>
                <a:effectLst/>
                <a:uFillTx/>
                <a:latin typeface="Calibri"/>
                <a:ea typeface="Calibri"/>
              </a:rPr>
              <a:t>Lesson  ·  A silent failure is more expensive than a loud one. Never let a check's result be filtered away.</a:t>
            </a:r>
            <a:endParaRPr lang="en-US" sz="1150" b="0" u="none" strike="noStrike">
              <a:solidFill>
                <a:srgbClr val="000000"/>
              </a:solidFill>
              <a:effectLst/>
              <a:uFillTx/>
              <a:latin typeface="Arial"/>
            </a:endParaRPr>
          </a:p>
        </p:txBody>
      </p:sp>
      <p:sp>
        <p:nvSpPr>
          <p:cNvPr id="554" name="Shape 14"/>
          <p:cNvSpPr/>
          <p:nvPr/>
        </p:nvSpPr>
        <p:spPr>
          <a:xfrm>
            <a:off x="640080" y="4773240"/>
            <a:ext cx="10880640" cy="1480680"/>
          </a:xfrm>
          <a:prstGeom prst="roundRect">
            <a:avLst>
              <a:gd name="adj" fmla="val 555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55" name="Shape 15"/>
          <p:cNvSpPr/>
          <p:nvPr/>
        </p:nvSpPr>
        <p:spPr>
          <a:xfrm>
            <a:off x="914400" y="499248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556" name="Text 16"/>
          <p:cNvSpPr/>
          <p:nvPr/>
        </p:nvSpPr>
        <p:spPr>
          <a:xfrm>
            <a:off x="914400" y="5029200"/>
            <a:ext cx="383400" cy="29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557" name="Text 17"/>
          <p:cNvSpPr/>
          <p:nvPr/>
        </p:nvSpPr>
        <p:spPr>
          <a:xfrm>
            <a:off x="1508760" y="4945320"/>
            <a:ext cx="9600480" cy="313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2B2420"/>
                </a:solidFill>
                <a:effectLst/>
                <a:uFillTx/>
                <a:latin typeface="Calibri"/>
                <a:ea typeface="Calibri"/>
              </a:rPr>
              <a:t>Namespaces would not finish deleting</a:t>
            </a:r>
            <a:endParaRPr lang="en-US" sz="1450" b="0" u="none" strike="noStrike">
              <a:solidFill>
                <a:srgbClr val="000000"/>
              </a:solidFill>
              <a:effectLst/>
              <a:uFillTx/>
              <a:latin typeface="Arial"/>
            </a:endParaRPr>
          </a:p>
        </p:txBody>
      </p:sp>
      <p:sp>
        <p:nvSpPr>
          <p:cNvPr id="558" name="Text 18"/>
          <p:cNvSpPr/>
          <p:nvPr/>
        </p:nvSpPr>
        <p:spPr>
          <a:xfrm>
            <a:off x="1508760" y="5399640"/>
            <a:ext cx="9691920" cy="27972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50" b="1" u="none" strike="noStrike">
                <a:solidFill>
                  <a:srgbClr val="5C5148"/>
                </a:solidFill>
                <a:effectLst/>
                <a:uFillTx/>
                <a:latin typeface="Calibri"/>
                <a:ea typeface="Calibri"/>
              </a:rPr>
              <a:t>The components responsible for releasing their own resources were removed first, leaving nothing to complete the cleanup they owned.</a:t>
            </a:r>
            <a:endParaRPr lang="en-US" sz="1150" b="0" u="none" strike="noStrike">
              <a:solidFill>
                <a:srgbClr val="000000"/>
              </a:solidFill>
              <a:effectLst/>
              <a:uFillTx/>
              <a:latin typeface="Arial"/>
            </a:endParaRPr>
          </a:p>
        </p:txBody>
      </p:sp>
      <p:sp>
        <p:nvSpPr>
          <p:cNvPr id="559" name="Text 19"/>
          <p:cNvSpPr/>
          <p:nvPr/>
        </p:nvSpPr>
        <p:spPr>
          <a:xfrm>
            <a:off x="1508760" y="5882760"/>
            <a:ext cx="9691920" cy="267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i="1" u="none" strike="noStrike">
                <a:solidFill>
                  <a:srgbClr val="B85042"/>
                </a:solidFill>
                <a:effectLst/>
                <a:uFillTx/>
                <a:latin typeface="Calibri"/>
                <a:ea typeface="Calibri"/>
              </a:rPr>
              <a:t>Lesson  ·  Removal order is the reverse of installation order. A controller must outlive the things it controls.</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560"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ENGINEERING</a:t>
            </a:r>
            <a:endParaRPr lang="en-US" sz="1400" b="0" u="none" strike="noStrike">
              <a:solidFill>
                <a:srgbClr val="000000"/>
              </a:solidFill>
              <a:effectLst/>
              <a:uFillTx/>
              <a:latin typeface="Arial"/>
            </a:endParaRPr>
          </a:p>
        </p:txBody>
      </p:sp>
      <p:sp>
        <p:nvSpPr>
          <p:cNvPr id="561"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What production would require</a:t>
            </a:r>
            <a:endParaRPr lang="en-US" sz="3400" b="0" u="none" strike="noStrike">
              <a:solidFill>
                <a:srgbClr val="000000"/>
              </a:solidFill>
              <a:effectLst/>
              <a:uFillTx/>
              <a:latin typeface="Arial"/>
            </a:endParaRPr>
          </a:p>
        </p:txBody>
      </p:sp>
      <p:sp>
        <p:nvSpPr>
          <p:cNvPr id="562" name="Text 2"/>
          <p:cNvSpPr/>
          <p:nvPr/>
        </p:nvSpPr>
        <p:spPr>
          <a:xfrm>
            <a:off x="640080" y="1353240"/>
            <a:ext cx="1088064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5C5148"/>
                </a:solidFill>
                <a:effectLst/>
                <a:uFillTx/>
                <a:latin typeface="Calibri"/>
                <a:ea typeface="Calibri"/>
              </a:rPr>
              <a:t>Current state on the left, the change on the right. Nothing on the right is claimed as built.</a:t>
            </a:r>
            <a:endParaRPr lang="en-US" sz="1500" b="0" u="none" strike="noStrike">
              <a:solidFill>
                <a:srgbClr val="000000"/>
              </a:solidFill>
              <a:effectLst/>
              <a:uFillTx/>
              <a:latin typeface="Arial"/>
            </a:endParaRPr>
          </a:p>
        </p:txBody>
      </p:sp>
      <p:sp>
        <p:nvSpPr>
          <p:cNvPr id="563" name="Shape 3"/>
          <p:cNvSpPr/>
          <p:nvPr/>
        </p:nvSpPr>
        <p:spPr>
          <a:xfrm>
            <a:off x="640080" y="1965960"/>
            <a:ext cx="10880640" cy="410760"/>
          </a:xfrm>
          <a:prstGeom prst="roundRect">
            <a:avLst>
              <a:gd name="adj" fmla="val 20000"/>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64" name="Text 4"/>
          <p:cNvSpPr/>
          <p:nvPr/>
        </p:nvSpPr>
        <p:spPr>
          <a:xfrm>
            <a:off x="932760" y="2030040"/>
            <a:ext cx="23767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8C8078"/>
                </a:solidFill>
                <a:effectLst/>
                <a:uFillTx/>
                <a:latin typeface="Calibri"/>
                <a:ea typeface="Calibri"/>
              </a:rPr>
              <a:t>Area</a:t>
            </a:r>
            <a:endParaRPr lang="en-US" sz="1200" b="0" u="none" strike="noStrike">
              <a:solidFill>
                <a:srgbClr val="000000"/>
              </a:solidFill>
              <a:effectLst/>
              <a:uFillTx/>
              <a:latin typeface="Arial"/>
            </a:endParaRPr>
          </a:p>
        </p:txBody>
      </p:sp>
      <p:sp>
        <p:nvSpPr>
          <p:cNvPr id="565" name="Text 5"/>
          <p:cNvSpPr/>
          <p:nvPr/>
        </p:nvSpPr>
        <p:spPr>
          <a:xfrm>
            <a:off x="3657600" y="2030040"/>
            <a:ext cx="36568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8C8078"/>
                </a:solidFill>
                <a:effectLst/>
                <a:uFillTx/>
                <a:latin typeface="Calibri"/>
                <a:ea typeface="Calibri"/>
              </a:rPr>
              <a:t>Current implementation</a:t>
            </a:r>
            <a:endParaRPr lang="en-US" sz="1200" b="0" u="none" strike="noStrike">
              <a:solidFill>
                <a:srgbClr val="000000"/>
              </a:solidFill>
              <a:effectLst/>
              <a:uFillTx/>
              <a:latin typeface="Arial"/>
            </a:endParaRPr>
          </a:p>
        </p:txBody>
      </p:sp>
      <p:sp>
        <p:nvSpPr>
          <p:cNvPr id="566" name="Text 6"/>
          <p:cNvSpPr/>
          <p:nvPr/>
        </p:nvSpPr>
        <p:spPr>
          <a:xfrm>
            <a:off x="7589520" y="2030040"/>
            <a:ext cx="383976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8C8078"/>
                </a:solidFill>
                <a:effectLst/>
                <a:uFillTx/>
                <a:latin typeface="Calibri"/>
                <a:ea typeface="Calibri"/>
              </a:rPr>
              <a:t>Recommended improvement</a:t>
            </a:r>
            <a:endParaRPr lang="en-US" sz="1200" b="0" u="none" strike="noStrike">
              <a:solidFill>
                <a:srgbClr val="000000"/>
              </a:solidFill>
              <a:effectLst/>
              <a:uFillTx/>
              <a:latin typeface="Arial"/>
            </a:endParaRPr>
          </a:p>
        </p:txBody>
      </p:sp>
      <p:sp>
        <p:nvSpPr>
          <p:cNvPr id="567" name="Shape 7"/>
          <p:cNvSpPr/>
          <p:nvPr/>
        </p:nvSpPr>
        <p:spPr>
          <a:xfrm>
            <a:off x="640080" y="2450520"/>
            <a:ext cx="10880640" cy="566280"/>
          </a:xfrm>
          <a:prstGeom prst="roundRect">
            <a:avLst>
              <a:gd name="adj" fmla="val 1451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68" name="Text 8"/>
          <p:cNvSpPr/>
          <p:nvPr/>
        </p:nvSpPr>
        <p:spPr>
          <a:xfrm>
            <a:off x="932760" y="2597040"/>
            <a:ext cx="25596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2B2420"/>
                </a:solidFill>
                <a:effectLst/>
                <a:uFillTx/>
                <a:latin typeface="Calibri"/>
                <a:ea typeface="Calibri"/>
              </a:rPr>
              <a:t>Database</a:t>
            </a:r>
            <a:endParaRPr lang="en-US" sz="1250" b="0" u="none" strike="noStrike">
              <a:solidFill>
                <a:srgbClr val="000000"/>
              </a:solidFill>
              <a:effectLst/>
              <a:uFillTx/>
              <a:latin typeface="Arial"/>
            </a:endParaRPr>
          </a:p>
        </p:txBody>
      </p:sp>
      <p:sp>
        <p:nvSpPr>
          <p:cNvPr id="569" name="Text 9"/>
          <p:cNvSpPr/>
          <p:nvPr/>
        </p:nvSpPr>
        <p:spPr>
          <a:xfrm>
            <a:off x="3657600" y="2597040"/>
            <a:ext cx="37483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5C5148"/>
                </a:solidFill>
                <a:effectLst/>
                <a:uFillTx/>
                <a:latin typeface="Calibri"/>
                <a:ea typeface="Calibri"/>
              </a:rPr>
              <a:t>One copy inside the cluster</a:t>
            </a:r>
            <a:endParaRPr lang="en-US" sz="1200" b="0" u="none" strike="noStrike">
              <a:solidFill>
                <a:srgbClr val="000000"/>
              </a:solidFill>
              <a:effectLst/>
              <a:uFillTx/>
              <a:latin typeface="Arial"/>
            </a:endParaRPr>
          </a:p>
        </p:txBody>
      </p:sp>
      <p:sp>
        <p:nvSpPr>
          <p:cNvPr id="570" name="Text 10"/>
          <p:cNvSpPr/>
          <p:nvPr/>
        </p:nvSpPr>
        <p:spPr>
          <a:xfrm>
            <a:off x="7589520" y="2597040"/>
            <a:ext cx="39312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B85042"/>
                </a:solidFill>
                <a:effectLst/>
                <a:uFillTx/>
                <a:latin typeface="Calibri"/>
                <a:ea typeface="Calibri"/>
              </a:rPr>
              <a:t>Managed database with automatic failover</a:t>
            </a:r>
            <a:endParaRPr lang="en-US" sz="1200" b="0" u="none" strike="noStrike">
              <a:solidFill>
                <a:srgbClr val="000000"/>
              </a:solidFill>
              <a:effectLst/>
              <a:uFillTx/>
              <a:latin typeface="Arial"/>
            </a:endParaRPr>
          </a:p>
        </p:txBody>
      </p:sp>
      <p:sp>
        <p:nvSpPr>
          <p:cNvPr id="571" name="Shape 11"/>
          <p:cNvSpPr/>
          <p:nvPr/>
        </p:nvSpPr>
        <p:spPr>
          <a:xfrm>
            <a:off x="640080" y="3090600"/>
            <a:ext cx="10880640" cy="566280"/>
          </a:xfrm>
          <a:prstGeom prst="roundRect">
            <a:avLst>
              <a:gd name="adj" fmla="val 14516"/>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72" name="Text 12"/>
          <p:cNvSpPr/>
          <p:nvPr/>
        </p:nvSpPr>
        <p:spPr>
          <a:xfrm>
            <a:off x="932760" y="3237120"/>
            <a:ext cx="25596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2B2420"/>
                </a:solidFill>
                <a:effectLst/>
                <a:uFillTx/>
                <a:latin typeface="Calibri"/>
                <a:ea typeface="Calibri"/>
              </a:rPr>
              <a:t>Encryption in transit</a:t>
            </a:r>
            <a:endParaRPr lang="en-US" sz="1250" b="0" u="none" strike="noStrike">
              <a:solidFill>
                <a:srgbClr val="000000"/>
              </a:solidFill>
              <a:effectLst/>
              <a:uFillTx/>
              <a:latin typeface="Arial"/>
            </a:endParaRPr>
          </a:p>
        </p:txBody>
      </p:sp>
      <p:sp>
        <p:nvSpPr>
          <p:cNvPr id="573" name="Text 13"/>
          <p:cNvSpPr/>
          <p:nvPr/>
        </p:nvSpPr>
        <p:spPr>
          <a:xfrm>
            <a:off x="3657600" y="3237120"/>
            <a:ext cx="37483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5C5148"/>
                </a:solidFill>
                <a:effectLst/>
                <a:uFillTx/>
                <a:latin typeface="Calibri"/>
                <a:ea typeface="Calibri"/>
              </a:rPr>
              <a:t>Plain HTTP only</a:t>
            </a:r>
            <a:endParaRPr lang="en-US" sz="1200" b="0" u="none" strike="noStrike">
              <a:solidFill>
                <a:srgbClr val="000000"/>
              </a:solidFill>
              <a:effectLst/>
              <a:uFillTx/>
              <a:latin typeface="Arial"/>
            </a:endParaRPr>
          </a:p>
        </p:txBody>
      </p:sp>
      <p:sp>
        <p:nvSpPr>
          <p:cNvPr id="574" name="Text 14"/>
          <p:cNvSpPr/>
          <p:nvPr/>
        </p:nvSpPr>
        <p:spPr>
          <a:xfrm>
            <a:off x="7589520" y="3237120"/>
            <a:ext cx="39312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B85042"/>
                </a:solidFill>
                <a:effectLst/>
                <a:uFillTx/>
                <a:latin typeface="Calibri"/>
                <a:ea typeface="Calibri"/>
              </a:rPr>
              <a:t>Certificate and encrypted connections</a:t>
            </a:r>
            <a:endParaRPr lang="en-US" sz="1200" b="0" u="none" strike="noStrike">
              <a:solidFill>
                <a:srgbClr val="000000"/>
              </a:solidFill>
              <a:effectLst/>
              <a:uFillTx/>
              <a:latin typeface="Arial"/>
            </a:endParaRPr>
          </a:p>
        </p:txBody>
      </p:sp>
      <p:sp>
        <p:nvSpPr>
          <p:cNvPr id="575" name="Shape 15"/>
          <p:cNvSpPr/>
          <p:nvPr/>
        </p:nvSpPr>
        <p:spPr>
          <a:xfrm>
            <a:off x="640080" y="3730680"/>
            <a:ext cx="10880640" cy="566280"/>
          </a:xfrm>
          <a:prstGeom prst="roundRect">
            <a:avLst>
              <a:gd name="adj" fmla="val 1451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76" name="Text 16"/>
          <p:cNvSpPr/>
          <p:nvPr/>
        </p:nvSpPr>
        <p:spPr>
          <a:xfrm>
            <a:off x="932760" y="3877200"/>
            <a:ext cx="25596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2B2420"/>
                </a:solidFill>
                <a:effectLst/>
                <a:uFillTx/>
                <a:latin typeface="Calibri"/>
                <a:ea typeface="Calibri"/>
              </a:rPr>
              <a:t>Alert delivery</a:t>
            </a:r>
            <a:endParaRPr lang="en-US" sz="1250" b="0" u="none" strike="noStrike">
              <a:solidFill>
                <a:srgbClr val="000000"/>
              </a:solidFill>
              <a:effectLst/>
              <a:uFillTx/>
              <a:latin typeface="Arial"/>
            </a:endParaRPr>
          </a:p>
        </p:txBody>
      </p:sp>
      <p:sp>
        <p:nvSpPr>
          <p:cNvPr id="577" name="Text 17"/>
          <p:cNvSpPr/>
          <p:nvPr/>
        </p:nvSpPr>
        <p:spPr>
          <a:xfrm>
            <a:off x="3657600" y="3877200"/>
            <a:ext cx="37483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5C5148"/>
                </a:solidFill>
                <a:effectLst/>
                <a:uFillTx/>
                <a:latin typeface="Calibri"/>
                <a:ea typeface="Calibri"/>
              </a:rPr>
              <a:t>Evaluated, delivered nowhere</a:t>
            </a:r>
            <a:endParaRPr lang="en-US" sz="1200" b="0" u="none" strike="noStrike">
              <a:solidFill>
                <a:srgbClr val="000000"/>
              </a:solidFill>
              <a:effectLst/>
              <a:uFillTx/>
              <a:latin typeface="Arial"/>
            </a:endParaRPr>
          </a:p>
        </p:txBody>
      </p:sp>
      <p:sp>
        <p:nvSpPr>
          <p:cNvPr id="578" name="Text 18"/>
          <p:cNvSpPr/>
          <p:nvPr/>
        </p:nvSpPr>
        <p:spPr>
          <a:xfrm>
            <a:off x="7589520" y="3877200"/>
            <a:ext cx="39312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B85042"/>
                </a:solidFill>
                <a:effectLst/>
                <a:uFillTx/>
                <a:latin typeface="Calibri"/>
                <a:ea typeface="Calibri"/>
              </a:rPr>
              <a:t>Routed to a person, with escalation</a:t>
            </a:r>
            <a:endParaRPr lang="en-US" sz="1200" b="0" u="none" strike="noStrike">
              <a:solidFill>
                <a:srgbClr val="000000"/>
              </a:solidFill>
              <a:effectLst/>
              <a:uFillTx/>
              <a:latin typeface="Arial"/>
            </a:endParaRPr>
          </a:p>
        </p:txBody>
      </p:sp>
      <p:sp>
        <p:nvSpPr>
          <p:cNvPr id="579" name="Shape 19"/>
          <p:cNvSpPr/>
          <p:nvPr/>
        </p:nvSpPr>
        <p:spPr>
          <a:xfrm>
            <a:off x="640080" y="4370760"/>
            <a:ext cx="10880640" cy="566280"/>
          </a:xfrm>
          <a:prstGeom prst="roundRect">
            <a:avLst>
              <a:gd name="adj" fmla="val 14516"/>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80" name="Text 20"/>
          <p:cNvSpPr/>
          <p:nvPr/>
        </p:nvSpPr>
        <p:spPr>
          <a:xfrm>
            <a:off x="932760" y="4517280"/>
            <a:ext cx="25596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2B2420"/>
                </a:solidFill>
                <a:effectLst/>
                <a:uFillTx/>
                <a:latin typeface="Calibri"/>
                <a:ea typeface="Calibri"/>
              </a:rPr>
              <a:t>Secrets in the app</a:t>
            </a:r>
            <a:endParaRPr lang="en-US" sz="1250" b="0" u="none" strike="noStrike">
              <a:solidFill>
                <a:srgbClr val="000000"/>
              </a:solidFill>
              <a:effectLst/>
              <a:uFillTx/>
              <a:latin typeface="Arial"/>
            </a:endParaRPr>
          </a:p>
        </p:txBody>
      </p:sp>
      <p:sp>
        <p:nvSpPr>
          <p:cNvPr id="581" name="Text 21"/>
          <p:cNvSpPr/>
          <p:nvPr/>
        </p:nvSpPr>
        <p:spPr>
          <a:xfrm>
            <a:off x="3657600" y="4517280"/>
            <a:ext cx="37483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5C5148"/>
                </a:solidFill>
                <a:effectLst/>
                <a:uFillTx/>
                <a:latin typeface="Calibri"/>
                <a:ea typeface="Calibri"/>
              </a:rPr>
              <a:t>Read from the cluster store</a:t>
            </a:r>
            <a:endParaRPr lang="en-US" sz="1200" b="0" u="none" strike="noStrike">
              <a:solidFill>
                <a:srgbClr val="000000"/>
              </a:solidFill>
              <a:effectLst/>
              <a:uFillTx/>
              <a:latin typeface="Arial"/>
            </a:endParaRPr>
          </a:p>
        </p:txBody>
      </p:sp>
      <p:sp>
        <p:nvSpPr>
          <p:cNvPr id="582" name="Text 22"/>
          <p:cNvSpPr/>
          <p:nvPr/>
        </p:nvSpPr>
        <p:spPr>
          <a:xfrm>
            <a:off x="7589520" y="4517280"/>
            <a:ext cx="39312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B85042"/>
                </a:solidFill>
                <a:effectLst/>
                <a:uFillTx/>
                <a:latin typeface="Calibri"/>
                <a:ea typeface="Calibri"/>
              </a:rPr>
              <a:t>Read from the secrets service, rotating</a:t>
            </a:r>
            <a:endParaRPr lang="en-US" sz="1200" b="0" u="none" strike="noStrike">
              <a:solidFill>
                <a:srgbClr val="000000"/>
              </a:solidFill>
              <a:effectLst/>
              <a:uFillTx/>
              <a:latin typeface="Arial"/>
            </a:endParaRPr>
          </a:p>
        </p:txBody>
      </p:sp>
      <p:sp>
        <p:nvSpPr>
          <p:cNvPr id="583" name="Shape 23"/>
          <p:cNvSpPr/>
          <p:nvPr/>
        </p:nvSpPr>
        <p:spPr>
          <a:xfrm>
            <a:off x="640080" y="5010840"/>
            <a:ext cx="10880640" cy="566280"/>
          </a:xfrm>
          <a:prstGeom prst="roundRect">
            <a:avLst>
              <a:gd name="adj" fmla="val 14516"/>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84" name="Text 24"/>
          <p:cNvSpPr/>
          <p:nvPr/>
        </p:nvSpPr>
        <p:spPr>
          <a:xfrm>
            <a:off x="932760" y="5157360"/>
            <a:ext cx="25596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2B2420"/>
                </a:solidFill>
                <a:effectLst/>
                <a:uFillTx/>
                <a:latin typeface="Calibri"/>
                <a:ea typeface="Calibri"/>
              </a:rPr>
              <a:t>Log collection</a:t>
            </a:r>
            <a:endParaRPr lang="en-US" sz="1250" b="0" u="none" strike="noStrike">
              <a:solidFill>
                <a:srgbClr val="000000"/>
              </a:solidFill>
              <a:effectLst/>
              <a:uFillTx/>
              <a:latin typeface="Arial"/>
            </a:endParaRPr>
          </a:p>
        </p:txBody>
      </p:sp>
      <p:sp>
        <p:nvSpPr>
          <p:cNvPr id="585" name="Text 25"/>
          <p:cNvSpPr/>
          <p:nvPr/>
        </p:nvSpPr>
        <p:spPr>
          <a:xfrm>
            <a:off x="3657600" y="5157360"/>
            <a:ext cx="37483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5C5148"/>
                </a:solidFill>
                <a:effectLst/>
                <a:uFillTx/>
                <a:latin typeface="Calibri"/>
                <a:ea typeface="Calibri"/>
              </a:rPr>
              <a:t>None</a:t>
            </a:r>
            <a:endParaRPr lang="en-US" sz="1200" b="0" u="none" strike="noStrike">
              <a:solidFill>
                <a:srgbClr val="000000"/>
              </a:solidFill>
              <a:effectLst/>
              <a:uFillTx/>
              <a:latin typeface="Arial"/>
            </a:endParaRPr>
          </a:p>
        </p:txBody>
      </p:sp>
      <p:sp>
        <p:nvSpPr>
          <p:cNvPr id="586" name="Text 26"/>
          <p:cNvSpPr/>
          <p:nvPr/>
        </p:nvSpPr>
        <p:spPr>
          <a:xfrm>
            <a:off x="7589520" y="5157360"/>
            <a:ext cx="39312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B85042"/>
                </a:solidFill>
                <a:effectLst/>
                <a:uFillTx/>
                <a:latin typeface="Calibri"/>
                <a:ea typeface="Calibri"/>
              </a:rPr>
              <a:t>Centralised and searchable</a:t>
            </a:r>
            <a:endParaRPr lang="en-US" sz="1200" b="0" u="none" strike="noStrike">
              <a:solidFill>
                <a:srgbClr val="000000"/>
              </a:solidFill>
              <a:effectLst/>
              <a:uFillTx/>
              <a:latin typeface="Arial"/>
            </a:endParaRPr>
          </a:p>
        </p:txBody>
      </p:sp>
      <p:sp>
        <p:nvSpPr>
          <p:cNvPr id="587" name="Shape 27"/>
          <p:cNvSpPr/>
          <p:nvPr/>
        </p:nvSpPr>
        <p:spPr>
          <a:xfrm>
            <a:off x="640080" y="5650920"/>
            <a:ext cx="10880640" cy="566280"/>
          </a:xfrm>
          <a:prstGeom prst="roundRect">
            <a:avLst>
              <a:gd name="adj" fmla="val 14516"/>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588" name="Text 28"/>
          <p:cNvSpPr/>
          <p:nvPr/>
        </p:nvSpPr>
        <p:spPr>
          <a:xfrm>
            <a:off x="932760" y="5797440"/>
            <a:ext cx="25596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2B2420"/>
                </a:solidFill>
                <a:effectLst/>
                <a:uFillTx/>
                <a:latin typeface="Calibri"/>
                <a:ea typeface="Calibri"/>
              </a:rPr>
              <a:t>Change review</a:t>
            </a:r>
            <a:endParaRPr lang="en-US" sz="1250" b="0" u="none" strike="noStrike">
              <a:solidFill>
                <a:srgbClr val="000000"/>
              </a:solidFill>
              <a:effectLst/>
              <a:uFillTx/>
              <a:latin typeface="Arial"/>
            </a:endParaRPr>
          </a:p>
        </p:txBody>
      </p:sp>
      <p:sp>
        <p:nvSpPr>
          <p:cNvPr id="589" name="Text 29"/>
          <p:cNvSpPr/>
          <p:nvPr/>
        </p:nvSpPr>
        <p:spPr>
          <a:xfrm>
            <a:off x="3657600" y="5797440"/>
            <a:ext cx="37483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5C5148"/>
                </a:solidFill>
                <a:effectLst/>
                <a:uFillTx/>
                <a:latin typeface="Calibri"/>
                <a:ea typeface="Calibri"/>
              </a:rPr>
              <a:t>None on the platform pipeline</a:t>
            </a:r>
            <a:endParaRPr lang="en-US" sz="1200" b="0" u="none" strike="noStrike">
              <a:solidFill>
                <a:srgbClr val="000000"/>
              </a:solidFill>
              <a:effectLst/>
              <a:uFillTx/>
              <a:latin typeface="Arial"/>
            </a:endParaRPr>
          </a:p>
        </p:txBody>
      </p:sp>
      <p:sp>
        <p:nvSpPr>
          <p:cNvPr id="590" name="Text 30"/>
          <p:cNvSpPr/>
          <p:nvPr/>
        </p:nvSpPr>
        <p:spPr>
          <a:xfrm>
            <a:off x="7589520" y="5797440"/>
            <a:ext cx="39312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B85042"/>
                </a:solidFill>
                <a:effectLst/>
                <a:uFillTx/>
                <a:latin typeface="Calibri"/>
                <a:ea typeface="Calibri"/>
              </a:rPr>
              <a:t>Required approval before merge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B2420"/>
        </a:solidFill>
      </p:bgPr>
    </p:bg>
    <p:spTree>
      <p:nvGrpSpPr>
        <p:cNvPr id="1" name=""/>
        <p:cNvGrpSpPr/>
        <p:nvPr/>
      </p:nvGrpSpPr>
      <p:grpSpPr>
        <a:xfrm>
          <a:off x="0" y="0"/>
          <a:ext cx="0" cy="0"/>
          <a:chOff x="0" y="0"/>
          <a:chExt cx="0" cy="0"/>
        </a:xfrm>
      </p:grpSpPr>
      <p:sp>
        <p:nvSpPr>
          <p:cNvPr id="591" name="Text 0"/>
          <p:cNvSpPr/>
          <p:nvPr/>
        </p:nvSpPr>
        <p:spPr>
          <a:xfrm>
            <a:off x="640080" y="4572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THE COMPLETE SYSTEM</a:t>
            </a:r>
            <a:endParaRPr lang="en-US" sz="1400" b="0" u="none" strike="noStrike">
              <a:solidFill>
                <a:srgbClr val="FFFFFF"/>
              </a:solidFill>
              <a:effectLst/>
              <a:uFillTx/>
              <a:latin typeface="Arial"/>
            </a:endParaRPr>
          </a:p>
        </p:txBody>
      </p:sp>
      <p:sp>
        <p:nvSpPr>
          <p:cNvPr id="592" name="Text 1"/>
          <p:cNvSpPr/>
          <p:nvPr/>
        </p:nvSpPr>
        <p:spPr>
          <a:xfrm>
            <a:off x="640080" y="777240"/>
            <a:ext cx="1005768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FAF6F0"/>
                </a:solidFill>
                <a:effectLst/>
                <a:uFillTx/>
                <a:latin typeface="Cambria"/>
                <a:ea typeface="Cambria"/>
              </a:rPr>
              <a:t>Everything, in one view</a:t>
            </a:r>
            <a:endParaRPr lang="en-US" sz="3000" b="0" u="none" strike="noStrike">
              <a:solidFill>
                <a:srgbClr val="FFFFFF"/>
              </a:solidFill>
              <a:effectLst/>
              <a:uFillTx/>
              <a:latin typeface="Arial"/>
            </a:endParaRPr>
          </a:p>
        </p:txBody>
      </p:sp>
      <p:sp>
        <p:nvSpPr>
          <p:cNvPr id="593" name="Shape 2"/>
          <p:cNvSpPr/>
          <p:nvPr/>
        </p:nvSpPr>
        <p:spPr>
          <a:xfrm>
            <a:off x="640080" y="1572840"/>
            <a:ext cx="5028480" cy="959400"/>
          </a:xfrm>
          <a:prstGeom prst="roundRect">
            <a:avLst>
              <a:gd name="adj" fmla="val 7619"/>
            </a:avLst>
          </a:prstGeom>
          <a:solidFill>
            <a:srgbClr val="3A322C"/>
          </a:solidFill>
          <a:ln w="9525">
            <a:solidFill>
              <a:srgbClr val="554A40"/>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594" name="Text 3"/>
          <p:cNvSpPr/>
          <p:nvPr/>
        </p:nvSpPr>
        <p:spPr>
          <a:xfrm>
            <a:off x="868680" y="1691640"/>
            <a:ext cx="2742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B85042"/>
                </a:solidFill>
                <a:effectLst/>
                <a:uFillTx/>
                <a:latin typeface="Calibri"/>
                <a:ea typeface="Calibri"/>
              </a:rPr>
              <a:t>DELIVERY</a:t>
            </a:r>
            <a:endParaRPr lang="en-US" sz="1000" b="0" u="none" strike="noStrike">
              <a:solidFill>
                <a:srgbClr val="FFFFFF"/>
              </a:solidFill>
              <a:effectLst/>
              <a:uFillTx/>
              <a:latin typeface="Arial"/>
            </a:endParaRPr>
          </a:p>
        </p:txBody>
      </p:sp>
      <p:sp>
        <p:nvSpPr>
          <p:cNvPr id="595" name="Text 4"/>
          <p:cNvSpPr/>
          <p:nvPr/>
        </p:nvSpPr>
        <p:spPr>
          <a:xfrm>
            <a:off x="868680" y="1938600"/>
            <a:ext cx="46627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C9BDB0"/>
                </a:solidFill>
                <a:effectLst/>
                <a:uFillTx/>
                <a:latin typeface="Calibri"/>
                <a:ea typeface="Calibri"/>
              </a:rPr>
              <a:t>Commit  →  Build &amp; test  →  Analyse  →  Scan  →  Publish  →  Release</a:t>
            </a:r>
            <a:endParaRPr lang="en-US" sz="1150" b="0" u="none" strike="noStrike">
              <a:solidFill>
                <a:srgbClr val="FFFFFF"/>
              </a:solidFill>
              <a:effectLst/>
              <a:uFillTx/>
              <a:latin typeface="Arial"/>
            </a:endParaRPr>
          </a:p>
        </p:txBody>
      </p:sp>
      <p:sp>
        <p:nvSpPr>
          <p:cNvPr id="596" name="Text 5"/>
          <p:cNvSpPr/>
          <p:nvPr/>
        </p:nvSpPr>
        <p:spPr>
          <a:xfrm>
            <a:off x="868680" y="2194560"/>
            <a:ext cx="46627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9C9086"/>
                </a:solidFill>
                <a:effectLst/>
                <a:uFillTx/>
                <a:latin typeface="Calibri"/>
                <a:ea typeface="Calibri"/>
              </a:rPr>
              <a:t>Narrow identity  ·  application namespace only</a:t>
            </a:r>
            <a:endParaRPr lang="en-US" sz="1100" b="0" u="none" strike="noStrike">
              <a:solidFill>
                <a:srgbClr val="FFFFFF"/>
              </a:solidFill>
              <a:effectLst/>
              <a:uFillTx/>
              <a:latin typeface="Arial"/>
            </a:endParaRPr>
          </a:p>
        </p:txBody>
      </p:sp>
      <p:sp>
        <p:nvSpPr>
          <p:cNvPr id="597" name="Shape 6"/>
          <p:cNvSpPr/>
          <p:nvPr/>
        </p:nvSpPr>
        <p:spPr>
          <a:xfrm>
            <a:off x="5897880" y="1572840"/>
            <a:ext cx="5622840" cy="959400"/>
          </a:xfrm>
          <a:prstGeom prst="roundRect">
            <a:avLst>
              <a:gd name="adj" fmla="val 7619"/>
            </a:avLst>
          </a:prstGeom>
          <a:solidFill>
            <a:srgbClr val="463C34"/>
          </a:solidFill>
          <a:ln w="9525">
            <a:solidFill>
              <a:srgbClr val="554A40"/>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598" name="Text 7"/>
          <p:cNvSpPr/>
          <p:nvPr/>
        </p:nvSpPr>
        <p:spPr>
          <a:xfrm>
            <a:off x="6126480" y="1691640"/>
            <a:ext cx="36568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B85042"/>
                </a:solidFill>
                <a:effectLst/>
                <a:uFillTx/>
                <a:latin typeface="Calibri"/>
                <a:ea typeface="Calibri"/>
              </a:rPr>
              <a:t>PLATFORM PIPELINE</a:t>
            </a:r>
            <a:endParaRPr lang="en-US" sz="1000" b="0" u="none" strike="noStrike">
              <a:solidFill>
                <a:srgbClr val="FFFFFF"/>
              </a:solidFill>
              <a:effectLst/>
              <a:uFillTx/>
              <a:latin typeface="Arial"/>
            </a:endParaRPr>
          </a:p>
        </p:txBody>
      </p:sp>
      <p:sp>
        <p:nvSpPr>
          <p:cNvPr id="599" name="Text 8"/>
          <p:cNvSpPr/>
          <p:nvPr/>
        </p:nvSpPr>
        <p:spPr>
          <a:xfrm>
            <a:off x="6126480" y="1938600"/>
            <a:ext cx="521136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C9BDB0"/>
                </a:solidFill>
                <a:effectLst/>
                <a:uFillTx/>
                <a:latin typeface="Calibri"/>
                <a:ea typeface="Calibri"/>
              </a:rPr>
              <a:t>Manual trigger  →  Borrow wider access  →  Approval  →  Install add-ons</a:t>
            </a:r>
            <a:endParaRPr lang="en-US" sz="1150" b="0" u="none" strike="noStrike">
              <a:solidFill>
                <a:srgbClr val="FFFFFF"/>
              </a:solidFill>
              <a:effectLst/>
              <a:uFillTx/>
              <a:latin typeface="Arial"/>
            </a:endParaRPr>
          </a:p>
        </p:txBody>
      </p:sp>
      <p:sp>
        <p:nvSpPr>
          <p:cNvPr id="600" name="Text 9"/>
          <p:cNvSpPr/>
          <p:nvPr/>
        </p:nvSpPr>
        <p:spPr>
          <a:xfrm>
            <a:off x="6126480" y="2194560"/>
            <a:ext cx="521136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9C9086"/>
                </a:solidFill>
                <a:effectLst/>
                <a:uFillTx/>
                <a:latin typeface="Calibri"/>
                <a:ea typeface="Calibri"/>
              </a:rPr>
              <a:t>One-hour session  ·  every use recorded</a:t>
            </a:r>
            <a:endParaRPr lang="en-US" sz="1100" b="0" u="none" strike="noStrike">
              <a:solidFill>
                <a:srgbClr val="FFFFFF"/>
              </a:solidFill>
              <a:effectLst/>
              <a:uFillTx/>
              <a:latin typeface="Arial"/>
            </a:endParaRPr>
          </a:p>
        </p:txBody>
      </p:sp>
      <p:sp>
        <p:nvSpPr>
          <p:cNvPr id="601" name="Shape 10"/>
          <p:cNvSpPr/>
          <p:nvPr/>
        </p:nvSpPr>
        <p:spPr>
          <a:xfrm>
            <a:off x="640080" y="2743200"/>
            <a:ext cx="7771680" cy="2513880"/>
          </a:xfrm>
          <a:prstGeom prst="roundRect">
            <a:avLst>
              <a:gd name="adj" fmla="val 2909"/>
            </a:avLst>
          </a:prstGeom>
          <a:solidFill>
            <a:srgbClr val="463C34"/>
          </a:solidFill>
          <a:ln w="9525">
            <a:solidFill>
              <a:srgbClr val="554A40"/>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602" name="Text 11"/>
          <p:cNvSpPr/>
          <p:nvPr/>
        </p:nvSpPr>
        <p:spPr>
          <a:xfrm>
            <a:off x="868680" y="2880360"/>
            <a:ext cx="54856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B85042"/>
                </a:solidFill>
                <a:effectLst/>
                <a:uFillTx/>
                <a:latin typeface="Calibri"/>
                <a:ea typeface="Calibri"/>
              </a:rPr>
              <a:t>KUBERNETES CLUSTER  ·  3 zones  ·  private</a:t>
            </a:r>
            <a:endParaRPr lang="en-US" sz="1000" b="0" u="none" strike="noStrike">
              <a:solidFill>
                <a:srgbClr val="FFFFFF"/>
              </a:solidFill>
              <a:effectLst/>
              <a:uFillTx/>
              <a:latin typeface="Arial"/>
            </a:endParaRPr>
          </a:p>
        </p:txBody>
      </p:sp>
      <p:sp>
        <p:nvSpPr>
          <p:cNvPr id="603" name="Shape 12"/>
          <p:cNvSpPr/>
          <p:nvPr/>
        </p:nvSpPr>
        <p:spPr>
          <a:xfrm>
            <a:off x="868680" y="3200400"/>
            <a:ext cx="1736640" cy="1233720"/>
          </a:xfrm>
          <a:prstGeom prst="roundRect">
            <a:avLst>
              <a:gd name="adj" fmla="val 5926"/>
            </a:avLst>
          </a:prstGeom>
          <a:solidFill>
            <a:srgbClr val="3A322C"/>
          </a:solidFill>
          <a:ln w="9525">
            <a:solidFill>
              <a:srgbClr val="554A40"/>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604" name="Text 13"/>
          <p:cNvSpPr/>
          <p:nvPr/>
        </p:nvSpPr>
        <p:spPr>
          <a:xfrm>
            <a:off x="868680" y="3310200"/>
            <a:ext cx="1736640" cy="23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AF6F0"/>
                </a:solidFill>
                <a:effectLst/>
                <a:uFillTx/>
                <a:latin typeface="Calibri"/>
                <a:ea typeface="Calibri"/>
              </a:rPr>
              <a:t>Application</a:t>
            </a:r>
            <a:endParaRPr lang="en-US" sz="1100" b="0" u="none" strike="noStrike">
              <a:solidFill>
                <a:srgbClr val="FFFFFF"/>
              </a:solidFill>
              <a:effectLst/>
              <a:uFillTx/>
              <a:latin typeface="Arial"/>
            </a:endParaRPr>
          </a:p>
        </p:txBody>
      </p:sp>
      <p:sp>
        <p:nvSpPr>
          <p:cNvPr id="605" name="Text 14"/>
          <p:cNvSpPr/>
          <p:nvPr/>
        </p:nvSpPr>
        <p:spPr>
          <a:xfrm>
            <a:off x="941760" y="3566160"/>
            <a:ext cx="1590480" cy="54792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100" b="1" u="none" strike="noStrike">
                <a:solidFill>
                  <a:srgbClr val="9C9086"/>
                </a:solidFill>
                <a:effectLst/>
                <a:uFillTx/>
                <a:latin typeface="Calibri"/>
                <a:ea typeface="Calibri"/>
              </a:rPr>
              <a:t>web · app · database</a:t>
            </a:r>
            <a:endParaRPr lang="en-US" sz="1100" b="0" u="none" strike="noStrike">
              <a:solidFill>
                <a:srgbClr val="FFFFFF"/>
              </a:solidFill>
              <a:effectLst/>
              <a:uFillTx/>
              <a:latin typeface="Arial"/>
            </a:endParaRPr>
          </a:p>
          <a:p>
            <a:pPr algn="ctr" defTabSz="914400">
              <a:lnSpc>
                <a:spcPts val="1199"/>
              </a:lnSpc>
              <a:tabLst>
                <a:tab pos="0" algn="l"/>
              </a:tabLst>
            </a:pPr>
            <a:r>
              <a:rPr lang="en-US" sz="1100" b="1" u="none" strike="noStrike">
                <a:solidFill>
                  <a:srgbClr val="9C9086"/>
                </a:solidFill>
                <a:effectLst/>
                <a:uFillTx/>
                <a:latin typeface="Calibri"/>
                <a:ea typeface="Calibri"/>
              </a:rPr>
              <a:t>cache · broker</a:t>
            </a:r>
            <a:endParaRPr lang="en-US" sz="1100" b="0" u="none" strike="noStrike">
              <a:solidFill>
                <a:srgbClr val="FFFFFF"/>
              </a:solidFill>
              <a:effectLst/>
              <a:uFillTx/>
              <a:latin typeface="Arial"/>
            </a:endParaRPr>
          </a:p>
        </p:txBody>
      </p:sp>
      <p:sp>
        <p:nvSpPr>
          <p:cNvPr id="606" name="Shape 15"/>
          <p:cNvSpPr/>
          <p:nvPr/>
        </p:nvSpPr>
        <p:spPr>
          <a:xfrm>
            <a:off x="2724840" y="3200400"/>
            <a:ext cx="1736640" cy="1233720"/>
          </a:xfrm>
          <a:prstGeom prst="roundRect">
            <a:avLst>
              <a:gd name="adj" fmla="val 5926"/>
            </a:avLst>
          </a:prstGeom>
          <a:solidFill>
            <a:srgbClr val="3A322C"/>
          </a:solidFill>
          <a:ln w="9525">
            <a:solidFill>
              <a:srgbClr val="554A40"/>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607" name="Text 16"/>
          <p:cNvSpPr/>
          <p:nvPr/>
        </p:nvSpPr>
        <p:spPr>
          <a:xfrm>
            <a:off x="2724840" y="3310200"/>
            <a:ext cx="1736640" cy="23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AF6F0"/>
                </a:solidFill>
                <a:effectLst/>
                <a:uFillTx/>
                <a:latin typeface="Calibri"/>
                <a:ea typeface="Calibri"/>
              </a:rPr>
              <a:t>Observability</a:t>
            </a:r>
            <a:endParaRPr lang="en-US" sz="1100" b="0" u="none" strike="noStrike">
              <a:solidFill>
                <a:srgbClr val="FFFFFF"/>
              </a:solidFill>
              <a:effectLst/>
              <a:uFillTx/>
              <a:latin typeface="Arial"/>
            </a:endParaRPr>
          </a:p>
        </p:txBody>
      </p:sp>
      <p:sp>
        <p:nvSpPr>
          <p:cNvPr id="608" name="Text 17"/>
          <p:cNvSpPr/>
          <p:nvPr/>
        </p:nvSpPr>
        <p:spPr>
          <a:xfrm>
            <a:off x="2797920" y="3566160"/>
            <a:ext cx="1590480" cy="54792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100" b="1" u="none" strike="noStrike">
                <a:solidFill>
                  <a:srgbClr val="9C9086"/>
                </a:solidFill>
                <a:effectLst/>
                <a:uFillTx/>
                <a:latin typeface="Calibri"/>
                <a:ea typeface="Calibri"/>
              </a:rPr>
              <a:t>collector</a:t>
            </a:r>
            <a:endParaRPr lang="en-US" sz="1100" b="0" u="none" strike="noStrike">
              <a:solidFill>
                <a:srgbClr val="FFFFFF"/>
              </a:solidFill>
              <a:effectLst/>
              <a:uFillTx/>
              <a:latin typeface="Arial"/>
            </a:endParaRPr>
          </a:p>
          <a:p>
            <a:pPr algn="ctr" defTabSz="914400">
              <a:lnSpc>
                <a:spcPts val="1199"/>
              </a:lnSpc>
              <a:tabLst>
                <a:tab pos="0" algn="l"/>
              </a:tabLst>
            </a:pPr>
            <a:r>
              <a:rPr lang="en-US" sz="1100" b="1" u="none" strike="noStrike">
                <a:solidFill>
                  <a:srgbClr val="9C9086"/>
                </a:solidFill>
                <a:effectLst/>
                <a:uFillTx/>
                <a:latin typeface="Calibri"/>
                <a:ea typeface="Calibri"/>
              </a:rPr>
              <a:t>dashboards</a:t>
            </a:r>
            <a:endParaRPr lang="en-US" sz="1100" b="0" u="none" strike="noStrike">
              <a:solidFill>
                <a:srgbClr val="FFFFFF"/>
              </a:solidFill>
              <a:effectLst/>
              <a:uFillTx/>
              <a:latin typeface="Arial"/>
            </a:endParaRPr>
          </a:p>
        </p:txBody>
      </p:sp>
      <p:sp>
        <p:nvSpPr>
          <p:cNvPr id="609" name="Shape 18"/>
          <p:cNvSpPr/>
          <p:nvPr/>
        </p:nvSpPr>
        <p:spPr>
          <a:xfrm>
            <a:off x="4581000" y="3200400"/>
            <a:ext cx="1736640" cy="1233720"/>
          </a:xfrm>
          <a:prstGeom prst="roundRect">
            <a:avLst>
              <a:gd name="adj" fmla="val 5926"/>
            </a:avLst>
          </a:prstGeom>
          <a:solidFill>
            <a:srgbClr val="3A322C"/>
          </a:solidFill>
          <a:ln w="9525">
            <a:solidFill>
              <a:srgbClr val="554A40"/>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610" name="Text 19"/>
          <p:cNvSpPr/>
          <p:nvPr/>
        </p:nvSpPr>
        <p:spPr>
          <a:xfrm>
            <a:off x="4581000" y="3310200"/>
            <a:ext cx="1736640" cy="23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AF6F0"/>
                </a:solidFill>
                <a:effectLst/>
                <a:uFillTx/>
                <a:latin typeface="Calibri"/>
                <a:ea typeface="Calibri"/>
              </a:rPr>
              <a:t>Secrets</a:t>
            </a:r>
            <a:endParaRPr lang="en-US" sz="1100" b="0" u="none" strike="noStrike">
              <a:solidFill>
                <a:srgbClr val="FFFFFF"/>
              </a:solidFill>
              <a:effectLst/>
              <a:uFillTx/>
              <a:latin typeface="Arial"/>
            </a:endParaRPr>
          </a:p>
        </p:txBody>
      </p:sp>
      <p:sp>
        <p:nvSpPr>
          <p:cNvPr id="611" name="Text 20"/>
          <p:cNvSpPr/>
          <p:nvPr/>
        </p:nvSpPr>
        <p:spPr>
          <a:xfrm>
            <a:off x="4654440" y="3566160"/>
            <a:ext cx="1590480" cy="54792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100" b="1" u="none" strike="noStrike">
                <a:solidFill>
                  <a:srgbClr val="9C9086"/>
                </a:solidFill>
                <a:effectLst/>
                <a:uFillTx/>
                <a:latin typeface="Calibri"/>
                <a:ea typeface="Calibri"/>
              </a:rPr>
              <a:t>identity-bound</a:t>
            </a:r>
            <a:endParaRPr lang="en-US" sz="1100" b="0" u="none" strike="noStrike">
              <a:solidFill>
                <a:srgbClr val="FFFFFF"/>
              </a:solidFill>
              <a:effectLst/>
              <a:uFillTx/>
              <a:latin typeface="Arial"/>
            </a:endParaRPr>
          </a:p>
          <a:p>
            <a:pPr algn="ctr" defTabSz="914400">
              <a:lnSpc>
                <a:spcPts val="1199"/>
              </a:lnSpc>
              <a:tabLst>
                <a:tab pos="0" algn="l"/>
              </a:tabLst>
            </a:pPr>
            <a:r>
              <a:rPr lang="en-US" sz="1100" b="1" u="none" strike="noStrike">
                <a:solidFill>
                  <a:srgbClr val="9C9086"/>
                </a:solidFill>
                <a:effectLst/>
                <a:uFillTx/>
                <a:latin typeface="Calibri"/>
                <a:ea typeface="Calibri"/>
              </a:rPr>
              <a:t>access</a:t>
            </a:r>
            <a:endParaRPr lang="en-US" sz="1100" b="0" u="none" strike="noStrike">
              <a:solidFill>
                <a:srgbClr val="FFFFFF"/>
              </a:solidFill>
              <a:effectLst/>
              <a:uFillTx/>
              <a:latin typeface="Arial"/>
            </a:endParaRPr>
          </a:p>
        </p:txBody>
      </p:sp>
      <p:sp>
        <p:nvSpPr>
          <p:cNvPr id="612" name="Shape 21"/>
          <p:cNvSpPr/>
          <p:nvPr/>
        </p:nvSpPr>
        <p:spPr>
          <a:xfrm>
            <a:off x="6437520" y="3200400"/>
            <a:ext cx="1736640" cy="1233720"/>
          </a:xfrm>
          <a:prstGeom prst="roundRect">
            <a:avLst>
              <a:gd name="adj" fmla="val 5926"/>
            </a:avLst>
          </a:prstGeom>
          <a:solidFill>
            <a:srgbClr val="3A322C"/>
          </a:solidFill>
          <a:ln w="9525">
            <a:solidFill>
              <a:srgbClr val="554A40"/>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613" name="Text 22"/>
          <p:cNvSpPr/>
          <p:nvPr/>
        </p:nvSpPr>
        <p:spPr>
          <a:xfrm>
            <a:off x="6437520" y="3310200"/>
            <a:ext cx="1736640" cy="23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AF6F0"/>
                </a:solidFill>
                <a:effectLst/>
                <a:uFillTx/>
                <a:latin typeface="Calibri"/>
                <a:ea typeface="Calibri"/>
              </a:rPr>
              <a:t>Recovery</a:t>
            </a:r>
            <a:endParaRPr lang="en-US" sz="1100" b="0" u="none" strike="noStrike">
              <a:solidFill>
                <a:srgbClr val="FFFFFF"/>
              </a:solidFill>
              <a:effectLst/>
              <a:uFillTx/>
              <a:latin typeface="Arial"/>
            </a:endParaRPr>
          </a:p>
        </p:txBody>
      </p:sp>
      <p:sp>
        <p:nvSpPr>
          <p:cNvPr id="614" name="Text 23"/>
          <p:cNvSpPr/>
          <p:nvPr/>
        </p:nvSpPr>
        <p:spPr>
          <a:xfrm>
            <a:off x="6510600" y="3566160"/>
            <a:ext cx="1590480" cy="547920"/>
          </a:xfrm>
          <a:prstGeom prst="rect">
            <a:avLst/>
          </a:prstGeom>
          <a:noFill/>
          <a:ln w="0">
            <a:noFill/>
          </a:ln>
        </p:spPr>
        <p:style>
          <a:lnRef idx="0"/>
          <a:fillRef idx="0"/>
          <a:effectRef idx="0"/>
          <a:fontRef idx="minor"/>
        </p:style>
        <p:txBody>
          <a:bodyPr lIns="0" tIns="0" rIns="0" bIns="0" anchor="ctr">
            <a:noAutofit/>
          </a:bodyPr>
          <a:p>
            <a:pPr algn="ctr" defTabSz="914400">
              <a:lnSpc>
                <a:spcPts val="1199"/>
              </a:lnSpc>
              <a:tabLst>
                <a:tab pos="0" algn="l"/>
              </a:tabLst>
            </a:pPr>
            <a:r>
              <a:rPr lang="en-US" sz="1100" b="1" u="none" strike="noStrike">
                <a:solidFill>
                  <a:srgbClr val="9C9086"/>
                </a:solidFill>
                <a:effectLst/>
                <a:uFillTx/>
                <a:latin typeface="Calibri"/>
                <a:ea typeface="Calibri"/>
              </a:rPr>
              <a:t>scheduled</a:t>
            </a:r>
            <a:endParaRPr lang="en-US" sz="1100" b="0" u="none" strike="noStrike">
              <a:solidFill>
                <a:srgbClr val="FFFFFF"/>
              </a:solidFill>
              <a:effectLst/>
              <a:uFillTx/>
              <a:latin typeface="Arial"/>
            </a:endParaRPr>
          </a:p>
          <a:p>
            <a:pPr algn="ctr" defTabSz="914400">
              <a:lnSpc>
                <a:spcPts val="1199"/>
              </a:lnSpc>
              <a:tabLst>
                <a:tab pos="0" algn="l"/>
              </a:tabLst>
            </a:pPr>
            <a:r>
              <a:rPr lang="en-US" sz="1100" b="1" u="none" strike="noStrike">
                <a:solidFill>
                  <a:srgbClr val="9C9086"/>
                </a:solidFill>
                <a:effectLst/>
                <a:uFillTx/>
                <a:latin typeface="Calibri"/>
                <a:ea typeface="Calibri"/>
              </a:rPr>
              <a:t>backups</a:t>
            </a:r>
            <a:endParaRPr lang="en-US" sz="1100" b="0" u="none" strike="noStrike">
              <a:solidFill>
                <a:srgbClr val="FFFFFF"/>
              </a:solidFill>
              <a:effectLst/>
              <a:uFillTx/>
              <a:latin typeface="Arial"/>
            </a:endParaRPr>
          </a:p>
        </p:txBody>
      </p:sp>
      <p:sp>
        <p:nvSpPr>
          <p:cNvPr id="615" name="Text 24"/>
          <p:cNvSpPr/>
          <p:nvPr/>
        </p:nvSpPr>
        <p:spPr>
          <a:xfrm>
            <a:off x="868680" y="457200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9C9086"/>
                </a:solidFill>
                <a:effectLst/>
                <a:uFillTx/>
                <a:latin typeface="Calibri"/>
                <a:ea typeface="Calibri"/>
              </a:rPr>
              <a:t>Traffic denied by default  ·  each service has its own identity  ·  containers run without escalation</a:t>
            </a:r>
            <a:endParaRPr lang="en-US" sz="1100" b="0" u="none" strike="noStrike">
              <a:solidFill>
                <a:srgbClr val="FFFFFF"/>
              </a:solidFill>
              <a:effectLst/>
              <a:uFillTx/>
              <a:latin typeface="Arial"/>
            </a:endParaRPr>
          </a:p>
        </p:txBody>
      </p:sp>
      <p:sp>
        <p:nvSpPr>
          <p:cNvPr id="616" name="Text 25"/>
          <p:cNvSpPr/>
          <p:nvPr/>
        </p:nvSpPr>
        <p:spPr>
          <a:xfrm>
            <a:off x="868680" y="4846320"/>
            <a:ext cx="73144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9C9086"/>
                </a:solidFill>
                <a:effectLst/>
                <a:uFillTx/>
                <a:latin typeface="Calibri"/>
                <a:ea typeface="Calibri"/>
              </a:rPr>
              <a:t>No workload holds a public address  ·  cluster control plane not reachable from the internet</a:t>
            </a:r>
            <a:endParaRPr lang="en-US" sz="1100" b="0" u="none" strike="noStrike">
              <a:solidFill>
                <a:srgbClr val="FFFFFF"/>
              </a:solidFill>
              <a:effectLst/>
              <a:uFillTx/>
              <a:latin typeface="Arial"/>
            </a:endParaRPr>
          </a:p>
        </p:txBody>
      </p:sp>
      <p:sp>
        <p:nvSpPr>
          <p:cNvPr id="617" name="Shape 26"/>
          <p:cNvSpPr/>
          <p:nvPr/>
        </p:nvSpPr>
        <p:spPr>
          <a:xfrm>
            <a:off x="8595360" y="2743200"/>
            <a:ext cx="2925360" cy="1169640"/>
          </a:xfrm>
          <a:prstGeom prst="roundRect">
            <a:avLst>
              <a:gd name="adj" fmla="val 6250"/>
            </a:avLst>
          </a:prstGeom>
          <a:solidFill>
            <a:srgbClr val="3A322C"/>
          </a:solidFill>
          <a:ln w="9525">
            <a:solidFill>
              <a:srgbClr val="554A40"/>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618" name="Text 27"/>
          <p:cNvSpPr/>
          <p:nvPr/>
        </p:nvSpPr>
        <p:spPr>
          <a:xfrm>
            <a:off x="8823960" y="2880360"/>
            <a:ext cx="1828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B85042"/>
                </a:solidFill>
                <a:effectLst/>
                <a:uFillTx/>
                <a:latin typeface="Calibri"/>
                <a:ea typeface="Calibri"/>
              </a:rPr>
              <a:t>USERS</a:t>
            </a:r>
            <a:endParaRPr lang="en-US" sz="1000" b="0" u="none" strike="noStrike">
              <a:solidFill>
                <a:srgbClr val="FFFFFF"/>
              </a:solidFill>
              <a:effectLst/>
              <a:uFillTx/>
              <a:latin typeface="Arial"/>
            </a:endParaRPr>
          </a:p>
        </p:txBody>
      </p:sp>
      <p:sp>
        <p:nvSpPr>
          <p:cNvPr id="619" name="Text 28"/>
          <p:cNvSpPr/>
          <p:nvPr/>
        </p:nvSpPr>
        <p:spPr>
          <a:xfrm>
            <a:off x="8823960" y="3127320"/>
            <a:ext cx="246816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C9BDB0"/>
                </a:solidFill>
                <a:effectLst/>
                <a:uFillTx/>
                <a:latin typeface="Calibri"/>
                <a:ea typeface="Calibri"/>
              </a:rPr>
              <a:t>Reach the application</a:t>
            </a:r>
            <a:endParaRPr lang="en-US" sz="1100" b="0" u="none" strike="noStrike">
              <a:solidFill>
                <a:srgbClr val="FFFFFF"/>
              </a:solidFill>
              <a:effectLst/>
              <a:uFillTx/>
              <a:latin typeface="Arial"/>
            </a:endParaRPr>
          </a:p>
        </p:txBody>
      </p:sp>
      <p:sp>
        <p:nvSpPr>
          <p:cNvPr id="620" name="Text 29"/>
          <p:cNvSpPr/>
          <p:nvPr/>
        </p:nvSpPr>
        <p:spPr>
          <a:xfrm>
            <a:off x="8823960" y="3346560"/>
            <a:ext cx="26510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C9BDB0"/>
                </a:solidFill>
                <a:effectLst/>
                <a:uFillTx/>
                <a:latin typeface="Calibri"/>
                <a:ea typeface="Calibri"/>
              </a:rPr>
              <a:t>through the load balancer —</a:t>
            </a:r>
            <a:endParaRPr lang="en-US" sz="1100" b="0" u="none" strike="noStrike">
              <a:solidFill>
                <a:srgbClr val="FFFFFF"/>
              </a:solidFill>
              <a:effectLst/>
              <a:uFillTx/>
              <a:latin typeface="Arial"/>
            </a:endParaRPr>
          </a:p>
        </p:txBody>
      </p:sp>
      <p:sp>
        <p:nvSpPr>
          <p:cNvPr id="621" name="Text 30"/>
          <p:cNvSpPr/>
          <p:nvPr/>
        </p:nvSpPr>
        <p:spPr>
          <a:xfrm>
            <a:off x="8823960" y="3566160"/>
            <a:ext cx="26510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C9BDB0"/>
                </a:solidFill>
                <a:effectLst/>
                <a:uFillTx/>
                <a:latin typeface="Calibri"/>
                <a:ea typeface="Calibri"/>
              </a:rPr>
              <a:t>the only public entry point</a:t>
            </a:r>
            <a:endParaRPr lang="en-US" sz="1100" b="0" u="none" strike="noStrike">
              <a:solidFill>
                <a:srgbClr val="FFFFFF"/>
              </a:solidFill>
              <a:effectLst/>
              <a:uFillTx/>
              <a:latin typeface="Arial"/>
            </a:endParaRPr>
          </a:p>
        </p:txBody>
      </p:sp>
      <p:sp>
        <p:nvSpPr>
          <p:cNvPr id="622" name="Shape 31"/>
          <p:cNvSpPr/>
          <p:nvPr/>
        </p:nvSpPr>
        <p:spPr>
          <a:xfrm>
            <a:off x="8595360" y="4087440"/>
            <a:ext cx="2925360" cy="1169640"/>
          </a:xfrm>
          <a:prstGeom prst="roundRect">
            <a:avLst>
              <a:gd name="adj" fmla="val 6250"/>
            </a:avLst>
          </a:prstGeom>
          <a:solidFill>
            <a:srgbClr val="463C34"/>
          </a:solidFill>
          <a:ln w="9525">
            <a:solidFill>
              <a:srgbClr val="554A40"/>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623" name="Text 32"/>
          <p:cNvSpPr/>
          <p:nvPr/>
        </p:nvSpPr>
        <p:spPr>
          <a:xfrm>
            <a:off x="8823960" y="4224600"/>
            <a:ext cx="21938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B85042"/>
                </a:solidFill>
                <a:effectLst/>
                <a:uFillTx/>
                <a:latin typeface="Calibri"/>
                <a:ea typeface="Calibri"/>
              </a:rPr>
              <a:t>SUPPORTING</a:t>
            </a:r>
            <a:endParaRPr lang="en-US" sz="1000" b="0" u="none" strike="noStrike">
              <a:solidFill>
                <a:srgbClr val="FFFFFF"/>
              </a:solidFill>
              <a:effectLst/>
              <a:uFillTx/>
              <a:latin typeface="Arial"/>
            </a:endParaRPr>
          </a:p>
        </p:txBody>
      </p:sp>
      <p:sp>
        <p:nvSpPr>
          <p:cNvPr id="624" name="Text 33"/>
          <p:cNvSpPr/>
          <p:nvPr/>
        </p:nvSpPr>
        <p:spPr>
          <a:xfrm>
            <a:off x="8823960" y="4471560"/>
            <a:ext cx="246816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C9BDB0"/>
                </a:solidFill>
                <a:effectLst/>
                <a:uFillTx/>
                <a:latin typeface="Calibri"/>
                <a:ea typeface="Calibri"/>
              </a:rPr>
              <a:t>Image registry</a:t>
            </a:r>
            <a:endParaRPr lang="en-US" sz="1100" b="0" u="none" strike="noStrike">
              <a:solidFill>
                <a:srgbClr val="FFFFFF"/>
              </a:solidFill>
              <a:effectLst/>
              <a:uFillTx/>
              <a:latin typeface="Arial"/>
            </a:endParaRPr>
          </a:p>
        </p:txBody>
      </p:sp>
      <p:sp>
        <p:nvSpPr>
          <p:cNvPr id="625" name="Text 34"/>
          <p:cNvSpPr/>
          <p:nvPr/>
        </p:nvSpPr>
        <p:spPr>
          <a:xfrm>
            <a:off x="8823960" y="4690800"/>
            <a:ext cx="26510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C9BDB0"/>
                </a:solidFill>
                <a:effectLst/>
                <a:uFillTx/>
                <a:latin typeface="Calibri"/>
                <a:ea typeface="Calibri"/>
              </a:rPr>
              <a:t>Object storage — backups</a:t>
            </a:r>
            <a:endParaRPr lang="en-US" sz="1100" b="0" u="none" strike="noStrike">
              <a:solidFill>
                <a:srgbClr val="FFFFFF"/>
              </a:solidFill>
              <a:effectLst/>
              <a:uFillTx/>
              <a:latin typeface="Arial"/>
            </a:endParaRPr>
          </a:p>
        </p:txBody>
      </p:sp>
      <p:sp>
        <p:nvSpPr>
          <p:cNvPr id="626" name="Text 35"/>
          <p:cNvSpPr/>
          <p:nvPr/>
        </p:nvSpPr>
        <p:spPr>
          <a:xfrm>
            <a:off x="8823960" y="4910400"/>
            <a:ext cx="26510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C9BDB0"/>
                </a:solidFill>
                <a:effectLst/>
                <a:uFillTx/>
                <a:latin typeface="Calibri"/>
                <a:ea typeface="Calibri"/>
              </a:rPr>
              <a:t>Key management — encryption</a:t>
            </a:r>
            <a:endParaRPr lang="en-US" sz="1100" b="0" u="none" strike="noStrike">
              <a:solidFill>
                <a:srgbClr val="FFFFFF"/>
              </a:solidFill>
              <a:effectLst/>
              <a:uFillTx/>
              <a:latin typeface="Arial"/>
            </a:endParaRPr>
          </a:p>
        </p:txBody>
      </p:sp>
      <p:sp>
        <p:nvSpPr>
          <p:cNvPr id="627" name="Shape 36"/>
          <p:cNvSpPr/>
          <p:nvPr/>
        </p:nvSpPr>
        <p:spPr>
          <a:xfrm>
            <a:off x="640080" y="5440680"/>
            <a:ext cx="10880640" cy="657720"/>
          </a:xfrm>
          <a:prstGeom prst="roundRect">
            <a:avLst>
              <a:gd name="adj" fmla="val 11111"/>
            </a:avLst>
          </a:prstGeom>
          <a:solidFill>
            <a:srgbClr val="3A322C"/>
          </a:solidFill>
          <a:ln w="9525">
            <a:solidFill>
              <a:srgbClr val="554A40"/>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628" name="Text 37"/>
          <p:cNvSpPr/>
          <p:nvPr/>
        </p:nvSpPr>
        <p:spPr>
          <a:xfrm>
            <a:off x="868680" y="5559480"/>
            <a:ext cx="1828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B85042"/>
                </a:solidFill>
                <a:effectLst/>
                <a:uFillTx/>
                <a:latin typeface="Calibri"/>
                <a:ea typeface="Calibri"/>
              </a:rPr>
              <a:t>FOUNDATION</a:t>
            </a:r>
            <a:endParaRPr lang="en-US" sz="1000" b="0" u="none" strike="noStrike">
              <a:solidFill>
                <a:srgbClr val="FFFFFF"/>
              </a:solidFill>
              <a:effectLst/>
              <a:uFillTx/>
              <a:latin typeface="Arial"/>
            </a:endParaRPr>
          </a:p>
        </p:txBody>
      </p:sp>
      <p:sp>
        <p:nvSpPr>
          <p:cNvPr id="629" name="Text 38"/>
          <p:cNvSpPr/>
          <p:nvPr/>
        </p:nvSpPr>
        <p:spPr>
          <a:xfrm>
            <a:off x="868680" y="5797440"/>
            <a:ext cx="1042344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C9BDB0"/>
                </a:solidFill>
                <a:effectLst/>
                <a:uFillTx/>
                <a:latin typeface="Calibri"/>
                <a:ea typeface="Calibri"/>
              </a:rPr>
              <a:t>Network, cluster, registry, permissions and storage — all defined as code and rebuildable from a single command</a:t>
            </a:r>
            <a:endParaRPr lang="en-US" sz="11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630" name="Text 0"/>
          <p:cNvSpPr/>
          <p:nvPr/>
        </p:nvSpPr>
        <p:spPr>
          <a:xfrm>
            <a:off x="640080" y="311040"/>
            <a:ext cx="7314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CLOSING</a:t>
            </a:r>
            <a:endParaRPr lang="en-US" sz="1400" b="0" u="none" strike="noStrike">
              <a:solidFill>
                <a:srgbClr val="000000"/>
              </a:solidFill>
              <a:effectLst/>
              <a:uFillTx/>
              <a:latin typeface="Arial"/>
            </a:endParaRPr>
          </a:p>
        </p:txBody>
      </p:sp>
      <p:sp>
        <p:nvSpPr>
          <p:cNvPr id="631" name="Text 1"/>
          <p:cNvSpPr/>
          <p:nvPr/>
        </p:nvSpPr>
        <p:spPr>
          <a:xfrm>
            <a:off x="640080" y="603360"/>
            <a:ext cx="1088064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What this project demonstrates</a:t>
            </a:r>
            <a:endParaRPr lang="en-US" sz="3400" b="0" u="none" strike="noStrike">
              <a:solidFill>
                <a:srgbClr val="000000"/>
              </a:solidFill>
              <a:effectLst/>
              <a:uFillTx/>
              <a:latin typeface="Arial"/>
            </a:endParaRPr>
          </a:p>
        </p:txBody>
      </p:sp>
      <p:sp>
        <p:nvSpPr>
          <p:cNvPr id="632" name="Shape 2"/>
          <p:cNvSpPr/>
          <p:nvPr/>
        </p:nvSpPr>
        <p:spPr>
          <a:xfrm>
            <a:off x="640080" y="1691640"/>
            <a:ext cx="10880640" cy="840600"/>
          </a:xfrm>
          <a:prstGeom prst="roundRect">
            <a:avLst>
              <a:gd name="adj" fmla="val 9783"/>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633" name="Shape 3"/>
          <p:cNvSpPr/>
          <p:nvPr/>
        </p:nvSpPr>
        <p:spPr>
          <a:xfrm>
            <a:off x="932760" y="192924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634" name="Text 4"/>
          <p:cNvSpPr/>
          <p:nvPr/>
        </p:nvSpPr>
        <p:spPr>
          <a:xfrm>
            <a:off x="932760" y="192924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635" name="Text 5"/>
          <p:cNvSpPr/>
          <p:nvPr/>
        </p:nvSpPr>
        <p:spPr>
          <a:xfrm>
            <a:off x="1536120" y="1856160"/>
            <a:ext cx="310824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B85042"/>
                </a:solidFill>
                <a:effectLst/>
                <a:uFillTx/>
                <a:latin typeface="Calibri"/>
                <a:ea typeface="Calibri"/>
              </a:rPr>
              <a:t>Systems thinking</a:t>
            </a:r>
            <a:endParaRPr lang="en-US" sz="1550" b="0" u="none" strike="noStrike">
              <a:solidFill>
                <a:srgbClr val="000000"/>
              </a:solidFill>
              <a:effectLst/>
              <a:uFillTx/>
              <a:latin typeface="Arial"/>
            </a:endParaRPr>
          </a:p>
        </p:txBody>
      </p:sp>
      <p:sp>
        <p:nvSpPr>
          <p:cNvPr id="636" name="Text 6"/>
          <p:cNvSpPr/>
          <p:nvPr/>
        </p:nvSpPr>
        <p:spPr>
          <a:xfrm>
            <a:off x="4754880" y="1874520"/>
            <a:ext cx="6400080" cy="45648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50" b="1" u="none" strike="noStrike">
                <a:solidFill>
                  <a:srgbClr val="5C5148"/>
                </a:solidFill>
                <a:effectLst/>
                <a:uFillTx/>
                <a:latin typeface="Calibri"/>
                <a:ea typeface="Calibri"/>
              </a:rPr>
              <a:t>Six layers designed to work together, not six tools installed alongside each other</a:t>
            </a:r>
            <a:endParaRPr lang="en-US" sz="1250" b="0" u="none" strike="noStrike">
              <a:solidFill>
                <a:srgbClr val="000000"/>
              </a:solidFill>
              <a:effectLst/>
              <a:uFillTx/>
              <a:latin typeface="Arial"/>
            </a:endParaRPr>
          </a:p>
        </p:txBody>
      </p:sp>
      <p:sp>
        <p:nvSpPr>
          <p:cNvPr id="637" name="Shape 7"/>
          <p:cNvSpPr/>
          <p:nvPr/>
        </p:nvSpPr>
        <p:spPr>
          <a:xfrm>
            <a:off x="640080" y="2624400"/>
            <a:ext cx="10880640" cy="840600"/>
          </a:xfrm>
          <a:prstGeom prst="roundRect">
            <a:avLst>
              <a:gd name="adj" fmla="val 9783"/>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638" name="Shape 8"/>
          <p:cNvSpPr/>
          <p:nvPr/>
        </p:nvSpPr>
        <p:spPr>
          <a:xfrm>
            <a:off x="932760" y="286200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639" name="Text 9"/>
          <p:cNvSpPr/>
          <p:nvPr/>
        </p:nvSpPr>
        <p:spPr>
          <a:xfrm>
            <a:off x="932760" y="286200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640" name="Text 10"/>
          <p:cNvSpPr/>
          <p:nvPr/>
        </p:nvSpPr>
        <p:spPr>
          <a:xfrm>
            <a:off x="1536120" y="2788920"/>
            <a:ext cx="310824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B85042"/>
                </a:solidFill>
                <a:effectLst/>
                <a:uFillTx/>
                <a:latin typeface="Calibri"/>
                <a:ea typeface="Calibri"/>
              </a:rPr>
              <a:t>Security by design</a:t>
            </a:r>
            <a:endParaRPr lang="en-US" sz="1550" b="0" u="none" strike="noStrike">
              <a:solidFill>
                <a:srgbClr val="000000"/>
              </a:solidFill>
              <a:effectLst/>
              <a:uFillTx/>
              <a:latin typeface="Arial"/>
            </a:endParaRPr>
          </a:p>
        </p:txBody>
      </p:sp>
      <p:sp>
        <p:nvSpPr>
          <p:cNvPr id="641" name="Text 11"/>
          <p:cNvSpPr/>
          <p:nvPr/>
        </p:nvSpPr>
        <p:spPr>
          <a:xfrm>
            <a:off x="4754880" y="2807280"/>
            <a:ext cx="6400080" cy="45648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50" b="1" u="none" strike="noStrike">
                <a:solidFill>
                  <a:srgbClr val="5C5148"/>
                </a:solidFill>
                <a:effectLst/>
                <a:uFillTx/>
                <a:latin typeface="Calibri"/>
                <a:ea typeface="Calibri"/>
              </a:rPr>
              <a:t>Separated identities and default-deny networking built in from the start, not added afterwards</a:t>
            </a:r>
            <a:endParaRPr lang="en-US" sz="1250" b="0" u="none" strike="noStrike">
              <a:solidFill>
                <a:srgbClr val="000000"/>
              </a:solidFill>
              <a:effectLst/>
              <a:uFillTx/>
              <a:latin typeface="Arial"/>
            </a:endParaRPr>
          </a:p>
        </p:txBody>
      </p:sp>
      <p:sp>
        <p:nvSpPr>
          <p:cNvPr id="642" name="Shape 12"/>
          <p:cNvSpPr/>
          <p:nvPr/>
        </p:nvSpPr>
        <p:spPr>
          <a:xfrm>
            <a:off x="640080" y="3557160"/>
            <a:ext cx="10880640" cy="840600"/>
          </a:xfrm>
          <a:prstGeom prst="roundRect">
            <a:avLst>
              <a:gd name="adj" fmla="val 9783"/>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643" name="Shape 13"/>
          <p:cNvSpPr/>
          <p:nvPr/>
        </p:nvSpPr>
        <p:spPr>
          <a:xfrm>
            <a:off x="932760" y="379476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644" name="Text 14"/>
          <p:cNvSpPr/>
          <p:nvPr/>
        </p:nvSpPr>
        <p:spPr>
          <a:xfrm>
            <a:off x="932760" y="37947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645" name="Text 15"/>
          <p:cNvSpPr/>
          <p:nvPr/>
        </p:nvSpPr>
        <p:spPr>
          <a:xfrm>
            <a:off x="1536120" y="3721680"/>
            <a:ext cx="310824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B85042"/>
                </a:solidFill>
                <a:effectLst/>
                <a:uFillTx/>
                <a:latin typeface="Calibri"/>
                <a:ea typeface="Calibri"/>
              </a:rPr>
              <a:t>Operational honesty</a:t>
            </a:r>
            <a:endParaRPr lang="en-US" sz="1550" b="0" u="none" strike="noStrike">
              <a:solidFill>
                <a:srgbClr val="000000"/>
              </a:solidFill>
              <a:effectLst/>
              <a:uFillTx/>
              <a:latin typeface="Arial"/>
            </a:endParaRPr>
          </a:p>
        </p:txBody>
      </p:sp>
      <p:sp>
        <p:nvSpPr>
          <p:cNvPr id="646" name="Text 16"/>
          <p:cNvSpPr/>
          <p:nvPr/>
        </p:nvSpPr>
        <p:spPr>
          <a:xfrm>
            <a:off x="4754880" y="3740040"/>
            <a:ext cx="6400080" cy="45648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50" b="1" u="none" strike="noStrike">
                <a:solidFill>
                  <a:srgbClr val="5C5148"/>
                </a:solidFill>
                <a:effectLst/>
                <a:uFillTx/>
                <a:latin typeface="Calibri"/>
                <a:ea typeface="Calibri"/>
              </a:rPr>
              <a:t>Backups tested rather than assumed, and limitations stated rather than hidden</a:t>
            </a:r>
            <a:endParaRPr lang="en-US" sz="1250" b="0" u="none" strike="noStrike">
              <a:solidFill>
                <a:srgbClr val="000000"/>
              </a:solidFill>
              <a:effectLst/>
              <a:uFillTx/>
              <a:latin typeface="Arial"/>
            </a:endParaRPr>
          </a:p>
        </p:txBody>
      </p:sp>
      <p:sp>
        <p:nvSpPr>
          <p:cNvPr id="647" name="Shape 17"/>
          <p:cNvSpPr/>
          <p:nvPr/>
        </p:nvSpPr>
        <p:spPr>
          <a:xfrm>
            <a:off x="640080" y="4489560"/>
            <a:ext cx="10880640" cy="840600"/>
          </a:xfrm>
          <a:prstGeom prst="roundRect">
            <a:avLst>
              <a:gd name="adj" fmla="val 9783"/>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648" name="Shape 18"/>
          <p:cNvSpPr/>
          <p:nvPr/>
        </p:nvSpPr>
        <p:spPr>
          <a:xfrm>
            <a:off x="932760" y="4727520"/>
            <a:ext cx="383400" cy="383400"/>
          </a:xfrm>
          <a:prstGeom prst="ellipse">
            <a:avLst/>
          </a:prstGeom>
          <a:solidFill>
            <a:srgbClr val="B85042"/>
          </a:solidFill>
          <a:ln w="12700">
            <a:solidFill>
              <a:srgbClr val="B85042"/>
            </a:solidFill>
            <a:round/>
          </a:ln>
        </p:spPr>
        <p:style>
          <a:lnRef idx="0"/>
          <a:fillRef idx="0"/>
          <a:effectRef idx="0"/>
          <a:fontRef idx="minor"/>
        </p:style>
        <p:txBody>
          <a:bodyPr lIns="90000" tIns="45000" rIns="90000" bIns="45000" anchor="t">
            <a:noAutofit/>
          </a:bodyPr>
          <a:p>
            <a:endParaRPr lang="en-US" sz="1800" b="1" u="none" strike="noStrike">
              <a:solidFill>
                <a:srgbClr val="FFFFFF"/>
              </a:solidFill>
              <a:effectLst/>
              <a:uFillTx/>
              <a:latin typeface="Arial"/>
            </a:endParaRPr>
          </a:p>
        </p:txBody>
      </p:sp>
      <p:sp>
        <p:nvSpPr>
          <p:cNvPr id="649" name="Text 19"/>
          <p:cNvSpPr/>
          <p:nvPr/>
        </p:nvSpPr>
        <p:spPr>
          <a:xfrm>
            <a:off x="932760" y="472752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000000"/>
              </a:solidFill>
              <a:effectLst/>
              <a:uFillTx/>
              <a:latin typeface="Arial"/>
            </a:endParaRPr>
          </a:p>
        </p:txBody>
      </p:sp>
      <p:sp>
        <p:nvSpPr>
          <p:cNvPr id="650" name="Text 20"/>
          <p:cNvSpPr/>
          <p:nvPr/>
        </p:nvSpPr>
        <p:spPr>
          <a:xfrm>
            <a:off x="1536120" y="4654440"/>
            <a:ext cx="310824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B85042"/>
                </a:solidFill>
                <a:effectLst/>
                <a:uFillTx/>
                <a:latin typeface="Calibri"/>
                <a:ea typeface="Calibri"/>
              </a:rPr>
              <a:t>Reproducibility</a:t>
            </a:r>
            <a:endParaRPr lang="en-US" sz="1550" b="0" u="none" strike="noStrike">
              <a:solidFill>
                <a:srgbClr val="000000"/>
              </a:solidFill>
              <a:effectLst/>
              <a:uFillTx/>
              <a:latin typeface="Arial"/>
            </a:endParaRPr>
          </a:p>
        </p:txBody>
      </p:sp>
      <p:sp>
        <p:nvSpPr>
          <p:cNvPr id="651" name="Text 21"/>
          <p:cNvSpPr/>
          <p:nvPr/>
        </p:nvSpPr>
        <p:spPr>
          <a:xfrm>
            <a:off x="4754880" y="4672440"/>
            <a:ext cx="6400080" cy="45648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50" b="1" u="none" strike="noStrike">
                <a:solidFill>
                  <a:srgbClr val="5C5148"/>
                </a:solidFill>
                <a:effectLst/>
                <a:uFillTx/>
                <a:latin typeface="Calibri"/>
                <a:ea typeface="Calibri"/>
              </a:rPr>
              <a:t>The entire environment was destroyed and would rebuild from the repository</a:t>
            </a:r>
            <a:endParaRPr lang="en-US" sz="1250" b="0" u="none" strike="noStrike">
              <a:solidFill>
                <a:srgbClr val="000000"/>
              </a:solidFill>
              <a:effectLst/>
              <a:uFillTx/>
              <a:latin typeface="Arial"/>
            </a:endParaRPr>
          </a:p>
        </p:txBody>
      </p:sp>
      <p:sp>
        <p:nvSpPr>
          <p:cNvPr id="652" name="Shape 22"/>
          <p:cNvSpPr/>
          <p:nvPr/>
        </p:nvSpPr>
        <p:spPr>
          <a:xfrm>
            <a:off x="640080" y="5440680"/>
            <a:ext cx="10880640" cy="776520"/>
          </a:xfrm>
          <a:prstGeom prst="roundRect">
            <a:avLst>
              <a:gd name="adj" fmla="val 10588"/>
            </a:avLst>
          </a:prstGeom>
          <a:solidFill>
            <a:srgbClr val="F2ECE2"/>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Arial"/>
            </a:endParaRPr>
          </a:p>
        </p:txBody>
      </p:sp>
      <p:sp>
        <p:nvSpPr>
          <p:cNvPr id="653" name="Text 23"/>
          <p:cNvSpPr/>
          <p:nvPr/>
        </p:nvSpPr>
        <p:spPr>
          <a:xfrm>
            <a:off x="960120" y="5614560"/>
            <a:ext cx="457128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B2420"/>
                </a:solidFill>
                <a:effectLst/>
                <a:uFillTx/>
                <a:latin typeface="Calibri"/>
                <a:ea typeface="Calibri"/>
              </a:rPr>
              <a:t>Yousef Salem  ·  DevOps Engineer</a:t>
            </a:r>
            <a:endParaRPr lang="en-US" sz="1500" b="0" u="none" strike="noStrike">
              <a:solidFill>
                <a:srgbClr val="000000"/>
              </a:solidFill>
              <a:effectLst/>
              <a:uFillTx/>
              <a:latin typeface="Arial"/>
            </a:endParaRPr>
          </a:p>
        </p:txBody>
      </p:sp>
      <p:sp>
        <p:nvSpPr>
          <p:cNvPr id="654" name="Text 24"/>
          <p:cNvSpPr/>
          <p:nvPr/>
        </p:nvSpPr>
        <p:spPr>
          <a:xfrm>
            <a:off x="5577840" y="5650920"/>
            <a:ext cx="5622840" cy="291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1" u="none" strike="noStrike">
                <a:solidFill>
                  <a:srgbClr val="5C5148"/>
                </a:solidFill>
                <a:effectLst/>
                <a:uFillTx/>
                <a:latin typeface="Calibri"/>
                <a:ea typeface="Calibri"/>
              </a:rPr>
              <a:t>Full documentation, architecture diagrams and evidence in the repository</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F0"/>
        </a:solidFill>
      </p:bgPr>
    </p:bg>
    <p:spTree>
      <p:nvGrpSpPr>
        <p:cNvPr id="1" name=""/>
        <p:cNvGrpSpPr/>
        <p:nvPr/>
      </p:nvGrpSpPr>
      <p:grpSpPr>
        <a:xfrm>
          <a:off x="0" y="0"/>
          <a:ext cx="0" cy="0"/>
          <a:chOff x="0" y="0"/>
          <a:chExt cx="0" cy="0"/>
        </a:xfrm>
      </p:grpSpPr>
      <p:sp>
        <p:nvSpPr>
          <p:cNvPr id="655" name="Text 902"/>
          <p:cNvSpPr/>
          <p:nvPr/>
        </p:nvSpPr>
        <p:spPr>
          <a:xfrm>
            <a:off x="640080" y="311040"/>
            <a:ext cx="73148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221" strike="noStrike">
                <a:solidFill>
                  <a:srgbClr val="B85042"/>
                </a:solidFill>
                <a:effectLst/>
                <a:uFillTx/>
                <a:latin typeface="Calibri"/>
                <a:ea typeface="Calibri"/>
              </a:rPr>
              <a:t>REPOSITORY</a:t>
            </a:r>
            <a:endParaRPr lang="en-US" sz="1400" b="0" u="none" strike="noStrike">
              <a:solidFill>
                <a:srgbClr val="000000"/>
              </a:solidFill>
              <a:effectLst/>
              <a:uFillTx/>
              <a:latin typeface="Arial"/>
            </a:endParaRPr>
          </a:p>
        </p:txBody>
      </p:sp>
      <p:sp>
        <p:nvSpPr>
          <p:cNvPr id="656" name="Text 41"/>
          <p:cNvSpPr/>
          <p:nvPr/>
        </p:nvSpPr>
        <p:spPr>
          <a:xfrm>
            <a:off x="640080" y="603360"/>
            <a:ext cx="1088100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2B2420"/>
                </a:solidFill>
                <a:effectLst/>
                <a:uFillTx/>
                <a:latin typeface="Cambria"/>
                <a:ea typeface="Cambria"/>
              </a:rPr>
              <a:t>The whole platform, in one repository</a:t>
            </a:r>
            <a:endParaRPr lang="en-US" sz="3400" b="0" u="none" strike="noStrike">
              <a:solidFill>
                <a:srgbClr val="000000"/>
              </a:solidFill>
              <a:effectLst/>
              <a:uFillTx/>
              <a:latin typeface="Arial"/>
            </a:endParaRPr>
          </a:p>
        </p:txBody>
      </p:sp>
      <p:sp>
        <p:nvSpPr>
          <p:cNvPr id="657" name="Shape 29"/>
          <p:cNvSpPr/>
          <p:nvPr/>
        </p:nvSpPr>
        <p:spPr>
          <a:xfrm>
            <a:off x="4084200" y="1719000"/>
            <a:ext cx="4023000" cy="4562640"/>
          </a:xfrm>
          <a:prstGeom prst="roundRect">
            <a:avLst>
              <a:gd name="adj" fmla="val 2273"/>
            </a:avLst>
          </a:prstGeom>
          <a:solidFill>
            <a:srgbClr val="FFFDF9"/>
          </a:solidFill>
          <a:ln w="9525">
            <a:solidFill>
              <a:srgbClr val="DED5C7"/>
            </a:solidFill>
            <a:round/>
          </a:ln>
          <a:effectLst>
            <a:outerShdw algn="bl" blurRad="177840" dir="5400000" dist="25560" kx="0" ky="0" rotWithShape="0" sx="100000" sy="100000">
              <a:srgbClr val="000000">
                <a:alpha val="7000"/>
              </a:srgbClr>
            </a:outerShdw>
          </a:effectLst>
        </p:spPr>
        <p:style>
          <a:lnRef idx="0"/>
          <a:fillRef idx="0"/>
          <a:effectRef idx="0"/>
          <a:fontRef idx="minor"/>
        </p:style>
        <p:txBody>
          <a:bodyPr lIns="0" tIns="0" rIns="0" bIns="0" anchor="ctr">
            <a:noAutofit/>
          </a:bodyPr>
          <a:p>
            <a:endParaRPr lang="en-US" sz="1800" b="0" u="none" strike="noStrike">
              <a:solidFill>
                <a:srgbClr val="000000"/>
              </a:solidFill>
              <a:effectLst/>
              <a:uFillTx/>
              <a:latin typeface="Arial"/>
            </a:endParaRPr>
          </a:p>
        </p:txBody>
      </p:sp>
      <p:pic>
        <p:nvPicPr>
          <p:cNvPr id="658" name="QR 2"/>
          <p:cNvPicPr/>
          <p:nvPr/>
        </p:nvPicPr>
        <p:blipFill>
          <a:blip r:embed="rId1"/>
          <a:stretch/>
        </p:blipFill>
        <p:spPr>
          <a:xfrm>
            <a:off x="4838760" y="2286000"/>
            <a:ext cx="2514240" cy="2514240"/>
          </a:xfrm>
          <a:prstGeom prst="rect">
            <a:avLst/>
          </a:prstGeom>
          <a:noFill/>
          <a:ln w="0">
            <a:noFill/>
          </a:ln>
        </p:spPr>
      </p:pic>
      <p:sp>
        <p:nvSpPr>
          <p:cNvPr id="659" name="Text 45"/>
          <p:cNvSpPr/>
          <p:nvPr/>
        </p:nvSpPr>
        <p:spPr>
          <a:xfrm>
            <a:off x="4084200" y="5166360"/>
            <a:ext cx="402300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pc="221" strike="noStrike">
                <a:solidFill>
                  <a:srgbClr val="B85042"/>
                </a:solidFill>
                <a:effectLst/>
                <a:uFillTx/>
                <a:latin typeface="Calibri"/>
                <a:ea typeface="Calibri"/>
              </a:rPr>
              <a:t>SCAN TO OPEN</a:t>
            </a:r>
            <a:endParaRPr lang="en-US" sz="1200" b="0" u="none" strike="noStrike">
              <a:solidFill>
                <a:srgbClr val="000000"/>
              </a:solidFill>
              <a:effectLst/>
              <a:uFillTx/>
              <a:latin typeface="Arial"/>
            </a:endParaRPr>
          </a:p>
        </p:txBody>
      </p:sp>
      <p:sp>
        <p:nvSpPr>
          <p:cNvPr id="660" name="Text 46"/>
          <p:cNvSpPr/>
          <p:nvPr/>
        </p:nvSpPr>
        <p:spPr>
          <a:xfrm>
            <a:off x="4084200" y="5513760"/>
            <a:ext cx="402300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2B2420"/>
                </a:solidFill>
                <a:effectLst/>
                <a:uFillTx/>
                <a:latin typeface="Calibri"/>
                <a:ea typeface="Calibri"/>
              </a:rPr>
              <a:t>github.com/yousefsalemW/DEVSECOPS-PLATFORM-EKS</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20</TotalTime>
  <Application>LibreOffice/26.2.2.2$Linux_X86_64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2026-08-24T17:34:23Z</dcterms:created>
  <dc:creator>ALnaqib</dc:creator>
  <dc:description/>
  <dc:language>en-US</dc:language>
  <cp:lastModifiedBy/>
  <dcterms:modified xsi:type="dcterms:W3CDTF">2026-08-24T21:54:48Z</dcterms:modified>
  <cp:revision>3</cp:revision>
  <dc:subject>PptxGenJS Presentation</dc:subject>
  <dc:title>VProfile DevSecOps Platform on Amazon EKS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27</vt:i4>
  </property>
  <property fmtid="{D5CDD505-2E9C-101B-9397-08002B2CF9AE}" pid="3" name="PresentationFormat">
    <vt:lpwstr>On-screen Show (16:9)</vt:lpwstr>
  </property>
  <property fmtid="{D5CDD505-2E9C-101B-9397-08002B2CF9AE}" pid="4" name="Slides">
    <vt:i4>27</vt:i4>
  </property>
</Properties>
</file>